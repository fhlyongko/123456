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1" name="Google Shape;7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1" name="Google Shape;10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6" name="Google Shape;11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1" name="Google Shape;13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6" name="Google Shape;14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1" name="Google Shape;16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6" name="Google Shape;17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1" name="Google Shape;19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6" name="Google Shape;206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1" name="Google Shape;221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6" name="Google Shape;236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1" name="Google Shape;25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6" name="Google Shape;266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1" name="Google Shape;281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6" name="Google Shape;296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1" name="Google Shape;311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6" name="Google Shape;326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1" name="Google Shape;341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56" name="Google Shape;356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1111" name="adj"/>
            </a:avLst>
          </a:prstGeom>
          <a:solidFill>
            <a:srgbClr val="F7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" name="Google Shape;17;p3"/>
          <p:cNvPicPr preferRelativeResize="0"/>
          <p:nvPr/>
        </p:nvPicPr>
        <p:blipFill rotWithShape="1">
          <a:blip r:embed="rId3">
            <a:alphaModFix/>
          </a:blip>
          <a:srcRect b="6548" l="0" r="0" t="6548"/>
          <a:stretch/>
        </p:blipFill>
        <p:spPr>
          <a:xfrm>
            <a:off x="6858000" y="0"/>
            <a:ext cx="5334000" cy="6858000"/>
          </a:xfrm>
          <a:prstGeom prst="roundRect">
            <a:avLst>
              <a:gd fmla="val 1429" name="adj"/>
            </a:avLst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742950" y="1238250"/>
            <a:ext cx="5810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활용 실습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81050" y="2381250"/>
            <a:ext cx="5810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다양한 AI 도구를 직접 체험하고 학습에 적용하는 방법을 실습합니다.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81050" y="3429000"/>
            <a:ext cx="5143500" cy="142875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66800" y="3676650"/>
            <a:ext cx="46196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대표 AI 도구의 차이를 이해한다.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영어학습에 적용 가능한 실습 방법을 경험한다.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도구를 목적에 맞게 선택하고 활용한다.</a:t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00100" y="5286375"/>
            <a:ext cx="5810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수업이 끝나면 자신에게 맞는 AI 학습 루틴 1가지를 설계합니다.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핵심 이해</a:t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모델은 목적에 따라 다르게 선택합니다</a:t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최신 모델 순위는 계속 바뀝니다.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ChatGPT, Gemini, Claude는 기본적으로 알아두면 좋습니다.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중요한 것은 성능 순위보다 과제 목적과 도구의 강점입니다.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내가 자주 하는 학습 과제 1개를 정하고, 어떤 AI가 적합할지 생각해봅니다.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02 / 24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도구 비교</a:t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생성형 AI</a:t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ChatGPT, Gemini, Claude, Grok 등은 범용 AI 챗봇입니다.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Perplexity, GenSpark, Liner, Felo는 검색과 자료 탐색에 강점이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수업에서는 도구명보다 사용 목적을 먼저 정해야 합니다.</a:t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같은 질문을 두 도구에 넣고 답변의 차이를 비교합니다.</a:t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" name="Google Shape;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52" name="Google Shape;52;p5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03 / 24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프레젠테이션 도구</a:t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발표자료 제작 AI</a:t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Gamma는 빠른 발표자료 생성에 유용합니다.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GenSpark와 Gemini는 자료 구성과 아이디어 확장에 활용할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Claude는 글의 구조화와 웹 형식 산출물에 강점이 있습니다.</a:t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같은 발표 주제를 입력하고 결과물의 구성, 디자인, 수정 가능성을 비교합니다.</a:t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67" name="Google Shape;67;p6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04 / 24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Gemini 체험</a:t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Gemini는 멀티모달 학습 출발점</a:t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텍스트, 이미지, 문서 기반 질문을 처리할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학습 자료 요약, 질문 생성, 예시 확장에 활용하기 좋습니다.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답변을 그대로 쓰기보다 비교, 검토, 수정하는 과정이 필요합니다.</a:t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수업자료 1개를 Gemini에 넣고 핵심 개념 3개와 확인 질문 3개를 생성합니다.</a:t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82" name="Google Shape;82;p7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05 / 24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Claude 실습</a:t>
            </a:r>
            <a:endParaRPr/>
          </a:p>
        </p:txBody>
      </p:sp>
      <p:sp>
        <p:nvSpPr>
          <p:cNvPr id="89" name="Google Shape;89;p8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Claude Artifacts는 결과물을 바로 보여주는 데 유용합니다</a:t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Artifacts 기능은 웹페이지, 학습 자료, 간단한 활동물을 시각적으로 생성합니다.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텍스트 결과물을 학생용 자료 형태로 변환할 때 유용합니다.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출력물을 그대로 사용하기보다 수업 목표에 맞게 수정해야 합니다.</a:t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짧은 설명문을 넣고 학생용 활동지 초안으로 변환해봅니다.</a:t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97" name="Google Shape;97;p8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06 / 24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검색형 AI</a:t>
            </a:r>
            <a:endParaRPr/>
          </a:p>
        </p:txBody>
      </p:sp>
      <p:sp>
        <p:nvSpPr>
          <p:cNvPr id="104" name="Google Shape;104;p9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Perplexity는 출처 기반 정보 탐색에 적합합니다</a:t>
            </a:r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Perplexity는 답변과 함께 관련 출처를 확인할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최신 이슈, 개념 조사, 수업 전 배경지식 확인에 활용할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출처를 반드시 비교하고, 신뢰도 높은 자료를 우선해야 합니다.</a:t>
            </a:r>
            <a:endParaRPr/>
          </a:p>
        </p:txBody>
      </p:sp>
      <p:sp>
        <p:nvSpPr>
          <p:cNvPr id="107" name="Google Shape;107;p9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관심 주제 1개를 검색하고, 신뢰할 수 있는 출처 2개를 골라봅니다.</a:t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112" name="Google Shape;112;p9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07 / 24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발표자료 생성</a:t>
            </a:r>
            <a:endParaRPr/>
          </a:p>
        </p:txBody>
      </p:sp>
      <p:sp>
        <p:nvSpPr>
          <p:cNvPr id="119" name="Google Shape;119;p10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Gamma는 빠른 발표자료 초안 제작에 적합합니다</a:t>
            </a:r>
            <a:endParaRPr/>
          </a:p>
        </p:txBody>
      </p:sp>
      <p:sp>
        <p:nvSpPr>
          <p:cNvPr id="120" name="Google Shape;120;p10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주제와 목차를 입력하면 발표자료 초안을 빠르게 생성합니다.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디자인 완성도는 높지만 내용의 정확성은 별도로 검토해야 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교수자는 학습목표, 난이도, 활동 흐름을 직접 조정해야 합니다.</a:t>
            </a: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같은 주제로 5장짜리 발표자료를 생성하고, 수정할 부분을 표시합니다.</a:t>
            </a:r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127" name="Google Shape;127;p10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08 / 24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자료 중심 AI</a:t>
            </a:r>
            <a:endParaRPr/>
          </a:p>
        </p:txBody>
      </p:sp>
      <p:sp>
        <p:nvSpPr>
          <p:cNvPr id="134" name="Google Shape;134;p11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NotebookLM은 자료 기반 학습에 강점이 있습니다</a:t>
            </a:r>
            <a:endParaRPr/>
          </a:p>
        </p:txBody>
      </p:sp>
      <p:sp>
        <p:nvSpPr>
          <p:cNvPr id="135" name="Google Shape;135;p11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PDF, 문서, 강의자료를 업로드해 질의응답과 요약을 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학습 가이드, 예상 질문, 오디오 개요 생성에 활용 가능합니다.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제공한 자료 안에서 답하게 하면 학습 맥락을 유지할 수 있습니다.</a:t>
            </a:r>
            <a:endParaRPr/>
          </a:p>
        </p:txBody>
      </p:sp>
      <p:sp>
        <p:nvSpPr>
          <p:cNvPr id="137" name="Google Shape;137;p11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139" name="Google Shape;139;p11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강의자료를 업로드하고 핵심 요약, 복습 질문, 용어 정리를 생성합니다.</a:t>
            </a:r>
            <a:endParaRPr/>
          </a:p>
        </p:txBody>
      </p:sp>
      <p:sp>
        <p:nvSpPr>
          <p:cNvPr id="140" name="Google Shape;140;p11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142" name="Google Shape;142;p11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09 / 24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실습 화면</a:t>
            </a:r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NotebookLM 실습은 자료 업로드에서 시작합니다</a:t>
            </a:r>
            <a:endParaRPr/>
          </a:p>
        </p:txBody>
      </p:sp>
      <p:sp>
        <p:nvSpPr>
          <p:cNvPr id="150" name="Google Shape;150;p12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먼저 학습할 자료를 업로드합니다.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자료 기반 질문을 던져 요약, 개념 설명, 복습 문제를 얻습니다.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답변이 원자료와 맞는지 반드시 확인합니다.</a:t>
            </a:r>
            <a:endParaRPr/>
          </a:p>
        </p:txBody>
      </p:sp>
      <p:sp>
        <p:nvSpPr>
          <p:cNvPr id="152" name="Google Shape;152;p12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154" name="Google Shape;154;p12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업로드한 자료에서 학생들이 어려워할 개념 3가지를 찾아 질문으로 바꿉니다.</a:t>
            </a:r>
            <a:endParaRPr/>
          </a:p>
        </p:txBody>
      </p:sp>
      <p:sp>
        <p:nvSpPr>
          <p:cNvPr id="155" name="Google Shape;155;p12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157" name="Google Shape;157;p12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10 / 24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멀티모달 분석</a:t>
            </a:r>
            <a:endParaRPr/>
          </a:p>
        </p:txBody>
      </p:sp>
      <p:sp>
        <p:nvSpPr>
          <p:cNvPr id="164" name="Google Shape;164;p13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Gemini 는 영상과 자료 분석에 활용할 수 있습니다</a:t>
            </a:r>
            <a:endParaRPr/>
          </a:p>
        </p:txBody>
      </p:sp>
      <p:sp>
        <p:nvSpPr>
          <p:cNvPr id="165" name="Google Shape;165;p13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동영상, 문서, 이미지 등 다양한 자료를 분석할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분석 결과를 바탕으로 학습 활동, 질문, 평가 요소를 설계할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Google AI Studio와 연동하면 맞춤형 AI 도구 제작으로 확장됩니다.</a:t>
            </a:r>
            <a:endParaRPr/>
          </a:p>
        </p:txBody>
      </p:sp>
      <p:sp>
        <p:nvSpPr>
          <p:cNvPr id="167" name="Google Shape;167;p13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짧은 영상 또는 자료를 분석하고 수업 질문 3개를 생성합니다.</a:t>
            </a:r>
            <a:endParaRPr/>
          </a:p>
        </p:txBody>
      </p:sp>
      <p:sp>
        <p:nvSpPr>
          <p:cNvPr id="170" name="Google Shape;170;p13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172" name="Google Shape;172;p13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11 / 24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AI 도구 제작</a:t>
            </a:r>
            <a:endParaRPr/>
          </a:p>
        </p:txBody>
      </p:sp>
      <p:sp>
        <p:nvSpPr>
          <p:cNvPr id="179" name="Google Shape;179;p14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Google AI Studio는 맞춤형 AI 활동 설계에 활용합니다</a:t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Gemini 기반 앱이나 챗봇을 실험적으로 만들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교수자는 학습목표에 맞춘 질문 흐름과 피드백 방식을 설계할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학생용 활동에서는 안전하고 제한된 프롬프트 구조가 중요합니다.</a:t>
            </a:r>
            <a:endParaRPr/>
          </a:p>
        </p:txBody>
      </p:sp>
      <p:sp>
        <p:nvSpPr>
          <p:cNvPr id="182" name="Google Shape;182;p14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184" name="Google Shape;184;p14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영어학습용 AI 튜터의 역할, 입력자료, 피드백 방식 3가지를 정합니다.</a:t>
            </a:r>
            <a:endParaRPr/>
          </a:p>
        </p:txBody>
      </p:sp>
      <p:sp>
        <p:nvSpPr>
          <p:cNvPr id="185" name="Google Shape;185;p14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187" name="Google Shape;187;p14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12 / 24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영어학습 적용</a:t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활용</a:t>
            </a: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영어학습</a:t>
            </a: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듣기: 자료를 오디오 콘텐츠로 변환합니다.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말하기: AI 아바타와 대화하며 발화 연습을 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읽기와 쓰기: 난이도 조절, 피드백, 수정 활동을 설계합니다.</a:t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5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자신의 영어학습 목표를 듣기, 말하기, 읽기, 쓰기 중 하나로 정합니다.</a:t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202" name="Google Shape;202;p15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13 / 24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적용 1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NotebookLM과 AI 아바타를 영어학습에 연결합니다</a:t>
            </a:r>
            <a:endParaRPr/>
          </a:p>
        </p:txBody>
      </p:sp>
      <p:sp>
        <p:nvSpPr>
          <p:cNvPr id="210" name="Google Shape;210;p16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6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NotebookLM은 읽기 자료를 맞춤형 팟캐스트와 복습 질문으로 바꿀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Soul Machines와 Delphi는 말하기 상호작용을 시뮬레이션할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학생은 AI와 대화한 뒤 자신의 표현을 다시 점검해야 합니다.</a:t>
            </a:r>
            <a:endParaRPr/>
          </a:p>
        </p:txBody>
      </p:sp>
      <p:sp>
        <p:nvSpPr>
          <p:cNvPr id="212" name="Google Shape;212;p16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214" name="Google Shape;214;p16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듣기 또는 말하기 중 하나를 골라 10분짜리 AI 활용 활동을 설계합니다.</a:t>
            </a:r>
            <a:endParaRPr/>
          </a:p>
        </p:txBody>
      </p:sp>
      <p:sp>
        <p:nvSpPr>
          <p:cNvPr id="215" name="Google Shape;215;p16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217" name="Google Shape;217;p16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14 / 24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적용 2</a:t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쓰기와 문법 피드백은 학습 과정으로 설계해야 합니다</a:t>
            </a:r>
            <a:endParaRPr/>
          </a:p>
        </p:txBody>
      </p:sp>
      <p:sp>
        <p:nvSpPr>
          <p:cNvPr id="225" name="Google Shape;225;p17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Grammarly는 문법, 어휘, 문체 피드백에 활용할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CEFR 수준을 활용하면 학생 수준에 맞는 목표를 설정할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AI 수정문을 그대로 받아들이지 않고 수정 이유를 설명해야 합니다.</a:t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짧은 영작문을 작성하고, AI 피드백을 받은 뒤 수정 이유를 1문장으로 씁니다.</a:t>
            </a: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232" name="Google Shape;232;p17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15 / 24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NotebookLM 듣기 활동</a:t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듣기 활동은 자료 변환과 이해 점검으로 구성합니다</a:t>
            </a:r>
            <a:endParaRPr/>
          </a:p>
        </p:txBody>
      </p:sp>
      <p:sp>
        <p:nvSpPr>
          <p:cNvPr id="240" name="Google Shape;240;p18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리딩 자료를 오디오 콘텐츠로 바꾸면 듣기 입력을 쉽게 만들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학생은 들은 내용을 요약하고 핵심 단어를 정리합니다.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교수자는 듣기 후 질문으로 이해도를 확인합니다.</a:t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244" name="Google Shape;244;p18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읽기 자료 1개를 듣기 활동으로 바꾸고, 듣기 전-중-후 질문을 만듭니다.</a:t>
            </a: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247" name="Google Shape;247;p18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16 / 24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AI 아바타 말하기</a:t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Soul Machines는 실제 대화처럼 말하기를 연습하게 합니다</a:t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학생은 AI 아바타와 짧은 대화를 하며 발화 기회를 늘릴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교수자는 주제, 역할, 피드백 방식을 미리 정해야 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말하기 후에는 표현 수정과 자기성찰이 필요합니다.</a:t>
            </a: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자기소개 또는 의견 말하기 주제를 정하고 AI 아바타에게 받을 질문 3개를 만듭니다.</a:t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262" name="Google Shape;262;p19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17 / 24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역할 대화</a:t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Delphi AI는 인물 기반 대화 시뮬레이션에 활용할 수 있습니다</a:t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Delphi는 특정 인물이나 역할 기반 대화 경험을 제공합니다.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영어 면접, 상담, 토론 상황처럼 목적이 있는 대화 연습에 활용할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응답의 정확성과 교육적 적합성은 교수자가 확인해야 합니다.</a:t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영어 면접 상황을 설정하고, 학생에게 던질 질문 3개를 설계합니다.</a:t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277" name="Google Shape;277;p20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18 / 24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말하기 프롬프트</a:t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ChatGPT 말하기 연습은 질문 흐름을 잘 설계해야 합니다</a:t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AI에게 즉시 정답을 요구하기보다 질문, 힌트, 재시도를 요청합니다.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학생은 첫 답변, 피드백, 재답변 과정을 기록합니다.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발음보다 의미 전달, 문장 구성, 자신감 향상을 함께 봅니다.</a:t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ChatGPT에게 ‘나를 면접관처럼 질문해줘’가 아니라 단계형 피드백을 요청해봅니다.</a:t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292" name="Google Shape;292;p21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19 / 24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수준 이해</a:t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CEFR은 학생 영어 수준을 설명하는 공통 기준입니다</a:t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A1부터 C2까지 언어 능력을 단계적으로 설명합니다.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학습 활동은 학생 수준보다 너무 쉽거나 어렵지 않아야 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AI를 활용하면 같은 자료를 수준별로 조정할 수 있습니다.</a:t>
            </a:r>
            <a:endParaRPr/>
          </a:p>
        </p:txBody>
      </p:sp>
      <p:sp>
        <p:nvSpPr>
          <p:cNvPr id="302" name="Google Shape;302;p22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2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304" name="Google Shape;304;p22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본인의 현재 영어 수준을 예상하고, 다음 단계 목표를 1개 정합니다.</a:t>
            </a:r>
            <a:endParaRPr/>
          </a:p>
        </p:txBody>
      </p:sp>
      <p:sp>
        <p:nvSpPr>
          <p:cNvPr id="305" name="Google Shape;305;p22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307" name="Google Shape;307;p22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20 / 24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3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읽기 활동</a:t>
            </a:r>
            <a:endParaRPr/>
          </a:p>
        </p:txBody>
      </p:sp>
      <p:sp>
        <p:nvSpPr>
          <p:cNvPr id="314" name="Google Shape;314;p23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읽기 자료는 AI로 난이도를 조절할 수 있습니다</a:t>
            </a:r>
            <a:endParaRPr/>
          </a:p>
        </p:txBody>
      </p:sp>
      <p:sp>
        <p:nvSpPr>
          <p:cNvPr id="315" name="Google Shape;315;p23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3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같은 글을 쉬운 버전과 어려운 버전으로 변환할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어휘, 문장 길이, 배경지식 수준을 조정할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변환 후에는 원문의 의미가 유지되는지 확인해야 합니다.</a:t>
            </a:r>
            <a:endParaRPr/>
          </a:p>
        </p:txBody>
      </p:sp>
      <p:sp>
        <p:nvSpPr>
          <p:cNvPr id="317" name="Google Shape;317;p23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3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319" name="Google Shape;319;p23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어려운 영어 지문을 B1 수준으로 쉽게 바꾸고, 이해 질문 3개를 만듭니다.</a:t>
            </a:r>
            <a:endParaRPr/>
          </a:p>
        </p:txBody>
      </p:sp>
      <p:sp>
        <p:nvSpPr>
          <p:cNvPr id="320" name="Google Shape;320;p23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322" name="Google Shape;322;p23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21 / 24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4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쓰기 피드백</a:t>
            </a:r>
            <a:endParaRPr/>
          </a:p>
        </p:txBody>
      </p:sp>
      <p:sp>
        <p:nvSpPr>
          <p:cNvPr id="329" name="Google Shape;329;p24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Grammarly는 영작문 피드백 도구로 활용합니다</a:t>
            </a:r>
            <a:endParaRPr/>
          </a:p>
        </p:txBody>
      </p:sp>
      <p:sp>
        <p:nvSpPr>
          <p:cNvPr id="330" name="Google Shape;330;p24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4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문법, 어휘, 명료성, 문체에 대한 즉각적 피드백을 제공합니다.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학생은 제안을 모두 수용하기보다 왜 필요한지 판단해야 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교수자는 결과물보다 수정 과정과 설명을 평가할 수 있습니다.</a:t>
            </a:r>
            <a:endParaRPr/>
          </a:p>
        </p:txBody>
      </p:sp>
      <p:sp>
        <p:nvSpPr>
          <p:cNvPr id="332" name="Google Shape;332;p24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5문장 영작문을 입력하고, 가장 중요한 수정 제안 2개만 선택합니다.</a:t>
            </a:r>
            <a:endParaRPr/>
          </a:p>
        </p:txBody>
      </p:sp>
      <p:sp>
        <p:nvSpPr>
          <p:cNvPr id="335" name="Google Shape;335;p24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6" name="Google Shape;33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337" name="Google Shape;337;p24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22 / 24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5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쓰기 보조</a:t>
            </a:r>
            <a:endParaRPr/>
          </a:p>
        </p:txBody>
      </p:sp>
      <p:sp>
        <p:nvSpPr>
          <p:cNvPr id="344" name="Google Shape;344;p25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QuillBot은 표현 바꾸기와 요약 활동에 활용합니다</a:t>
            </a:r>
            <a:endParaRPr/>
          </a:p>
        </p:txBody>
      </p:sp>
      <p:sp>
        <p:nvSpPr>
          <p:cNvPr id="345" name="Google Shape;345;p25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5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문장을 바꾸거나 요약해 다양한 표현을 비교할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학습자는 바뀐 표현의 의미와 문체가 원문과 맞는지 확인해야 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표현 비교 활동은 어휘 선택과 문장 구조 학습에 도움이 됩니다.</a:t>
            </a:r>
            <a:endParaRPr/>
          </a:p>
        </p:txBody>
      </p:sp>
      <p:sp>
        <p:nvSpPr>
          <p:cNvPr id="347" name="Google Shape;347;p25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5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349" name="Google Shape;349;p25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실습: 자신의 문장 1개를 바꾸고, 원문과 바뀐 문장의 차이를 설명합니다.</a:t>
            </a:r>
            <a:endParaRPr/>
          </a:p>
        </p:txBody>
      </p:sp>
      <p:sp>
        <p:nvSpPr>
          <p:cNvPr id="350" name="Google Shape;350;p25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352" name="Google Shape;352;p25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23 / 24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/>
          <p:cNvSpPr/>
          <p:nvPr/>
        </p:nvSpPr>
        <p:spPr>
          <a:xfrm>
            <a:off x="609600" y="419100"/>
            <a:ext cx="2381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6A085"/>
                </a:solidFill>
                <a:latin typeface="Calibri"/>
                <a:ea typeface="Calibri"/>
                <a:cs typeface="Calibri"/>
                <a:sym typeface="Calibri"/>
              </a:rPr>
              <a:t>영상 생성과 윤리</a:t>
            </a:r>
            <a:endParaRPr/>
          </a:p>
        </p:txBody>
      </p:sp>
      <p:sp>
        <p:nvSpPr>
          <p:cNvPr id="359" name="Google Shape;359;p26"/>
          <p:cNvSpPr/>
          <p:nvPr/>
        </p:nvSpPr>
        <p:spPr>
          <a:xfrm>
            <a:off x="609600" y="742950"/>
            <a:ext cx="552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HeyGen은 영상 제작과 AI 윤리 논의에 활용할 수 있습니다</a:t>
            </a:r>
            <a:endParaRPr/>
          </a:p>
        </p:txBody>
      </p:sp>
      <p:sp>
        <p:nvSpPr>
          <p:cNvPr id="360" name="Google Shape;360;p26"/>
          <p:cNvSpPr/>
          <p:nvPr/>
        </p:nvSpPr>
        <p:spPr>
          <a:xfrm>
            <a:off x="609600" y="1619250"/>
            <a:ext cx="5143500" cy="28575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6"/>
          <p:cNvSpPr/>
          <p:nvPr/>
        </p:nvSpPr>
        <p:spPr>
          <a:xfrm>
            <a:off x="742950" y="1952625"/>
            <a:ext cx="49530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텍스트를 영상으로 바꾸거나 다국어 더빙을 만들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교육 콘텐츠 제작에는 유용하지만 deepfake 윤리 문제를 함께 다뤄야 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학생에게는 제작 목적, 출처, 동의, 오용 가능성을 함께 설명해야 합니다.</a:t>
            </a:r>
            <a:endParaRPr/>
          </a:p>
        </p:txBody>
      </p:sp>
      <p:sp>
        <p:nvSpPr>
          <p:cNvPr id="362" name="Google Shape;362;p26"/>
          <p:cNvSpPr/>
          <p:nvPr/>
        </p:nvSpPr>
        <p:spPr>
          <a:xfrm>
            <a:off x="609600" y="3962400"/>
            <a:ext cx="5238750" cy="1238250"/>
          </a:xfrm>
          <a:prstGeom prst="roundRect">
            <a:avLst>
              <a:gd fmla="val 9231" name="adj"/>
            </a:avLst>
          </a:prstGeom>
          <a:solidFill>
            <a:srgbClr val="EAF4F7"/>
          </a:solidFill>
          <a:ln cap="flat" cmpd="sng" w="9525">
            <a:solidFill>
              <a:srgbClr val="C9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6"/>
          <p:cNvSpPr/>
          <p:nvPr/>
        </p:nvSpPr>
        <p:spPr>
          <a:xfrm>
            <a:off x="857250" y="4171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B8F"/>
                </a:solidFill>
                <a:latin typeface="Calibri"/>
                <a:ea typeface="Calibri"/>
                <a:cs typeface="Calibri"/>
                <a:sym typeface="Calibri"/>
              </a:rPr>
              <a:t>학생 실습</a:t>
            </a:r>
            <a:endParaRPr/>
          </a:p>
        </p:txBody>
      </p:sp>
      <p:sp>
        <p:nvSpPr>
          <p:cNvPr id="364" name="Google Shape;364;p26"/>
          <p:cNvSpPr/>
          <p:nvPr/>
        </p:nvSpPr>
        <p:spPr>
          <a:xfrm>
            <a:off x="857250" y="45053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마무리: 오늘 배운 도구 중 하나를 골라 자신의 학습 또는 수업에 적용할 계획을 작성합니다.</a:t>
            </a:r>
            <a:endParaRPr/>
          </a:p>
        </p:txBody>
      </p:sp>
      <p:sp>
        <p:nvSpPr>
          <p:cNvPr id="365" name="Google Shape;365;p26"/>
          <p:cNvSpPr/>
          <p:nvPr/>
        </p:nvSpPr>
        <p:spPr>
          <a:xfrm>
            <a:off x="6438900" y="666750"/>
            <a:ext cx="5143500" cy="409575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9525">
            <a:solidFill>
              <a:srgbClr val="D8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6" name="Google Shape;3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0" y="1396603"/>
            <a:ext cx="4686300" cy="2636044"/>
          </a:xfrm>
          <a:prstGeom prst="roundRect">
            <a:avLst>
              <a:gd fmla="val 2105" name="adj"/>
            </a:avLst>
          </a:prstGeom>
          <a:noFill/>
          <a:ln>
            <a:noFill/>
          </a:ln>
        </p:spPr>
      </p:pic>
      <p:sp>
        <p:nvSpPr>
          <p:cNvPr id="367" name="Google Shape;367;p26"/>
          <p:cNvSpPr/>
          <p:nvPr/>
        </p:nvSpPr>
        <p:spPr>
          <a:xfrm>
            <a:off x="10287000" y="6019800"/>
            <a:ext cx="1238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677A"/>
                </a:solidFill>
                <a:latin typeface="Calibri"/>
                <a:ea typeface="Calibri"/>
                <a:cs typeface="Calibri"/>
                <a:sym typeface="Calibri"/>
              </a:rPr>
              <a:t>24 / 24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