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0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</p:sldIdLst>
  <p:sldSz cx="14630400" cy="8229600"/>
  <p:notesSz cx="8229600" cy="14630400"/>
  <p:embeddedFontLst>
    <p:embeddedFont>
      <p:font typeface="맑은 고딕" panose="020B0503020000020004" pitchFamily="50" charset="-127"/>
      <p:regular r:id="rId61"/>
      <p:bold r:id="rId62"/>
    </p:embeddedFont>
    <p:embeddedFont>
      <p:font typeface="Calibri" panose="020F0502020204030204" pitchFamily="34" charset="0"/>
      <p:regular r:id="rId63"/>
      <p:bold r:id="rId64"/>
      <p:italic r:id="rId65"/>
      <p:boldItalic r:id="rId6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6/17/2025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0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12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12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4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10383"/>
            <a:ext cx="8187854" cy="141755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5550"/>
              </a:lnSpc>
              <a:buNone/>
              <a:defRPr/>
            </a:pPr>
            <a:r>
              <a:rPr lang="en-US" sz="4450" dirty="0" err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영어논문작성법</a:t>
            </a:r>
            <a:r>
              <a:rPr lang="en-US" sz="4450" dirty="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: </a:t>
            </a:r>
          </a:p>
          <a:p>
            <a:pPr marL="0" indent="0" algn="ctr">
              <a:lnSpc>
                <a:spcPts val="5550"/>
              </a:lnSpc>
              <a:buNone/>
              <a:defRPr/>
            </a:pPr>
            <a:r>
              <a:rPr lang="en-US" sz="4450" dirty="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제2언어인 </a:t>
            </a:r>
            <a:r>
              <a:rPr lang="en-US" sz="4450" dirty="0" err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영어로</a:t>
            </a:r>
            <a:r>
              <a:rPr lang="en-US" sz="4450" dirty="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 </a:t>
            </a:r>
          </a:p>
          <a:p>
            <a:pPr marL="0" indent="0" algn="ctr">
              <a:lnSpc>
                <a:spcPts val="5550"/>
              </a:lnSpc>
              <a:buNone/>
              <a:defRPr/>
            </a:pPr>
            <a:r>
              <a:rPr lang="en-US" sz="4450" dirty="0" err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논문</a:t>
            </a:r>
            <a:r>
              <a:rPr lang="en-US" sz="4450" dirty="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 </a:t>
            </a:r>
            <a:r>
              <a:rPr lang="en-US" sz="4450" dirty="0" err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작성하기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572726" y="542253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ctr">
              <a:lnSpc>
                <a:spcPts val="2850"/>
              </a:lnSpc>
              <a:buNone/>
              <a:defRPr/>
            </a:pPr>
            <a:r>
              <a:rPr lang="ko-KR" altLang="en-US" sz="1750" b="1" dirty="0" err="1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사림아너스학부</a:t>
            </a:r>
            <a:r>
              <a:rPr lang="ko-KR" altLang="en-US" sz="1750" b="1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 이용직</a:t>
            </a:r>
          </a:p>
        </p:txBody>
      </p:sp>
      <p:sp>
        <p:nvSpPr>
          <p:cNvPr id="6" name="Text 3"/>
          <p:cNvSpPr/>
          <p:nvPr/>
        </p:nvSpPr>
        <p:spPr>
          <a:xfrm>
            <a:off x="723451" y="609548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ctr">
              <a:lnSpc>
                <a:spcPts val="2850"/>
              </a:lnSpc>
              <a:buNone/>
              <a:defRPr/>
            </a:pPr>
            <a:r>
              <a:rPr lang="en-US" sz="1750" u="sng" dirty="0">
                <a:solidFill>
                  <a:srgbClr val="403CCF"/>
                </a:solidFill>
                <a:latin typeface="Open Sans"/>
                <a:ea typeface="Open Sans"/>
                <a:cs typeface="Open Sans"/>
                <a:hlinkClick r:id="" action="ppaction://hlinkshowjump?jump=firstslide"/>
              </a:rPr>
              <a:t>yongjiklee@</a:t>
            </a:r>
            <a:r>
              <a:rPr lang="en-US" altLang="ko-KR" sz="1750" u="sng" dirty="0">
                <a:solidFill>
                  <a:srgbClr val="403CCF"/>
                </a:solidFill>
                <a:latin typeface="Open Sans"/>
                <a:ea typeface="Open Sans"/>
                <a:cs typeface="Open Sans"/>
                <a:hlinkClick r:id="" action="ppaction://hlinkshowjump?jump=firstslide"/>
              </a:rPr>
              <a:t>changwon</a:t>
            </a:r>
            <a:r>
              <a:rPr lang="en-US" sz="1750" u="sng" dirty="0">
                <a:solidFill>
                  <a:srgbClr val="403CCF"/>
                </a:solidFill>
                <a:latin typeface="Open Sans"/>
                <a:ea typeface="Open Sans"/>
                <a:cs typeface="Open Sans"/>
                <a:hlinkClick r:id="" action="ppaction://hlinkshowjump?jump=firstslide"/>
              </a:rPr>
              <a:t>.ac.kr</a:t>
            </a:r>
            <a:endParaRPr lang="en-US" sz="1750" u="sng" dirty="0">
              <a:solidFill>
                <a:srgbClr val="403CC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93790" y="573917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9373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목차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303770" y="1571149"/>
            <a:ext cx="22860" cy="5958959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4" name="Shape 2"/>
          <p:cNvSpPr/>
          <p:nvPr/>
        </p:nvSpPr>
        <p:spPr>
          <a:xfrm>
            <a:off x="6636425" y="1751052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5" name="Shape 3"/>
          <p:cNvSpPr/>
          <p:nvPr/>
        </p:nvSpPr>
        <p:spPr>
          <a:xfrm>
            <a:off x="7123867" y="1571149"/>
            <a:ext cx="382667" cy="382667"/>
          </a:xfrm>
          <a:prstGeom prst="roundRect">
            <a:avLst>
              <a:gd name="adj" fmla="val 6669"/>
            </a:avLst>
          </a:prstGeom>
          <a:solidFill>
            <a:srgbClr val="EAE8F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625" y="1602998"/>
            <a:ext cx="255151" cy="318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02562" y="1629608"/>
            <a:ext cx="21620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왜 영어논문이 필요한가?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83673" y="2771656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9" name="Shape 6"/>
          <p:cNvSpPr/>
          <p:nvPr/>
        </p:nvSpPr>
        <p:spPr>
          <a:xfrm>
            <a:off x="7123867" y="2591753"/>
            <a:ext cx="382667" cy="382667"/>
          </a:xfrm>
          <a:prstGeom prst="roundRect">
            <a:avLst>
              <a:gd name="adj" fmla="val 6669"/>
            </a:avLst>
          </a:prstGeom>
          <a:solidFill>
            <a:srgbClr val="EAE8F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625" y="2623602"/>
            <a:ext cx="255151" cy="3189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65783" y="2650212"/>
            <a:ext cx="473154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원칙1 – Second language learner perspective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6636425" y="3651409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3" name="Shape 9"/>
          <p:cNvSpPr/>
          <p:nvPr/>
        </p:nvSpPr>
        <p:spPr>
          <a:xfrm>
            <a:off x="7123867" y="3471505"/>
            <a:ext cx="382667" cy="382667"/>
          </a:xfrm>
          <a:prstGeom prst="roundRect">
            <a:avLst>
              <a:gd name="adj" fmla="val 6669"/>
            </a:avLst>
          </a:prstGeom>
          <a:solidFill>
            <a:srgbClr val="EAE8F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625" y="3503355"/>
            <a:ext cx="255151" cy="3189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71555" y="3529965"/>
            <a:ext cx="259306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원칙2 – Simplify/Clarify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7483673" y="4531162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7" name="Shape 12"/>
          <p:cNvSpPr/>
          <p:nvPr/>
        </p:nvSpPr>
        <p:spPr>
          <a:xfrm>
            <a:off x="7123867" y="4351258"/>
            <a:ext cx="382667" cy="382667"/>
          </a:xfrm>
          <a:prstGeom prst="roundRect">
            <a:avLst>
              <a:gd name="adj" fmla="val 6669"/>
            </a:avLst>
          </a:prstGeom>
          <a:solidFill>
            <a:srgbClr val="EAE8F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625" y="4383107"/>
            <a:ext cx="255151" cy="3189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65783" y="4409718"/>
            <a:ext cx="499300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원칙3 – Research Purpose, Research Questions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6636425" y="5410914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21" name="Shape 15"/>
          <p:cNvSpPr/>
          <p:nvPr/>
        </p:nvSpPr>
        <p:spPr>
          <a:xfrm>
            <a:off x="7123867" y="5231011"/>
            <a:ext cx="382667" cy="382667"/>
          </a:xfrm>
          <a:prstGeom prst="roundRect">
            <a:avLst>
              <a:gd name="adj" fmla="val 6669"/>
            </a:avLst>
          </a:prstGeom>
          <a:solidFill>
            <a:srgbClr val="EAE8F3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625" y="5262860"/>
            <a:ext cx="255151" cy="3189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675817" y="5289471"/>
            <a:ext cx="278880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원칙4 – Research Methods</a:t>
            </a:r>
            <a:endParaRPr lang="en-US" sz="1650" dirty="0"/>
          </a:p>
        </p:txBody>
      </p:sp>
      <p:sp>
        <p:nvSpPr>
          <p:cNvPr id="24" name="Shape 17"/>
          <p:cNvSpPr/>
          <p:nvPr/>
        </p:nvSpPr>
        <p:spPr>
          <a:xfrm>
            <a:off x="7483673" y="6290667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25" name="Shape 18"/>
          <p:cNvSpPr/>
          <p:nvPr/>
        </p:nvSpPr>
        <p:spPr>
          <a:xfrm>
            <a:off x="7123867" y="6110764"/>
            <a:ext cx="382667" cy="382667"/>
          </a:xfrm>
          <a:prstGeom prst="roundRect">
            <a:avLst>
              <a:gd name="adj" fmla="val 6669"/>
            </a:avLst>
          </a:prstGeom>
          <a:solidFill>
            <a:srgbClr val="EAE8F3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7625" y="6142613"/>
            <a:ext cx="255151" cy="3189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65783" y="616922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원칙5 – Editing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49987"/>
            <a:ext cx="4903113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왜 영어논문이 필요한가?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93790" y="1741646"/>
            <a:ext cx="7556421" cy="1419106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986552" y="193440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국제적 학술 교류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86552" y="2351246"/>
            <a:ext cx="717089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영어는 국제 학술 커뮤니티의 공용어로, 연구 결과를 전 세계 학자들과 공유하기 </a:t>
            </a:r>
            <a:r>
              <a:rPr lang="en-US" sz="150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위해</a:t>
            </a: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50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필수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93790" y="3353514"/>
            <a:ext cx="7556421" cy="1110734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986552" y="354627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영향력 확대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86552" y="3963114"/>
            <a:ext cx="717089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영어로 출판된 논문은 더 넓은 독자층에게 도달하여 인용 가능성과 </a:t>
            </a:r>
            <a:r>
              <a:rPr lang="en-US" sz="150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</a:t>
            </a: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50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영향력</a:t>
            </a: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ko-KR" alt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증가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93790" y="4657011"/>
            <a:ext cx="7556421" cy="1110734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986552" y="484977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학술적 경력 발전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86552" y="5266611"/>
            <a:ext cx="717089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국제 저널에 영어 논문을 게재하는 것은 학자로서의 평판과 경력 발전에 </a:t>
            </a:r>
            <a:r>
              <a:rPr lang="en-US" sz="150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중요한</a:t>
            </a: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50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요소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93790" y="5960507"/>
            <a:ext cx="7556421" cy="1419106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4" name="Text 11"/>
          <p:cNvSpPr/>
          <p:nvPr/>
        </p:nvSpPr>
        <p:spPr>
          <a:xfrm>
            <a:off x="986552" y="615326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최신 연구 동향 접근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86552" y="6570107"/>
            <a:ext cx="717089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대부분의 최신 연구와 학술 자료가 영어로 출판되므로, 영어 논문 작성 능력은 최신 연구 동향을 파악하고 기여하는 데 </a:t>
            </a:r>
            <a:r>
              <a:rPr lang="en-US" sz="150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필수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126226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원칙1 – Second language learner perspective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167" y="3076337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849047"/>
            <a:ext cx="31116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영어 학습자 관점 유지하기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3339465"/>
            <a:ext cx="542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제2언어 학습자로서의 자신의 위치를 인식하고 받아들이기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D0CED9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4496633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현실적인 목표 설정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759762"/>
            <a:ext cx="50913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원어민 수준의 완벽함보다 명확한 의사소통에 집중하기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D0CED9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011" y="5916930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6896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적절한 도구 활용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6180058"/>
            <a:ext cx="52091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언어 자원과 학술 영어 지원 도구를 효과적으로 활용하기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585" y="536258"/>
            <a:ext cx="7264479" cy="396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Kachru Model "The Three Circles of English"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85" y="1185863"/>
            <a:ext cx="5347930" cy="35792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8234" y="6178034"/>
            <a:ext cx="1584603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Inner Circle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2585" y="6451997"/>
            <a:ext cx="48702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영어가 모국어인 국가들 (미국, 영국, 캐나다, 호주, 뉴질랜드)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321" y="4907637"/>
            <a:ext cx="3017758" cy="301775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4044" y="6297990"/>
            <a:ext cx="189667" cy="2370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14222" y="5376029"/>
            <a:ext cx="1584603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Outer Circle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9014222" y="5649992"/>
            <a:ext cx="4933593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영어가 제2언어로 사용되는 국가들 (인도, 싱가포르, 필리핀 등)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321" y="4907637"/>
            <a:ext cx="3017758" cy="3017758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8409" y="5383232"/>
            <a:ext cx="189667" cy="23705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014222" y="6980039"/>
            <a:ext cx="1584603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Expanding Circle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9014222" y="7254002"/>
            <a:ext cx="4933593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영어가 외국어로 학습되는 국가들 (한국, 일본, 중국, 러시아 등)</a:t>
            </a:r>
            <a:endParaRPr lang="en-US" sz="9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321" y="4907637"/>
            <a:ext cx="3017758" cy="3017758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409" y="7212628"/>
            <a:ext cx="189667" cy="237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08541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5000"/>
              </a:lnSpc>
              <a:buNone/>
              <a:defRPr/>
            </a:pPr>
            <a:r>
              <a:rPr lang="en-US" sz="40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ESP</a:t>
            </a:r>
          </a:p>
          <a:p>
            <a:pPr marL="0" indent="0" algn="l">
              <a:lnSpc>
                <a:spcPts val="5000"/>
              </a:lnSpc>
              <a:buNone/>
              <a:defRPr/>
            </a:pPr>
            <a:r>
              <a:rPr lang="en-US" sz="40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(English for Specific Purpose)</a:t>
            </a:r>
            <a:endParaRPr lang="en-US" sz="4000"/>
          </a:p>
        </p:txBody>
      </p:sp>
      <p:sp>
        <p:nvSpPr>
          <p:cNvPr id="4" name="Shape 1"/>
          <p:cNvSpPr/>
          <p:nvPr/>
        </p:nvSpPr>
        <p:spPr>
          <a:xfrm>
            <a:off x="6280190" y="2290524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356687" y="2328743"/>
            <a:ext cx="306110" cy="3826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43487" y="2360652"/>
            <a:ext cx="3973711" cy="31884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 dirty="0" err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모든</a:t>
            </a:r>
            <a:r>
              <a:rPr lang="en-US" sz="2000" dirty="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</a:t>
            </a:r>
            <a:r>
              <a:rPr lang="ko-KR" altLang="en-US" sz="2000" dirty="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학생</a:t>
            </a:r>
            <a:r>
              <a:rPr lang="en-US" sz="2000" dirty="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이 </a:t>
            </a:r>
            <a:r>
              <a:rPr lang="en-US" sz="2000" dirty="0" err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영어전공자가</a:t>
            </a:r>
            <a:r>
              <a:rPr lang="en-US" sz="2000" dirty="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</a:t>
            </a:r>
            <a:r>
              <a:rPr lang="en-US" sz="2000" dirty="0" err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아니다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6943487" y="2801898"/>
            <a:ext cx="6893123" cy="32670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대학원에서 영어를 전공하는 학생은 극소수에 불과합니다</a:t>
            </a:r>
            <a:endParaRPr lang="en-US" sz="1600"/>
          </a:p>
        </p:txBody>
      </p:sp>
      <p:sp>
        <p:nvSpPr>
          <p:cNvPr id="8" name="Shape 4"/>
          <p:cNvSpPr/>
          <p:nvPr/>
        </p:nvSpPr>
        <p:spPr>
          <a:xfrm>
            <a:off x="6280190" y="3536871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356687" y="3575090"/>
            <a:ext cx="306110" cy="3826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43487" y="360699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영어를 도구로 접근</a:t>
            </a:r>
            <a:endParaRPr lang="en-US" sz="2000"/>
          </a:p>
        </p:txBody>
      </p:sp>
      <p:sp>
        <p:nvSpPr>
          <p:cNvPr id="11" name="Text 6"/>
          <p:cNvSpPr/>
          <p:nvPr/>
        </p:nvSpPr>
        <p:spPr>
          <a:xfrm>
            <a:off x="6943487" y="4048244"/>
            <a:ext cx="6893123" cy="32670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대다수의 대학원생들은 영어를 학술목적을 위한 도구로 접근해야 합니다</a:t>
            </a:r>
            <a:endParaRPr lang="en-US" sz="1600"/>
          </a:p>
        </p:txBody>
      </p:sp>
      <p:sp>
        <p:nvSpPr>
          <p:cNvPr id="12" name="Shape 7"/>
          <p:cNvSpPr/>
          <p:nvPr/>
        </p:nvSpPr>
        <p:spPr>
          <a:xfrm>
            <a:off x="6280190" y="4783217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356687" y="4821436"/>
            <a:ext cx="306110" cy="38266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3487" y="4853345"/>
            <a:ext cx="4373642" cy="31884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ESP(English for Specific Purpose)</a:t>
            </a:r>
            <a:endParaRPr lang="en-US" sz="2000"/>
          </a:p>
        </p:txBody>
      </p:sp>
      <p:sp>
        <p:nvSpPr>
          <p:cNvPr id="15" name="Text 9"/>
          <p:cNvSpPr/>
          <p:nvPr/>
        </p:nvSpPr>
        <p:spPr>
          <a:xfrm>
            <a:off x="6943487" y="5294590"/>
            <a:ext cx="6893123" cy="65341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5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특수 목적 영어는 특정 학문이나 직업 분야에 필요한 영어 능력을 개발하는 데 중점을 둡니다</a:t>
            </a:r>
            <a:endParaRPr lang="en-US" sz="1600"/>
          </a:p>
        </p:txBody>
      </p:sp>
      <p:sp>
        <p:nvSpPr>
          <p:cNvPr id="16" name="Shape 10"/>
          <p:cNvSpPr/>
          <p:nvPr/>
        </p:nvSpPr>
        <p:spPr>
          <a:xfrm>
            <a:off x="6280190" y="6356271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356687" y="6394490"/>
            <a:ext cx="306110" cy="38266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43487" y="6426398"/>
            <a:ext cx="4644152" cy="31884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EAP(English for Academic Purpose)</a:t>
            </a:r>
            <a:endParaRPr lang="en-US" sz="2000"/>
          </a:p>
        </p:txBody>
      </p:sp>
      <p:sp>
        <p:nvSpPr>
          <p:cNvPr id="19" name="Text 12"/>
          <p:cNvSpPr/>
          <p:nvPr/>
        </p:nvSpPr>
        <p:spPr>
          <a:xfrm>
            <a:off x="6943487" y="6867644"/>
            <a:ext cx="6893123" cy="65341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5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학술 목적 영어는 학술 연구와 발표에 필요한 특정 언어 기술을 개발하는 데 중점을 둡니다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7015"/>
            <a:ext cx="109227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Focus on Meaning VS. Focus on Form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12770"/>
            <a:ext cx="49428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Focus on Meaning (Social English)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939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일상생활에서 외국인 교수님과 이야기 할 때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6089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의사소통의 목적이 중요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030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자연스러운 대화 흐름 강조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452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문법적 오류가 있어도 의미 전달이 가능하면 허용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58748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비형식적 표현과 구어체 사용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112770"/>
            <a:ext cx="50377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Focus on Form (Academic English)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369391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영어로 학술지 소논문을 쓰거나 국제학술대회에서 영어발표를 할 때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6237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정확한 문법과 어휘 사용 중요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06599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학술적 표현과 구조 준수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5081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형식적이고 정확한 언어 사용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9503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분야별 전문 용어와 표현 활용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51046"/>
            <a:ext cx="6917769" cy="70877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원칙2 – Simplify/Clarify</a:t>
            </a:r>
            <a:endParaRPr lang="en-US" sz="445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93790" y="1839635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1934647"/>
            <a:ext cx="1536025" cy="7086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 dirty="0" err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간단하게</a:t>
            </a:r>
            <a:r>
              <a:rPr lang="en-US" sz="2200" dirty="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– </a:t>
            </a:r>
          </a:p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 dirty="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simple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87579" y="2779395"/>
            <a:ext cx="1536025" cy="145161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복잡한 문장 구조보다 명확하고 간결한 표현을 사용하세요</a:t>
            </a:r>
            <a:endParaRPr lang="en-US" sz="175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407093" y="1839635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00882" y="1934647"/>
            <a:ext cx="1536025" cy="7086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 dirty="0" err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명확</a:t>
            </a:r>
            <a:r>
              <a:rPr lang="en-US" sz="2200" dirty="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/</a:t>
            </a:r>
            <a:r>
              <a:rPr lang="en-US" sz="2200" dirty="0" err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명료</a:t>
            </a:r>
            <a:r>
              <a:rPr lang="en-US" sz="2200" dirty="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- clear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200882" y="2779395"/>
            <a:ext cx="1536025" cy="1814513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모호한 표현을 피하고 정확한 의미를 전달하는 단어를 선택하세요</a:t>
            </a:r>
            <a:endParaRPr lang="en-US" sz="175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020395" y="1839635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14185" y="1934647"/>
            <a:ext cx="2079310" cy="7086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altLang="ko-KR" sz="2200" dirty="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S</a:t>
            </a:r>
            <a:r>
              <a:rPr lang="en-US" sz="2200" dirty="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tay on the topic</a:t>
            </a:r>
          </a:p>
        </p:txBody>
      </p:sp>
      <p:sp>
        <p:nvSpPr>
          <p:cNvPr id="12" name="Text 6"/>
          <p:cNvSpPr/>
          <p:nvPr/>
        </p:nvSpPr>
        <p:spPr>
          <a:xfrm>
            <a:off x="6814185" y="2779395"/>
            <a:ext cx="1536025" cy="10887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주제에서 벗어나지 말고 핵심 내용에 집중하세요</a:t>
            </a:r>
            <a:endParaRPr lang="en-US" sz="175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93790" y="5087183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87579" y="5182195"/>
            <a:ext cx="3275823" cy="7086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altLang="ko-KR" sz="2200" dirty="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G</a:t>
            </a:r>
            <a:r>
              <a:rPr lang="en-US" sz="2200" dirty="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et to the point</a:t>
            </a:r>
          </a:p>
        </p:txBody>
      </p:sp>
      <p:sp>
        <p:nvSpPr>
          <p:cNvPr id="15" name="Text 8"/>
          <p:cNvSpPr/>
          <p:nvPr/>
        </p:nvSpPr>
        <p:spPr>
          <a:xfrm>
            <a:off x="1587579" y="6026944"/>
            <a:ext cx="1536025" cy="145161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화려한 미사어구 대신 요점을 직접적으로 전달하세요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7820"/>
            <a:ext cx="5371267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두괄식 – OK / 미괄식 – NO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29596"/>
            <a:ext cx="9356646" cy="3493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384006"/>
            <a:ext cx="252448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두괄식 (Topic-first) - OK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93790" y="5819775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영어 학술 글쓰기에서 권장되는 방식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3790" y="6244947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주요 주장이나 결론을 문단 시작에 배치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3790" y="6576655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핵심 내용을 먼저 제시한 후 세부 사항 설명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3790" y="6908363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독자가 글의 요점을 빠르게 파악 가능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3790" y="7240072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영미권 학술 문화에서 선호하는 방식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30346" y="5384006"/>
            <a:ext cx="247519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미괄식 (Topic-last) - NO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530346" y="5819775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영어 학술 글쓰기에서 지양해야 하는 방식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30346" y="6244947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배경 설명이나 세부 사항을 먼저 제시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30346" y="6576655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주요 주장이나 결론을 문단 끝에 배치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30346" y="6908363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독자가 글의 요점을 파악하기 어려움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30346" y="7240072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한국어 등 일부 언어권에서 흔히 사용되는 방식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7123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 dirty="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원칙3</a:t>
            </a:r>
            <a:r>
              <a:rPr lang="en-US" altLang="ko-KR" sz="4450" dirty="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 - </a:t>
            </a:r>
            <a:r>
              <a:rPr lang="en-US" sz="4450" dirty="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Research Purpose, </a:t>
            </a:r>
          </a:p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 dirty="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Research Questions</a:t>
            </a:r>
          </a:p>
        </p:txBody>
      </p:sp>
      <p:sp>
        <p:nvSpPr>
          <p:cNvPr id="4" name="Shape 1"/>
          <p:cNvSpPr/>
          <p:nvPr/>
        </p:nvSpPr>
        <p:spPr>
          <a:xfrm>
            <a:off x="6280190" y="3028950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5" name="Text 2"/>
          <p:cNvSpPr/>
          <p:nvPr/>
        </p:nvSpPr>
        <p:spPr>
          <a:xfrm>
            <a:off x="6507004" y="32557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명확한 연구 목적 설정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6507004" y="3746183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연구의 방향을 명확히 하고 독자에게 연구의 가치를 전달하는 핵심 요소입니다.</a:t>
            </a:r>
            <a:endParaRPr lang="en-US" sz="1750"/>
          </a:p>
        </p:txBody>
      </p:sp>
      <p:sp>
        <p:nvSpPr>
          <p:cNvPr id="7" name="Shape 4"/>
          <p:cNvSpPr/>
          <p:nvPr/>
        </p:nvSpPr>
        <p:spPr>
          <a:xfrm>
            <a:off x="10171867" y="3028950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8" name="Text 5"/>
          <p:cNvSpPr/>
          <p:nvPr/>
        </p:nvSpPr>
        <p:spPr>
          <a:xfrm>
            <a:off x="10398681" y="3255764"/>
            <a:ext cx="2851071" cy="35433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구체적인 연구 질문 개발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10398681" y="3746183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연구의 범위를 정의하고 데이터 수집 및 분석 방법을 결정하는 기준이 됩니다.</a:t>
            </a:r>
            <a:endParaRPr lang="en-US" sz="1750"/>
          </a:p>
        </p:txBody>
      </p:sp>
      <p:sp>
        <p:nvSpPr>
          <p:cNvPr id="10" name="Shape 7"/>
          <p:cNvSpPr/>
          <p:nvPr/>
        </p:nvSpPr>
        <p:spPr>
          <a:xfrm>
            <a:off x="6280190" y="5288518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1" name="Text 8"/>
          <p:cNvSpPr/>
          <p:nvPr/>
        </p:nvSpPr>
        <p:spPr>
          <a:xfrm>
            <a:off x="6507004" y="5515332"/>
            <a:ext cx="3111698" cy="35433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연구 목적과 질문의 일관성</a:t>
            </a:r>
            <a:endParaRPr lang="en-US" sz="2200"/>
          </a:p>
        </p:txBody>
      </p:sp>
      <p:sp>
        <p:nvSpPr>
          <p:cNvPr id="12" name="Text 9"/>
          <p:cNvSpPr/>
          <p:nvPr/>
        </p:nvSpPr>
        <p:spPr>
          <a:xfrm>
            <a:off x="6507004" y="6005751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 목적과 연구 질문은 서로 밀접하게 연결되어 연구의 전체적인 일관성을 유지해야 합니다.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86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연구목적과 연구질문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644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연구목적 (평서문)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45575"/>
            <a:ext cx="6521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study examines the pre-service teachers' self-efficacy beliefs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teaching ELLs before and after the micro-teaching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experiences.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383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양적연구면 동사를 examine(s) / investigate(s)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805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질적연구면 동사를 explore(s) / understand(s)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0644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연구질문 (의문문)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64557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are pre-service teachers' self-efficacy beliefs about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teaching ELLs before and after the micro-teaching experience?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9383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양적연구면 주로 What 으로 문장 시작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3805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질적연구면 주로 How로 문장 시작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0779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연구목적(평서문) =&gt; 연구질문(의문문)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설계 예시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목적 설정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263473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명확한 연구 목적과 의의 정의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질문 개발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3995618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목적에 부합하는 구체적인 질문 설계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방법론 선택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535650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질문에 적합한 데이터 수집 및 분석 방법 결정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268022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데이터 수집 계획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2268022" y="671738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참여자 선정, 도구 개발, 윤리적 고려사항 검토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74398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원칙4 – Research Methods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설계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질문에 적합한 양적, 질적, </a:t>
            </a:r>
          </a:p>
          <a:p>
            <a:pPr marL="0" indent="0" algn="r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혼합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방법론 선택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참여자 선정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목적에 부합하는 적절한 표본 추출 방법 적용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데이터 수집 도구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신뢰성과 타당성이 확보된 측정 </a:t>
            </a:r>
            <a:r>
              <a:rPr lang="en-US" sz="175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도구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개발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및 활용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데이터 분석 방법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질문에 답할 수 있는 적절한 분석 기법 적용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31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원칙5 – Editing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5607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1303973" y="19956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초안 작성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03973" y="2486025"/>
            <a:ext cx="125326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아이디어를 자유롭게 표현하며 내용에 집중하여 첫 번째 초안을 작성합니다.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133951" y="3075742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1644134" y="3075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구조 검토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4134" y="3566160"/>
            <a:ext cx="121924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논문의 전체적인 구조와 논리적 흐름을 검토하고 필요한 부분을 재구성합니다.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474232" y="4155877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1984415" y="41558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문장 수준 편집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84415" y="4646295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문법, 어휘, 문장 구조 등을 세밀하게 검토하고 수정합니다.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814513" y="5236012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2324695" y="5236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동료 피드백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24695" y="5726430"/>
            <a:ext cx="115119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동료나 멘토에게 논문을 검토받고 건설적인 피드백을 수용합니다.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474232" y="6316147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1984415" y="6316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최종 교정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84415" y="6806565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오탈자, 참고문헌, 형식 등을 최종적으로 점검하고 완성합니다.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931" y="467082"/>
            <a:ext cx="5361980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연구시작 전: 본인의 연구의 일정을 명확히 하기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" y="1031319"/>
            <a:ext cx="6077188" cy="27502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07580" y="3905369"/>
            <a:ext cx="15240" cy="3857149"/>
          </a:xfrm>
          <a:prstGeom prst="roundRect">
            <a:avLst>
              <a:gd name="adj" fmla="val 108386"/>
            </a:avLst>
          </a:prstGeom>
          <a:solidFill>
            <a:srgbClr val="D0CED9"/>
          </a:solidFill>
          <a:ln/>
        </p:spPr>
      </p:sp>
      <p:sp>
        <p:nvSpPr>
          <p:cNvPr id="5" name="Shape 2"/>
          <p:cNvSpPr/>
          <p:nvPr/>
        </p:nvSpPr>
        <p:spPr>
          <a:xfrm>
            <a:off x="6876276" y="4021574"/>
            <a:ext cx="330279" cy="15240"/>
          </a:xfrm>
          <a:prstGeom prst="roundRect">
            <a:avLst>
              <a:gd name="adj" fmla="val 108386"/>
            </a:avLst>
          </a:prstGeom>
          <a:solidFill>
            <a:srgbClr val="D0CED9"/>
          </a:solidFill>
          <a:ln/>
        </p:spPr>
      </p:sp>
      <p:sp>
        <p:nvSpPr>
          <p:cNvPr id="6" name="Shape 3"/>
          <p:cNvSpPr/>
          <p:nvPr/>
        </p:nvSpPr>
        <p:spPr>
          <a:xfrm>
            <a:off x="7191315" y="3905369"/>
            <a:ext cx="247769" cy="247769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571" y="3925967"/>
            <a:ext cx="165140" cy="2064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88173" y="3943112"/>
            <a:ext cx="1376482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계획 수립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2931" y="4181118"/>
            <a:ext cx="617172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주제 선정, 문헌 검토, 연구 설계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7423845" y="4682133"/>
            <a:ext cx="330279" cy="15240"/>
          </a:xfrm>
          <a:prstGeom prst="roundRect">
            <a:avLst>
              <a:gd name="adj" fmla="val 108386"/>
            </a:avLst>
          </a:prstGeom>
          <a:solidFill>
            <a:srgbClr val="D0CED9"/>
          </a:solidFill>
          <a:ln/>
        </p:spPr>
      </p:sp>
      <p:sp>
        <p:nvSpPr>
          <p:cNvPr id="11" name="Shape 7"/>
          <p:cNvSpPr/>
          <p:nvPr/>
        </p:nvSpPr>
        <p:spPr>
          <a:xfrm>
            <a:off x="7191315" y="4565928"/>
            <a:ext cx="247769" cy="247769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571" y="4586526"/>
            <a:ext cx="165140" cy="2064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65745" y="4603671"/>
            <a:ext cx="1376482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IRB 승인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7865745" y="4841677"/>
            <a:ext cx="617172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연구윤리심의위원회 제출 및 승인 획득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6876276" y="5251490"/>
            <a:ext cx="330279" cy="15240"/>
          </a:xfrm>
          <a:prstGeom prst="roundRect">
            <a:avLst>
              <a:gd name="adj" fmla="val 108386"/>
            </a:avLst>
          </a:prstGeom>
          <a:solidFill>
            <a:srgbClr val="D0CED9"/>
          </a:solidFill>
          <a:ln/>
        </p:spPr>
      </p:sp>
      <p:sp>
        <p:nvSpPr>
          <p:cNvPr id="16" name="Shape 11"/>
          <p:cNvSpPr/>
          <p:nvPr/>
        </p:nvSpPr>
        <p:spPr>
          <a:xfrm>
            <a:off x="7191315" y="5135285"/>
            <a:ext cx="247769" cy="247769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571" y="5155883"/>
            <a:ext cx="165140" cy="2064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88173" y="5173028"/>
            <a:ext cx="1376482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데이터 수집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592931" y="5411033"/>
            <a:ext cx="617172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참여자 모집, 설문조사, 인터뷰, 실험 등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423845" y="5820966"/>
            <a:ext cx="330279" cy="15240"/>
          </a:xfrm>
          <a:prstGeom prst="roundRect">
            <a:avLst>
              <a:gd name="adj" fmla="val 108386"/>
            </a:avLst>
          </a:prstGeom>
          <a:solidFill>
            <a:srgbClr val="D0CED9"/>
          </a:solidFill>
          <a:ln/>
        </p:spPr>
      </p:sp>
      <p:sp>
        <p:nvSpPr>
          <p:cNvPr id="21" name="Shape 15"/>
          <p:cNvSpPr/>
          <p:nvPr/>
        </p:nvSpPr>
        <p:spPr>
          <a:xfrm>
            <a:off x="7191315" y="5704761"/>
            <a:ext cx="247769" cy="247769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2571" y="5725358"/>
            <a:ext cx="165140" cy="20645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865745" y="5742503"/>
            <a:ext cx="1376482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데이터 분석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7865745" y="5980509"/>
            <a:ext cx="617172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통계 분석, 질적 코딩, 결과 해석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6876276" y="6390442"/>
            <a:ext cx="330279" cy="15240"/>
          </a:xfrm>
          <a:prstGeom prst="roundRect">
            <a:avLst>
              <a:gd name="adj" fmla="val 108386"/>
            </a:avLst>
          </a:prstGeom>
          <a:solidFill>
            <a:srgbClr val="D0CED9"/>
          </a:solidFill>
          <a:ln/>
        </p:spPr>
      </p:sp>
      <p:sp>
        <p:nvSpPr>
          <p:cNvPr id="26" name="Shape 19"/>
          <p:cNvSpPr/>
          <p:nvPr/>
        </p:nvSpPr>
        <p:spPr>
          <a:xfrm>
            <a:off x="7191315" y="6274237"/>
            <a:ext cx="247769" cy="247769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2571" y="6294834"/>
            <a:ext cx="165140" cy="20645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88173" y="6311979"/>
            <a:ext cx="1376482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논문 작성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592931" y="6549985"/>
            <a:ext cx="617172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초안 작성, 수정, 최종 완성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7423845" y="6959917"/>
            <a:ext cx="330279" cy="15240"/>
          </a:xfrm>
          <a:prstGeom prst="roundRect">
            <a:avLst>
              <a:gd name="adj" fmla="val 108386"/>
            </a:avLst>
          </a:prstGeom>
          <a:solidFill>
            <a:srgbClr val="D0CED9"/>
          </a:solidFill>
          <a:ln/>
        </p:spPr>
      </p:sp>
      <p:sp>
        <p:nvSpPr>
          <p:cNvPr id="31" name="Shape 23"/>
          <p:cNvSpPr/>
          <p:nvPr/>
        </p:nvSpPr>
        <p:spPr>
          <a:xfrm>
            <a:off x="7191315" y="6843713"/>
            <a:ext cx="247769" cy="247769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2571" y="6864310"/>
            <a:ext cx="165140" cy="20645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865745" y="6881455"/>
            <a:ext cx="1376482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제출 및 발표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7865745" y="7119461"/>
            <a:ext cx="617172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학술지 투고, 심사 대응, 학회 발표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08541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5000"/>
              </a:lnSpc>
              <a:buNone/>
              <a:defRPr/>
            </a:pPr>
            <a:r>
              <a:rPr lang="en-US" sz="40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데이터 수집전: </a:t>
            </a:r>
          </a:p>
          <a:p>
            <a:pPr marL="0" indent="0" algn="l">
              <a:lnSpc>
                <a:spcPts val="5000"/>
              </a:lnSpc>
              <a:buNone/>
              <a:defRPr/>
            </a:pPr>
            <a:r>
              <a:rPr lang="en-US" sz="40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IRB(연구윤리심의위원회)</a:t>
            </a:r>
            <a:endParaRPr lang="en-US" sz="4000"/>
          </a:p>
        </p:txBody>
      </p:sp>
      <p:sp>
        <p:nvSpPr>
          <p:cNvPr id="4" name="Shape 1"/>
          <p:cNvSpPr/>
          <p:nvPr/>
        </p:nvSpPr>
        <p:spPr>
          <a:xfrm>
            <a:off x="793790" y="2290524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5" name="Text 2"/>
          <p:cNvSpPr/>
          <p:nvPr/>
        </p:nvSpPr>
        <p:spPr>
          <a:xfrm>
            <a:off x="1457087" y="236065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IRB의 목적</a:t>
            </a:r>
            <a:endParaRPr lang="en-US" sz="2000"/>
          </a:p>
        </p:txBody>
      </p:sp>
      <p:sp>
        <p:nvSpPr>
          <p:cNvPr id="6" name="Text 3"/>
          <p:cNvSpPr/>
          <p:nvPr/>
        </p:nvSpPr>
        <p:spPr>
          <a:xfrm>
            <a:off x="1457087" y="2801898"/>
            <a:ext cx="6893123" cy="32670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 참여자의 권리와 복지를 보호하고 연구의 윤리적 수행을 보장합니다.</a:t>
            </a:r>
            <a:endParaRPr lang="en-US" sz="1600"/>
          </a:p>
        </p:txBody>
      </p:sp>
      <p:sp>
        <p:nvSpPr>
          <p:cNvPr id="7" name="Shape 4"/>
          <p:cNvSpPr/>
          <p:nvPr/>
        </p:nvSpPr>
        <p:spPr>
          <a:xfrm>
            <a:off x="793790" y="3536871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70287" y="3575090"/>
            <a:ext cx="306110" cy="3826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57087" y="360699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필요 서류</a:t>
            </a:r>
            <a:endParaRPr lang="en-US" sz="2000"/>
          </a:p>
        </p:txBody>
      </p:sp>
      <p:sp>
        <p:nvSpPr>
          <p:cNvPr id="10" name="Text 6"/>
          <p:cNvSpPr/>
          <p:nvPr/>
        </p:nvSpPr>
        <p:spPr>
          <a:xfrm>
            <a:off x="1457087" y="4048244"/>
            <a:ext cx="6893123" cy="65341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5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 계획서, 참여자 동의서, 데이터 수집 도구, 개인정보 보호 계획 등을 제출해야 합니다.</a:t>
            </a:r>
            <a:endParaRPr lang="en-US" sz="1600"/>
          </a:p>
        </p:txBody>
      </p:sp>
      <p:sp>
        <p:nvSpPr>
          <p:cNvPr id="11" name="Shape 7"/>
          <p:cNvSpPr/>
          <p:nvPr/>
        </p:nvSpPr>
        <p:spPr>
          <a:xfrm>
            <a:off x="793790" y="5109924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70287" y="5148143"/>
            <a:ext cx="306110" cy="3826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7087" y="518005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승인 기간</a:t>
            </a:r>
            <a:endParaRPr lang="en-US" sz="2000"/>
          </a:p>
        </p:txBody>
      </p:sp>
      <p:sp>
        <p:nvSpPr>
          <p:cNvPr id="14" name="Text 9"/>
          <p:cNvSpPr/>
          <p:nvPr/>
        </p:nvSpPr>
        <p:spPr>
          <a:xfrm>
            <a:off x="1457087" y="5621298"/>
            <a:ext cx="6893123" cy="65341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5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IRB 심의는 일반적으로 2-4주가 소요되므로 연구 일정에 여유를 두고 신청해야 합니다.</a:t>
            </a:r>
            <a:endParaRPr lang="en-US" sz="1600"/>
          </a:p>
        </p:txBody>
      </p:sp>
      <p:sp>
        <p:nvSpPr>
          <p:cNvPr id="15" name="Shape 10"/>
          <p:cNvSpPr/>
          <p:nvPr/>
        </p:nvSpPr>
        <p:spPr>
          <a:xfrm>
            <a:off x="793790" y="6682978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70287" y="6721197"/>
            <a:ext cx="306110" cy="38266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57087" y="675310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주의사항</a:t>
            </a:r>
            <a:endParaRPr lang="en-US" sz="2000"/>
          </a:p>
        </p:txBody>
      </p:sp>
      <p:sp>
        <p:nvSpPr>
          <p:cNvPr id="18" name="Text 12"/>
          <p:cNvSpPr/>
          <p:nvPr/>
        </p:nvSpPr>
        <p:spPr>
          <a:xfrm>
            <a:off x="1457087" y="7194352"/>
            <a:ext cx="6893123" cy="32670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IRB 승인 없이 데이터를 수집하면 연구 결과를 발표하거나 출판할 수 없습니다.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5453"/>
            <a:ext cx="798433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소논문의 기본 구조:학회지마다 살짝 다를수 있음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579126"/>
            <a:ext cx="1086803" cy="914757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10" y="1896904"/>
            <a:ext cx="223242" cy="279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39303" y="173783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초록 (Abstract)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2039303" y="2081093"/>
            <a:ext cx="285285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연구의 목적, 방법, 결과, 결론을 간략히 요약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959888" y="2484358"/>
            <a:ext cx="11797427" cy="11430"/>
          </a:xfrm>
          <a:prstGeom prst="roundRect">
            <a:avLst>
              <a:gd name="adj" fmla="val 208372"/>
            </a:avLst>
          </a:prstGeom>
          <a:solidFill>
            <a:srgbClr val="D0CED9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2573179"/>
            <a:ext cx="2173724" cy="914757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sp>
        <p:nvSpPr>
          <p:cNvPr id="9" name="Text 6"/>
          <p:cNvSpPr/>
          <p:nvPr/>
        </p:nvSpPr>
        <p:spPr>
          <a:xfrm>
            <a:off x="1769031" y="2890957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3126224" y="273188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서론 (Introduction)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3126224" y="3075146"/>
            <a:ext cx="204049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배경, 목적, 연구 질문 제시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046809" y="3478411"/>
            <a:ext cx="10710505" cy="11430"/>
          </a:xfrm>
          <a:prstGeom prst="roundRect">
            <a:avLst>
              <a:gd name="adj" fmla="val 208372"/>
            </a:avLst>
          </a:prstGeom>
          <a:solidFill>
            <a:srgbClr val="D0CED9"/>
          </a:solidFill>
          <a:ln/>
        </p:spPr>
      </p:sp>
      <p:sp>
        <p:nvSpPr>
          <p:cNvPr id="13" name="Shape 10"/>
          <p:cNvSpPr/>
          <p:nvPr/>
        </p:nvSpPr>
        <p:spPr>
          <a:xfrm>
            <a:off x="793790" y="3567232"/>
            <a:ext cx="3260646" cy="914757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sp>
        <p:nvSpPr>
          <p:cNvPr id="14" name="Text 11"/>
          <p:cNvSpPr/>
          <p:nvPr/>
        </p:nvSpPr>
        <p:spPr>
          <a:xfrm>
            <a:off x="2312432" y="3885009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213146" y="3725942"/>
            <a:ext cx="272927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선행연구 (Literature Review)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213146" y="4069199"/>
            <a:ext cx="272927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관련 이론과 연구 검토, 연구 간극 확인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133731" y="4472464"/>
            <a:ext cx="9623584" cy="11430"/>
          </a:xfrm>
          <a:prstGeom prst="roundRect">
            <a:avLst>
              <a:gd name="adj" fmla="val 208372"/>
            </a:avLst>
          </a:prstGeom>
          <a:solidFill>
            <a:srgbClr val="D0CED9"/>
          </a:solidFill>
          <a:ln/>
        </p:spPr>
      </p:sp>
      <p:sp>
        <p:nvSpPr>
          <p:cNvPr id="18" name="Shape 15"/>
          <p:cNvSpPr/>
          <p:nvPr/>
        </p:nvSpPr>
        <p:spPr>
          <a:xfrm>
            <a:off x="793790" y="4561284"/>
            <a:ext cx="4347567" cy="914757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sp>
        <p:nvSpPr>
          <p:cNvPr id="19" name="Text 16"/>
          <p:cNvSpPr/>
          <p:nvPr/>
        </p:nvSpPr>
        <p:spPr>
          <a:xfrm>
            <a:off x="2855952" y="4879062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5300067" y="471999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연구방법 (Methods)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5300067" y="5063252"/>
            <a:ext cx="293512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설계, 참여자, 도구, 절차, 분석 방법 설명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220653" y="5466517"/>
            <a:ext cx="8536662" cy="11430"/>
          </a:xfrm>
          <a:prstGeom prst="roundRect">
            <a:avLst>
              <a:gd name="adj" fmla="val 208372"/>
            </a:avLst>
          </a:prstGeom>
          <a:solidFill>
            <a:srgbClr val="D0CED9"/>
          </a:solidFill>
          <a:ln/>
        </p:spPr>
      </p:sp>
      <p:sp>
        <p:nvSpPr>
          <p:cNvPr id="23" name="Shape 20"/>
          <p:cNvSpPr/>
          <p:nvPr/>
        </p:nvSpPr>
        <p:spPr>
          <a:xfrm>
            <a:off x="793790" y="5555337"/>
            <a:ext cx="5434489" cy="914757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353" y="5873115"/>
            <a:ext cx="223242" cy="279083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386989" y="5714048"/>
            <a:ext cx="261520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연구결과 (Results/Findings)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6386989" y="6057305"/>
            <a:ext cx="261520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데이터 분석 결과 객관적 제시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307574" y="6460569"/>
            <a:ext cx="7449741" cy="11430"/>
          </a:xfrm>
          <a:prstGeom prst="roundRect">
            <a:avLst>
              <a:gd name="adj" fmla="val 208372"/>
            </a:avLst>
          </a:prstGeom>
          <a:solidFill>
            <a:srgbClr val="D0CED9"/>
          </a:solidFill>
          <a:ln/>
        </p:spPr>
      </p:sp>
      <p:sp>
        <p:nvSpPr>
          <p:cNvPr id="28" name="Shape 24"/>
          <p:cNvSpPr/>
          <p:nvPr/>
        </p:nvSpPr>
        <p:spPr>
          <a:xfrm>
            <a:off x="793790" y="6549390"/>
            <a:ext cx="6521410" cy="914757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2874" y="6867168"/>
            <a:ext cx="223242" cy="27908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473910" y="6708100"/>
            <a:ext cx="354591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논의 및 결론 (Discussion/Conclusion)</a:t>
            </a:r>
            <a:endParaRPr lang="en-US" sz="1550" dirty="0"/>
          </a:p>
        </p:txBody>
      </p:sp>
      <p:sp>
        <p:nvSpPr>
          <p:cNvPr id="31" name="Text 26"/>
          <p:cNvSpPr/>
          <p:nvPr/>
        </p:nvSpPr>
        <p:spPr>
          <a:xfrm>
            <a:off x="7473910" y="7051358"/>
            <a:ext cx="354591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결과 해석, 의의, 한계점, 후속 연구 제안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8782"/>
            <a:ext cx="53865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서론 작성(Introduction)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16762"/>
            <a:ext cx="963930" cy="1156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46922" y="190952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배경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046922" y="2326362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주제의 중요성과 현재 상황 설명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873573"/>
            <a:ext cx="963930" cy="11568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46922" y="306633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문제 제기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2046922" y="3483173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해결해야 할 문제나 연구 간극 제시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30385"/>
            <a:ext cx="963930" cy="11568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46922" y="422314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목적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2046922" y="4639985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연구를 통해 달성하고자 하는 목표 명시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87196"/>
            <a:ext cx="963930" cy="11568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46922" y="537995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질문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2046922" y="5796796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구체적인 연구 질문 또는 가설 제시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344007"/>
            <a:ext cx="963930" cy="11568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46922" y="653676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의의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2046922" y="6953607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연구가 기여할 수 있는 학문적, 실용적 가치 설명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3529" y="482084"/>
            <a:ext cx="3886676" cy="356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Problem-solving approach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29" y="1066086"/>
            <a:ext cx="4614982" cy="38891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95405" y="5588556"/>
            <a:ext cx="1424345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문제 인식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13529" y="5834896"/>
            <a:ext cx="5006221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현재 상황에서의 문제점이나 한계 파악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605" y="5083373"/>
            <a:ext cx="3049191" cy="3049191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6184" y="5628203"/>
            <a:ext cx="170497" cy="21312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10650" y="5588556"/>
            <a:ext cx="1424345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문제 분석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9010650" y="5834896"/>
            <a:ext cx="5006221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문제의 원인과 영향 요소 탐색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0605" y="5083373"/>
            <a:ext cx="3049191" cy="3049191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3037" y="5887641"/>
            <a:ext cx="170497" cy="21312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010650" y="7198638"/>
            <a:ext cx="1424345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해결책 제안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9010650" y="7444978"/>
            <a:ext cx="5006221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연구를 통한 문제 해결 방안 제시</a:t>
            </a:r>
            <a:endParaRPr lang="en-US" sz="8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0605" y="5083373"/>
            <a:ext cx="3049191" cy="3049191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3599" y="7374493"/>
            <a:ext cx="170497" cy="21312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195405" y="7198638"/>
            <a:ext cx="1424345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기여도 강조</a:t>
            </a:r>
            <a:endParaRPr lang="en-US" sz="1100" dirty="0"/>
          </a:p>
        </p:txBody>
      </p:sp>
      <p:sp>
        <p:nvSpPr>
          <p:cNvPr id="17" name="Text 8"/>
          <p:cNvSpPr/>
          <p:nvPr/>
        </p:nvSpPr>
        <p:spPr>
          <a:xfrm>
            <a:off x="613529" y="7444978"/>
            <a:ext cx="5006221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연구가 문제 해결에 기여하는 방식 설명</a:t>
            </a:r>
            <a:endParaRPr lang="en-US" sz="8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0605" y="5083373"/>
            <a:ext cx="3049191" cy="3049191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356747" y="7115056"/>
            <a:ext cx="170497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65096"/>
            <a:ext cx="7556421" cy="1700927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4450"/>
              </a:lnSpc>
              <a:buNone/>
              <a:defRPr/>
            </a:pPr>
            <a:r>
              <a:rPr lang="en-US" sz="35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Problem-Solving Approach </a:t>
            </a:r>
          </a:p>
          <a:p>
            <a:pPr marL="0" indent="0" algn="l">
              <a:lnSpc>
                <a:spcPts val="4450"/>
              </a:lnSpc>
              <a:buNone/>
              <a:defRPr/>
            </a:pPr>
            <a:r>
              <a:rPr lang="en-US" sz="35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(교수자의 경우) </a:t>
            </a:r>
          </a:p>
          <a:p>
            <a:pPr marL="0" indent="0" algn="l">
              <a:lnSpc>
                <a:spcPts val="4450"/>
              </a:lnSpc>
              <a:buNone/>
              <a:defRPr/>
            </a:pPr>
            <a:r>
              <a:rPr lang="en-US" sz="35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나의 교수법에 변화가 필요하다</a:t>
            </a:r>
            <a:endParaRPr lang="en-US" sz="3550"/>
          </a:p>
        </p:txBody>
      </p:sp>
      <p:sp>
        <p:nvSpPr>
          <p:cNvPr id="4" name="Shape 1"/>
          <p:cNvSpPr/>
          <p:nvPr/>
        </p:nvSpPr>
        <p:spPr>
          <a:xfrm>
            <a:off x="793790" y="2738199"/>
            <a:ext cx="7556421" cy="1045488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5" name="Text 2"/>
          <p:cNvSpPr/>
          <p:nvPr/>
        </p:nvSpPr>
        <p:spPr>
          <a:xfrm>
            <a:off x="975241" y="2919651"/>
            <a:ext cx="2280880" cy="28348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현재 교수법의 한계 인식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975241" y="3311962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4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기존 교수법이 학생들의 학습 요구를 충족시키지 못하는 부분을 파악합니다.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793790" y="3965138"/>
            <a:ext cx="7556421" cy="1045488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8" name="Text 5"/>
          <p:cNvSpPr/>
          <p:nvPr/>
        </p:nvSpPr>
        <p:spPr>
          <a:xfrm>
            <a:off x="975241" y="414659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문제의 구체적 정의</a:t>
            </a:r>
            <a:endParaRPr lang="en-US" sz="1750"/>
          </a:p>
        </p:txBody>
      </p:sp>
      <p:sp>
        <p:nvSpPr>
          <p:cNvPr id="9" name="Text 6"/>
          <p:cNvSpPr/>
          <p:nvPr/>
        </p:nvSpPr>
        <p:spPr>
          <a:xfrm>
            <a:off x="975241" y="4538901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4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학생들의 학습 성과, 참여도, 만족도 등에서 나타나는 구체적인 문제점을 정의합니다.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793790" y="5192078"/>
            <a:ext cx="7556421" cy="1045488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1" name="Text 8"/>
          <p:cNvSpPr/>
          <p:nvPr/>
        </p:nvSpPr>
        <p:spPr>
          <a:xfrm>
            <a:off x="975241" y="537352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새로운 교수법 탐색</a:t>
            </a:r>
            <a:endParaRPr lang="en-US" sz="1750"/>
          </a:p>
        </p:txBody>
      </p:sp>
      <p:sp>
        <p:nvSpPr>
          <p:cNvPr id="12" name="Text 9"/>
          <p:cNvSpPr/>
          <p:nvPr/>
        </p:nvSpPr>
        <p:spPr>
          <a:xfrm>
            <a:off x="975241" y="5765840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4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문제 해결을 위한 혁신적인 교수법이나 접근 방식을 탐색합니다.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793790" y="6419017"/>
            <a:ext cx="7556421" cy="1045488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4" name="Text 11"/>
          <p:cNvSpPr/>
          <p:nvPr/>
        </p:nvSpPr>
        <p:spPr>
          <a:xfrm>
            <a:off x="975241" y="660046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변화의 필요성 강조</a:t>
            </a:r>
            <a:endParaRPr lang="en-US" sz="1750"/>
          </a:p>
        </p:txBody>
      </p:sp>
      <p:sp>
        <p:nvSpPr>
          <p:cNvPr id="15" name="Text 12"/>
          <p:cNvSpPr/>
          <p:nvPr/>
        </p:nvSpPr>
        <p:spPr>
          <a:xfrm>
            <a:off x="975241" y="6992779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4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교수법 변화가 학생들의 학습 경험과 성과 향상에 어떻게 기여할 수 있는지 강조합니다.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86983"/>
            <a:ext cx="57945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문제해결접근 방법 예시1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5359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45784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4613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문제 상황 제시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104209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현재 영어 교육 환경에서 학생들의 의사소통 능력 부족 문제를 구체적 데이터와 함께 제시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57003" y="45359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9" name="Text 6"/>
          <p:cNvSpPr/>
          <p:nvPr/>
        </p:nvSpPr>
        <p:spPr>
          <a:xfrm>
            <a:off x="7542074" y="45784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8194119" y="4613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기존 접근법의 한계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94119" y="5104209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전통적인 문법 중심 교육 방식이 실제 의사소통 능력 향상에 미치는 제한적 효과 설명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2836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3" name="Text 10"/>
          <p:cNvSpPr/>
          <p:nvPr/>
        </p:nvSpPr>
        <p:spPr>
          <a:xfrm>
            <a:off x="878860" y="632614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3615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새로운 접근법 제안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85192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의사소통 중심 교수법의 필요성과 잠재적 효과 제시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457003" y="62836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7" name="Text 14"/>
          <p:cNvSpPr/>
          <p:nvPr/>
        </p:nvSpPr>
        <p:spPr>
          <a:xfrm>
            <a:off x="7542074" y="632614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8194119" y="63615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목적 명시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194119" y="685192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의사소통 중심 교수법이 학생들의 영어 능력 향상에 미치는 영향 탐구</a:t>
            </a: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8429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26318"/>
            <a:ext cx="382881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문제해결접근 방법 예시2</a:t>
            </a:r>
            <a:endParaRPr lang="en-US" sz="2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608189"/>
            <a:ext cx="737116" cy="8845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52005" y="375558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교육 현장의 도전 과제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752005" y="4074319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다문화 학생들의 학업 성취도 격차 문제 제시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492704"/>
            <a:ext cx="737116" cy="8845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52005" y="464010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간극 확인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1752005" y="4958834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다문화 학생 지원을 위한 효과적인 교수법에 관한 연구 부족 지적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377220"/>
            <a:ext cx="737116" cy="8845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52005" y="5524619"/>
            <a:ext cx="185320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문화 반응적 교수법 소개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1752005" y="5843349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학생들의 문화적 배경을 고려한 교수법의 잠재적 효과 설명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261735"/>
            <a:ext cx="737116" cy="8845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52005" y="640913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필요성 강조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1752005" y="6727865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문화 반응적 교수법의 효과를 검증하기 위한 실증적 연구의 중요성 강조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49987"/>
            <a:ext cx="6631424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선행연구 (Literature Review)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93790" y="1741646"/>
            <a:ext cx="7556421" cy="1419106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986552" y="193440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선행연구의 목적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86552" y="2351246"/>
            <a:ext cx="717089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주제에 관한 기존 지식과 이론을 검토하고, 연구 간극을 확인하여 본 연구의 필요성을 입증합니다.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93790" y="3353514"/>
            <a:ext cx="7556421" cy="1419106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986552" y="354627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체계적 문헌 검토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86552" y="3963114"/>
            <a:ext cx="717089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관련 연구를 체계적으로 검색, 선별, 분석하여 연구 동향과 주요 발견을 종합적으로 파악합니다.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93790" y="4965383"/>
            <a:ext cx="7556421" cy="1110734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986552" y="515814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비판적 분석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86552" y="5574983"/>
            <a:ext cx="717089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기존 연구의 강점과 한계점을 비판적으로 분석하여 본 연구의 차별점을 명확히 합니다.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93790" y="6268879"/>
            <a:ext cx="7556421" cy="1110734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sp>
        <p:nvSpPr>
          <p:cNvPr id="14" name="Text 11"/>
          <p:cNvSpPr/>
          <p:nvPr/>
        </p:nvSpPr>
        <p:spPr>
          <a:xfrm>
            <a:off x="986552" y="646164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이론적 틀 구축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86552" y="6878479"/>
            <a:ext cx="717089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선행연구를 바탕으로 본 연구의 이론적 틀을 구축하고 연구 질문과의 연계성을 설명합니다.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1181"/>
            <a:ext cx="89968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선행연구 부분에서 자주 발견되는 실수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9358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3036094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단순 나열식 서술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56187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선행연구를 단순히 나열하기만 하고 비판적 분석이나 종합이 부족한 경우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299358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963" y="3036094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3008" y="3071455"/>
            <a:ext cx="31116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주제와의 연결성 부족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73008" y="356187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선행연구와 본 연구의 주제 간 연결성을 명확히 설명하지 않는 경우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77995" y="299358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2" name="Text 8"/>
          <p:cNvSpPr/>
          <p:nvPr/>
        </p:nvSpPr>
        <p:spPr>
          <a:xfrm>
            <a:off x="10415111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최신 연구 부재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415111" y="3561874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오래된 연구만 인용하고 최근 5년 이내의 최신 연구를 포함하지 않는 경우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93790" y="510420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5146715"/>
            <a:ext cx="340162" cy="4252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30906" y="5182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편향된 문헌 선택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530906" y="567249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자신의 주장을 지지하는 연구만 선택적으로 인용하고 반대 견해를 무시하는 경우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57003" y="510420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2074" y="5146715"/>
            <a:ext cx="340162" cy="4252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94119" y="5182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간극 미제시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8194119" y="567249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선행연구 검토 후 연구 간극(research gap)을 명확히 제시하지 않는 경우</a:t>
            </a:r>
            <a:endParaRPr lang="en-US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9108"/>
            <a:ext cx="283047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반두라-자기효능감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59180"/>
            <a:ext cx="4741069" cy="347841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792147"/>
            <a:ext cx="2448401" cy="28310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60933" y="4777978"/>
            <a:ext cx="1512689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반두라의 자기효능감 이론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460933" y="5068014"/>
            <a:ext cx="6567487" cy="3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Albert Bandura의 자기효능감(self-efficacy) 이론은 개인이 특정 과제를 성공적으로 수행할 수 있다는 자신의 능력에 대한 믿음을 의미합니다.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7460933" y="5532001"/>
            <a:ext cx="6567487" cy="181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자기효능감의 네 가지 주요 원천: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460933" y="5814893"/>
            <a:ext cx="6567487" cy="181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성공 경험(Mastery Experiences)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460933" y="6035516"/>
            <a:ext cx="6567487" cy="181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대리 경험(Vicarious Experiences)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460933" y="6256139"/>
            <a:ext cx="6567487" cy="181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언어적 설득(Verbal Persuasion)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460933" y="6476762"/>
            <a:ext cx="6567487" cy="181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4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생리적, 정서적 상태(Physiological and Emotional States)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60933" y="6759654"/>
            <a:ext cx="6567487" cy="181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교육 연구에서 자기효능감은 교사와 학생의 성취와 동기에 중요한 영향을 미치는 요인으로 연구되고 있습니다.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03446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4450"/>
              </a:lnSpc>
              <a:buNone/>
              <a:defRPr/>
            </a:pPr>
            <a:r>
              <a:rPr lang="en-US" sz="35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용어정리: Theoretical Framework</a:t>
            </a:r>
          </a:p>
          <a:p>
            <a:pPr marL="0" indent="0" algn="l">
              <a:lnSpc>
                <a:spcPts val="4450"/>
              </a:lnSpc>
              <a:buNone/>
              <a:defRPr/>
            </a:pPr>
            <a:r>
              <a:rPr lang="en-US" sz="35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이론적배경</a:t>
            </a:r>
            <a:r>
              <a:rPr lang="en-US" altLang="ko-KR" sz="35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/</a:t>
            </a:r>
            <a:r>
              <a:rPr lang="en-US" sz="35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이론적틀</a:t>
            </a:r>
          </a:p>
        </p:txBody>
      </p:sp>
      <p:sp>
        <p:nvSpPr>
          <p:cNvPr id="4" name="Shape 1"/>
          <p:cNvSpPr/>
          <p:nvPr/>
        </p:nvSpPr>
        <p:spPr>
          <a:xfrm>
            <a:off x="6280190" y="2309574"/>
            <a:ext cx="7556421" cy="1045488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5" name="Text 2"/>
          <p:cNvSpPr/>
          <p:nvPr/>
        </p:nvSpPr>
        <p:spPr>
          <a:xfrm>
            <a:off x="6461641" y="249102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이론적 틀의 정의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6461641" y="2883337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4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연구의 기반이 되는 이론적 관점이나 모델로, 연구 문제를 이해하고 해석하는 렌즈 역할을 합니다.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6280190" y="3536513"/>
            <a:ext cx="7556421" cy="1045488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8" name="Text 5"/>
          <p:cNvSpPr/>
          <p:nvPr/>
        </p:nvSpPr>
        <p:spPr>
          <a:xfrm>
            <a:off x="6461641" y="371796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이론적 틀의 역할</a:t>
            </a:r>
            <a:endParaRPr lang="en-US" sz="1750"/>
          </a:p>
        </p:txBody>
      </p:sp>
      <p:sp>
        <p:nvSpPr>
          <p:cNvPr id="9" name="Text 6"/>
          <p:cNvSpPr/>
          <p:nvPr/>
        </p:nvSpPr>
        <p:spPr>
          <a:xfrm>
            <a:off x="6461641" y="4110276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4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 설계, 데이터 수집 및 분석, 결과 해석에 지침을 제공하고 연구의 학문적 맥락을 확립합니다.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6280190" y="4763453"/>
            <a:ext cx="7556421" cy="133576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1" name="Text 8"/>
          <p:cNvSpPr/>
          <p:nvPr/>
        </p:nvSpPr>
        <p:spPr>
          <a:xfrm>
            <a:off x="6461641" y="494490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이론적 틀 작성 방법</a:t>
            </a:r>
            <a:endParaRPr lang="en-US" sz="1750"/>
          </a:p>
        </p:txBody>
      </p:sp>
      <p:sp>
        <p:nvSpPr>
          <p:cNvPr id="12" name="Text 9"/>
          <p:cNvSpPr/>
          <p:nvPr/>
        </p:nvSpPr>
        <p:spPr>
          <a:xfrm>
            <a:off x="6461641" y="5337215"/>
            <a:ext cx="7193518" cy="580549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4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 주제와 관련된 주요 이론을 검토하고, 본 연구에 적용할 특정 이론이나 모델을 선택하여 그 적합성을 설명합니다.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6280190" y="6280666"/>
            <a:ext cx="7556421" cy="1045488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4" name="Text 11"/>
          <p:cNvSpPr/>
          <p:nvPr/>
        </p:nvSpPr>
        <p:spPr>
          <a:xfrm>
            <a:off x="6461641" y="646211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이론적 틀 예시</a:t>
            </a:r>
            <a:endParaRPr lang="en-US" sz="1750"/>
          </a:p>
        </p:txBody>
      </p:sp>
      <p:sp>
        <p:nvSpPr>
          <p:cNvPr id="15" name="Text 12"/>
          <p:cNvSpPr/>
          <p:nvPr/>
        </p:nvSpPr>
        <p:spPr>
          <a:xfrm>
            <a:off x="6461641" y="6854428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4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교육 연구에서는 구성주의 학습 이론, 사회문화 이론, 자기효능감 이론 등이 자주 활용됩니다.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713" y="702588"/>
            <a:ext cx="8913138" cy="436721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3400"/>
              </a:lnSpc>
              <a:buNone/>
              <a:defRPr/>
            </a:pPr>
            <a:r>
              <a:rPr lang="en-US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용어정리: Conceptual Framework</a:t>
            </a:r>
            <a:r>
              <a:rPr lang="en-US" altLang="ko-KR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 </a:t>
            </a:r>
            <a:r>
              <a:rPr lang="en-US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개념적틀</a:t>
            </a:r>
            <a:r>
              <a:rPr lang="en-US" altLang="ko-KR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/</a:t>
            </a:r>
            <a:r>
              <a:rPr lang="en-US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구조화</a:t>
            </a:r>
            <a:r>
              <a:rPr lang="en-US" altLang="ko-KR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/</a:t>
            </a:r>
            <a:r>
              <a:rPr lang="en-US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도식화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52713" y="1418868"/>
            <a:ext cx="6256020" cy="3937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2713" y="5652849"/>
            <a:ext cx="1747480" cy="21848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3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개념적 틀의 정의</a:t>
            </a:r>
            <a:endParaRPr lang="en-US" sz="1350"/>
          </a:p>
        </p:txBody>
      </p:sp>
      <p:sp>
        <p:nvSpPr>
          <p:cNvPr id="5" name="Text 2"/>
          <p:cNvSpPr/>
          <p:nvPr/>
        </p:nvSpPr>
        <p:spPr>
          <a:xfrm>
            <a:off x="752713" y="6011108"/>
            <a:ext cx="6391989" cy="22359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750"/>
              </a:lnSpc>
              <a:buNone/>
              <a:defRPr/>
            </a:pPr>
            <a:r>
              <a:rPr lang="en-US" sz="11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연구에서 탐구하고자 하는 주요 개념들과 그 관계를 시각적으로 또는 서술적으로 표현한 구조입니다.</a:t>
            </a:r>
            <a:endParaRPr lang="en-US" sz="1100"/>
          </a:p>
        </p:txBody>
      </p:sp>
      <p:sp>
        <p:nvSpPr>
          <p:cNvPr id="6" name="Text 3"/>
          <p:cNvSpPr/>
          <p:nvPr/>
        </p:nvSpPr>
        <p:spPr>
          <a:xfrm>
            <a:off x="752713" y="6360438"/>
            <a:ext cx="6391989" cy="22359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750"/>
              </a:lnSpc>
              <a:buNone/>
              <a:defRPr/>
            </a:pPr>
            <a:r>
              <a:rPr lang="en-US" sz="11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이론적 틀보다 더 구체적이고 연구 특정적이며, 여러 이론이나 개념을 통합할 수 있습니다.</a:t>
            </a:r>
            <a:endParaRPr lang="en-US" sz="1100"/>
          </a:p>
        </p:txBody>
      </p:sp>
      <p:sp>
        <p:nvSpPr>
          <p:cNvPr id="7" name="Text 4"/>
          <p:cNvSpPr/>
          <p:nvPr/>
        </p:nvSpPr>
        <p:spPr>
          <a:xfrm>
            <a:off x="7493318" y="5652849"/>
            <a:ext cx="1747480" cy="21848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3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개념적 틀의 구성 요소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7493318" y="6011108"/>
            <a:ext cx="6391989" cy="22359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주요 변수 또는 개념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7493318" y="6283523"/>
            <a:ext cx="6391989" cy="22359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변수 간의 관계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7493318" y="6555938"/>
            <a:ext cx="6391989" cy="22359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 가설 또는 예상되는 결과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7493318" y="6828353"/>
            <a:ext cx="6391989" cy="22359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연구의 경계와 제한점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7493318" y="7177683"/>
            <a:ext cx="6391989" cy="22359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750"/>
              </a:lnSpc>
              <a:buNone/>
              <a:defRPr/>
            </a:pPr>
            <a:r>
              <a:rPr lang="en-US" sz="11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개념적 틀은 종종 다이어그램, 흐름도, 또는 모델 형태로 시각화되어 연구의 전체적인 구조를 명확히 보여줍니다.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3199"/>
            <a:ext cx="92621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연구방법론(Research Method) 작성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5607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1303973" y="19956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설계 설명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03973" y="2486025"/>
            <a:ext cx="125326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양적, 질적, 혼합 방법 등 연구 설계 유형과 그 선택 이유를 명확히 설명합니다.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133951" y="3075742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1644134" y="3075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참여자 및 표본 설명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4134" y="3566160"/>
            <a:ext cx="121924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참여자의 특성, 표본 크기, 표본 추출 방법을 상세히 기술합니다.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474232" y="4155877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1984415" y="4155877"/>
            <a:ext cx="29323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데이터 수집 도구 및 절차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84415" y="4646295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설문지, 인터뷰 프로토콜, 관찰 도구 등의 데이터 수집 도구와 절차를 설명합니다.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814513" y="5236012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2324695" y="5236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데이터 분석 방법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24695" y="5726430"/>
            <a:ext cx="115119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통계 분석, 질적 코딩, 주제 분석 등 데이터 분석에 사용된 방법을 자세히 기술합니다.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474232" y="6316147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1984415" y="6316147"/>
            <a:ext cx="31930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신뢰성 및 타당성 확보 방법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84415" y="6806565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연구의 신뢰성과 타당성을 확보하기 위한 전략을 설명합니다.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86983"/>
            <a:ext cx="77908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연구방법론에서 가장 중요한 부분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5359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4578429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4613791"/>
            <a:ext cx="34055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재현 가능성(Replicability)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5104209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다른 연구자가 동일한 방법으로 연구를 재현할 수 있도록 충분히 상세한 정보를 제공해야 합니다.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57003" y="45359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074" y="4578429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94119" y="4613791"/>
            <a:ext cx="29654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투명성(Transparency)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194119" y="5104209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과정의 모든 단계를 투명하게 공개하여 연구의 신뢰성을 높여야 합니다.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62836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3" name="Text 8"/>
          <p:cNvSpPr/>
          <p:nvPr/>
        </p:nvSpPr>
        <p:spPr>
          <a:xfrm>
            <a:off x="1530906" y="63615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질문과의 일치성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30906" y="685192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선택한 연구 방법이 연구 질문에 답하기에 적합한지 명확히 설명해야 합니다.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57003" y="62836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6" name="Text 11"/>
          <p:cNvSpPr/>
          <p:nvPr/>
        </p:nvSpPr>
        <p:spPr>
          <a:xfrm>
            <a:off x="8194119" y="63615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윤리 준수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8194119" y="685192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참여자 동의, 개인정보 보호, IRB 승인 등 연구 윤리 준수 사항을 명시해야 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4627"/>
            <a:ext cx="6699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 Methodology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503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양적 연구 방법론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315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실험 연구(Experimental Research)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737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상관 연구(Correlational Research)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159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설문 조사(Survey Research)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581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종단 연구(Longitudinal Research)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52509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양적 연구는 수치 데이터를 수집하고 통계적 방법으로 분석하여 가설을 검증합니다.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0503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질적 연구 방법론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36315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사례 연구(Case Study)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0737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현상학적 연구(Phenomenological Research)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5159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근거 이론(Grounded Theory)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9581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민족지학(Ethnography)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52509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질적 연구는 텍스트, 이미지, 관찰 등의 비수치 데이터를 수집하고 해석적 방법으로 분석하여 현상을 심층적으로 이해합니다.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0338"/>
            <a:ext cx="84661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연구결과 작성: Results/Findings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12745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객관적 사실 제시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결과를 객관적으로 제시하고, 개인적 해석이나 의견을 배제합니다.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912745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질문 중심 구성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질문이나 가설에 따라 결과를 체계적으로 구성하여 제시합니다.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912745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시각적 자료 활용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표, 그래프, 차트 등의 시각적 자료를 활용하여 결과를 명확하게 전달합니다.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09411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통계적 유의성 명시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5526643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양적 연구의 경우, 통계적 유의성과 효과 크기를 명확히 보고합니다.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667" y="4809411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7655481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주요 패턴 및 주제 강조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55481" y="5526643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질적 연구의 경우, 데이터에서 도출된 주요 패턴, 주제, 범주를 강조합니다.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8782"/>
            <a:ext cx="7425214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연구결과 작성: 구조화/체계화된 설명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16762"/>
            <a:ext cx="963930" cy="1156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46922" y="190952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논리적 구조화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046922" y="2326362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질문이나 가설에 따라 결과를 논리적으로 구조화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873573"/>
            <a:ext cx="963930" cy="11568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46922" y="306633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데이터 제시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2046922" y="3483173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표, 그래프, 인용문 등을 활용한 데이터 명확히 제시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30385"/>
            <a:ext cx="963930" cy="11568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46922" y="422314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결과 설명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2046922" y="4639985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데이터가 보여주는 패턴, 경향, 관계 등을 객관적으로 설명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87196"/>
            <a:ext cx="963930" cy="11568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46922" y="537995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주요 발견 강조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2046922" y="5796796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질문과 관련된 중요한 발견 사항 강조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344007"/>
            <a:ext cx="963930" cy="11568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46922" y="653676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논의 섹션 연결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2046922" y="6953607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결과에서 논의 섹션으로 자연스럽게 연결되는 전환 제공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논의/결론 작성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주요 결과 요약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33418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연구에서 도출된 주요 결과를 간략히 요약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492" y="3336369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5737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결과 해석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064193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결과의 의미와 중요성에 대한 해석 제공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3010" y="3071693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4087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선행연구와 비교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051256" y="4578191"/>
            <a:ext cx="3785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결과를 선행연구와 비교하여 일치점과 차이점 논의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9423" y="475845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37790" y="59647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함의 및 적용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937790" y="6455212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결과의 이론적, 실용적 함의 제시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370564" y="6065520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650" dirty="0"/>
          </a:p>
        </p:txBody>
      </p:sp>
      <p:sp>
        <p:nvSpPr>
          <p:cNvPr id="19" name="Text 10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한계 및 제언</a:t>
            </a:r>
            <a:endParaRPr lang="en-US" sz="2200" dirty="0"/>
          </a:p>
        </p:txBody>
      </p:sp>
      <p:sp>
        <p:nvSpPr>
          <p:cNvPr id="20" name="Text 11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연구의 한계점과 후속 연구를 위한 제언 제시</a:t>
            </a:r>
            <a:endParaRPr lang="en-US" sz="17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710595" y="5186720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213" y="617934"/>
            <a:ext cx="5974080" cy="596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Discussion (논의) 작성 예시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272213" y="1500664"/>
            <a:ext cx="429339" cy="429339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769" y="1536442"/>
            <a:ext cx="286226" cy="3577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92409" y="1566267"/>
            <a:ext cx="2385655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결과 요약 및 해석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892409" y="1978938"/>
            <a:ext cx="6952178" cy="91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"본 연구 결과, 협동학습 방식이 전통적 강의식 수업보다 학생들의 비판적 사고력 향상에 더 효과적인 것으로 나타났다. 이는 학생들 간의 상호작용이 다양한 관점을 접하고 자신의 생각을 재구성하는 기회를 제공했기 때문으로 해석된다."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272213" y="3276481"/>
            <a:ext cx="429339" cy="429339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9" name="Text 5"/>
          <p:cNvSpPr/>
          <p:nvPr/>
        </p:nvSpPr>
        <p:spPr>
          <a:xfrm>
            <a:off x="6892409" y="3342084"/>
            <a:ext cx="2385655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선행연구와의 연계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892409" y="3754755"/>
            <a:ext cx="6952178" cy="91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"이러한 결과는 협동학습의 효과성을 입증한 Johnson과 Johnson(2009)의 연구 결과와 일치하며, 비판적 사고력 발달에 있어 또래 상호작용의 중요성을 강조한 Vygotsky의 사회문화 이론을 지지한다."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72213" y="5052298"/>
            <a:ext cx="429339" cy="429339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2" name="Text 8"/>
          <p:cNvSpPr/>
          <p:nvPr/>
        </p:nvSpPr>
        <p:spPr>
          <a:xfrm>
            <a:off x="6892409" y="5117902"/>
            <a:ext cx="2385655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연구의 함의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6892409" y="5530572"/>
            <a:ext cx="6952178" cy="61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"본 연구 결과는 교실 현장에서 협동학습을 적극적으로 도입할 필요성을 시사하며, 교사 연수 프로그램에 협동학습 전략을 포함시키는 것이 효과적일 수 있음을 제안한다."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272213" y="6522839"/>
            <a:ext cx="429339" cy="429339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5" name="Text 11"/>
          <p:cNvSpPr/>
          <p:nvPr/>
        </p:nvSpPr>
        <p:spPr>
          <a:xfrm>
            <a:off x="6892409" y="6588443"/>
            <a:ext cx="2385655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한계점 및 제언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6892409" y="7001113"/>
            <a:ext cx="6952178" cy="61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"본 연구는 중학교 2학년 학생들만을 대상으로 했다는 한계가 있으므로, 후속 연구에서는 다양한 학년과 학교 환경에서의 협동학습 효과를 검증할 필요가 있다."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1512"/>
            <a:ext cx="563546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논의/결론이 어려운 부분인 이유는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485186"/>
            <a:ext cx="3066336" cy="33979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5061704"/>
            <a:ext cx="4241840" cy="1168837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952500" y="522041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결과 해석의 어려움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52500" y="5563672"/>
            <a:ext cx="392441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객관적 결과를 바탕으로 의미 있는 해석을 도출하는 과정이 복잡하고 주관적 판단이 개입될 수 있습니다.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194340" y="5061704"/>
            <a:ext cx="4241840" cy="1168837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5353050" y="522041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선행연구와의 연계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353050" y="5563672"/>
            <a:ext cx="392441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자신의 연구 결과를 기존 문헌과 연결하여 일관성 있게 설명하는 것이 쉽지 않습니다.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594890" y="5061704"/>
            <a:ext cx="4241840" cy="1168837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9753600" y="522041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이론적 함의 도출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753600" y="5563672"/>
            <a:ext cx="392441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결과가 기존 이론에 어떤 기여를 하는지 명확히 설명하는 것이 어렵습니다.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3790" y="6389251"/>
            <a:ext cx="6442115" cy="1168837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4" name="Text 11"/>
          <p:cNvSpPr/>
          <p:nvPr/>
        </p:nvSpPr>
        <p:spPr>
          <a:xfrm>
            <a:off x="952500" y="654796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실용적 적용 제시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52500" y="6891218"/>
            <a:ext cx="612469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결과의 실제 적용 방안을 구체적이고 현실적으로 제시하는 것이 도전적입니다.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94615" y="6389251"/>
            <a:ext cx="6442115" cy="1168837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7" name="Text 14"/>
          <p:cNvSpPr/>
          <p:nvPr/>
        </p:nvSpPr>
        <p:spPr>
          <a:xfrm>
            <a:off x="7553325" y="654796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한계점 인정과 균형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553325" y="6891218"/>
            <a:ext cx="6124694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연구의 한계를 솔직히 인정하면서도 연구의 가치를 훼손하지 않는 균형을 유지하기 어렵습니다.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83657"/>
            <a:ext cx="630912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참고문헌 References 작성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80190" y="1680210"/>
            <a:ext cx="484823" cy="4848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33" y="1720632"/>
            <a:ext cx="323136" cy="4039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80396" y="175426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인용 스타일 준수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980396" y="2220039"/>
            <a:ext cx="68562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투고하려는 학술지의 인용 스타일(APA, MLA, Chicago 등)을 정확히 확인하고 준수해야 합니다.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6280190" y="3340537"/>
            <a:ext cx="484823" cy="4848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9" name="Text 5"/>
          <p:cNvSpPr/>
          <p:nvPr/>
        </p:nvSpPr>
        <p:spPr>
          <a:xfrm>
            <a:off x="6980396" y="341459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일관성 유지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980396" y="3880366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모든 참고문헌 항목이 동일한 형식과 스타일로 작성되어야 합니다.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280190" y="4656058"/>
            <a:ext cx="484823" cy="4848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2" name="Text 8"/>
          <p:cNvSpPr/>
          <p:nvPr/>
        </p:nvSpPr>
        <p:spPr>
          <a:xfrm>
            <a:off x="6980396" y="473011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완전성 확보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980396" y="5195888"/>
            <a:ext cx="68562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본문에서 인용된 모든 자료는 참고문헌 목록에 포함되어야 하며, 필요한 모든 정보(저자, 연도, 제목, 출처 등)를 제공해야 합니다.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6280190" y="6316385"/>
            <a:ext cx="484823" cy="4848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033" y="6356806"/>
            <a:ext cx="323136" cy="40397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80396" y="6390442"/>
            <a:ext cx="270843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참고문헌 관리 도구 활용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6980396" y="6856214"/>
            <a:ext cx="68562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EndNote, Mendeley, Zotero 등의 참고문헌 관리 도구를 활용하면 인용과 참고문헌 작성을 효율적으로 할 수 있습니다.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317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ABSTRACT - 썸네일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880711"/>
            <a:ext cx="7556421" cy="2894648"/>
          </a:xfrm>
          <a:prstGeom prst="roundRect">
            <a:avLst>
              <a:gd name="adj" fmla="val 1175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107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초록의 중요성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2597944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 in the writing of an abstract. Consider your abstract as a book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cover.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07004" y="3459837"/>
            <a:ext cx="71027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abstract is the cover and face of your thesis. It would help if you crafted an abstract that is unique, attractive, succinct, and interesting.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002173"/>
            <a:ext cx="7556421" cy="2395657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</p:sp>
      <p:sp>
        <p:nvSpPr>
          <p:cNvPr id="9" name="Text 6"/>
          <p:cNvSpPr/>
          <p:nvPr/>
        </p:nvSpPr>
        <p:spPr>
          <a:xfrm>
            <a:off x="6507004" y="52289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초록의 구성 요소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07004" y="5719405"/>
            <a:ext cx="710279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Typically, the abstract contains a brief summary of the problem and the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purpose of the research, an outline of the methodology, a few key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findings/results, and the principal conclusion or implication.</a:t>
            </a:r>
            <a:endParaRPr lang="en-US" sz="1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174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6636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33442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목적 전달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834646"/>
            <a:ext cx="694990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introduction logically conveys the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purpose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describes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problem's background, illustrates the problem through multiple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perspectives,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outlines a summary of prior research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its attempts, provides counterarguments, and states the research direction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(purpose,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questions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hypotheses).</a:t>
            </a:r>
            <a:endParaRPr lang="en-US" sz="1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56059"/>
            <a:ext cx="659189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LITERATURE REVIEW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80190" y="1852613"/>
            <a:ext cx="484823" cy="4848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33" y="1893034"/>
            <a:ext cx="323136" cy="4039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80396" y="192666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선행연구 접근법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980396" y="2392442"/>
            <a:ext cx="68562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did previous research address the problem, and did it approach the problem similarly or differently?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6280190" y="3512939"/>
            <a:ext cx="484823" cy="4848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033" y="3553361"/>
            <a:ext cx="323136" cy="4039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0396" y="358699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프레임워크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6980396" y="4052768"/>
            <a:ext cx="68562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did previous studies frame their research, and what did or did not work?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6280190" y="5173266"/>
            <a:ext cx="484823" cy="4848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033" y="5213687"/>
            <a:ext cx="323136" cy="4039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80396" y="524732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연구의 차별성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6980396" y="5713095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is your research different, or why is your research important?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6280190" y="6488787"/>
            <a:ext cx="484823" cy="4848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7" name="Text 11"/>
          <p:cNvSpPr/>
          <p:nvPr/>
        </p:nvSpPr>
        <p:spPr>
          <a:xfrm>
            <a:off x="6980396" y="656284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간극 발견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6980396" y="7028617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Finding the research gap</a:t>
            </a:r>
            <a:endParaRPr lang="en-US" sz="16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7015"/>
            <a:ext cx="85205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Framing Research Questions: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127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질문 구성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9391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Informed by the literature, researchers construct their research questions, ensuring they are both relevant and novel.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86695"/>
            <a:ext cx="6521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example research question could be: "What are the experiences and challenges educators encounter during remote teaching?"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1127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질문 개발 전략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69391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본인의 연구와 유사한 기존의 연구에서 사용했던 연구질문 문장에서 부터 수정을 시작하기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6237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기존 연구 질문 검토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06599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맥락에 맞게 수정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5081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구체적이고 명확한 표현 사용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9503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측정 가능한 형태로 구성</a:t>
            </a:r>
            <a:endParaRPr lang="en-US" sz="1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7062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METHODOLOGY/</a:t>
            </a:r>
          </a:p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RESEARCH DESIGN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6280190" y="292834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365260" y="2970848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30062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연구 설계 및 방법론</a:t>
            </a:r>
            <a:endParaRPr lang="en-US" sz="2200"/>
          </a:p>
        </p:txBody>
      </p:sp>
      <p:sp>
        <p:nvSpPr>
          <p:cNvPr id="7" name="Text 3"/>
          <p:cNvSpPr/>
          <p:nvPr/>
        </p:nvSpPr>
        <p:spPr>
          <a:xfrm>
            <a:off x="6119446" y="3496627"/>
            <a:ext cx="7908053" cy="145161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The methodology and research design section includes a detailed explanation of </a:t>
            </a:r>
            <a:r>
              <a:rPr lang="en-US" sz="1750" b="1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the research design, context, study participants (subjects) or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b="1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sampling methods, data collection process, and data analysis procedure.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280190" y="54018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365260" y="5444371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17306" y="54797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신뢰성과 타당성</a:t>
            </a:r>
            <a:endParaRPr lang="en-US" sz="2200"/>
          </a:p>
        </p:txBody>
      </p:sp>
      <p:sp>
        <p:nvSpPr>
          <p:cNvPr id="11" name="Text 6"/>
          <p:cNvSpPr/>
          <p:nvPr/>
        </p:nvSpPr>
        <p:spPr>
          <a:xfrm>
            <a:off x="6491236" y="5970151"/>
            <a:ext cx="7345376" cy="10887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In quantitative research, the reliability and validity processes are explained, while in qualitative research, the trustworthiness is established.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2119"/>
            <a:ext cx="12391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 DESIGN &amp; METHODOLOGY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878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방법론 선택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6901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Researchers must select methods that align with their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and questions.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Continuing the example above, semi-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interviews might be selected to garner rich, detailed data regarding educators' experiences.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9878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표본 추출 전략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5690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Sampling strategies: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135993"/>
            <a:ext cx="648826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Identifying and selecting participants/sample is pivotal, ensuring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sample is representative and pertinent. Purposive sampling,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instance, might be employed to ensure participating educators have experienced remote teaching, thereby enriching the data’s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relevance and applicability.</a:t>
            </a:r>
            <a:endParaRPr lang="en-US" sz="1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10119"/>
            <a:ext cx="63643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FINDINGS/RESULTS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859060"/>
            <a:ext cx="6408063" cy="2395657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5085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결과 제시 방식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576292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findings or results are presented in an organized manner, tailored to the specific research design and methodology you proposed in the previous section.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667" y="4859060"/>
            <a:ext cx="6408063" cy="2395657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7655481" y="5085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가독성 중시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55481" y="5576292"/>
            <a:ext cx="59544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the findings/results section, readability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the readers should be prioritized to ensure the findings are apparent to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readers rather than being overly focused on the author's perspective.</a:t>
            </a:r>
            <a:endParaRPr lang="en-US" sz="1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120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DISCUSSION/CONCLUSION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56972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2612231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2647593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결과와 선행연구 연계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507003" y="3492341"/>
            <a:ext cx="340971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Specifically, the discussion section is where you explain how your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findings or results align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 differ from and confirm or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 previous research.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10200203" y="256972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5274" y="2612231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37319" y="26475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연구의 중요성 강조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937319" y="3138011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the importance of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research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280190" y="61233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260" y="6165890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17306" y="62012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향후 연구 방향 제시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017306" y="6691670"/>
            <a:ext cx="707048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Offering future directions and implications for research and/or practice.</a:t>
            </a:r>
            <a:endParaRPr lang="en-US" sz="1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8977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Academic English Writing Templates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47499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074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템플릿의 중요성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564731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학술 영어 작성 템플릿은 논문의 각 섹션을 효과적으로 구성하는 데 도움을 주는 표준화된 표현과 구조를 제공합니다.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847499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3074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템플릿 활용 방법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3564731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템플릿은 기본 구조로 활용하되, 연구의 특성과 내용에 맞게 적절히 수정하여 사용해야 합니다.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69969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696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주요 템플릿 영역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18720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연구 영역 설정, 연구 간극 확인, 연구 목적 진술, 개념 정의, 예시 제공, 출처 인용 등 다양한 학술적 표현에 대한 템플릿이 제공됩니다.</a:t>
            </a:r>
            <a:endParaRPr lang="en-US" sz="1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4155"/>
            <a:ext cx="129866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ESTABLISHING A RESEARCH TERRITORY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899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영역 설정 예시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71054"/>
            <a:ext cx="62447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Studies have shown that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English language learners(ELLs) in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elementary and secondary schools are frustrated because the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school system is failing to support them in achieving their goals of acquiring English and obtaining postsecondary education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(Menken, 2008; Olsen, 1997; Suarez-Orozco, Suarez-Orozco, &amp; Todorova, 2008; Valdés, 2001).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0899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영역 설정 예시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67105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Much recent literature on teacher education highlights the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importance of identity in teacher development.</a:t>
            </a:r>
            <a:endParaRPr lang="en-US" sz="1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115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IDENTIFYING THE RESEARCH/</a:t>
            </a:r>
          </a:p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KNOWLEDGE GAP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6256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연구 간극 확인 예시 1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93790" y="4206835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Attention is paid to core practices across subjects and grade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levels, including, for example, leading a discussion or eliciting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student thinking (Ball &amp; Forzani, 2009). </a:t>
            </a:r>
            <a:r>
              <a:rPr lang="en-US" sz="1750" b="1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However, developing TE pedagogies for core practices in work with linguistically diverse learners has been less fully realized.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6256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연구 간극 확인 예시 2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7599521" y="4206835"/>
            <a:ext cx="6458123" cy="217741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Although extensive research has been carried out on the teacher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knowledge base in general (Guerrero, 2005) and ESL teacher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cognition (Franco-</a:t>
            </a:r>
            <a:r>
              <a:rPr lang="en-US" sz="1750" dirty="0" err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Fuenmayor</a:t>
            </a: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750" dirty="0" err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Padrón</a:t>
            </a: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, &amp; Waxman, 2015), there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has been no detailed investigations of what mainstream teachers already know and what they need to learn to support ELLs in their classrooms.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116724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STATING YOUR RESEARCH PURPOSE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목적 진술 예시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636063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article presents a teacher preparation model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developed over the past 10 years of research in content area classrooms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English language learners (ELLs) and based on recent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scholarship on the language demands of schooling.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목적 진술 예시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033957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purpose of this paper is to provide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 overview of the issues related to teacher identity stemming from recent literature and to suggest the implications for effective teacher education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embedded in the discussion of these issues.</a:t>
            </a:r>
            <a:endParaRPr lang="en-US" sz="1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5607"/>
            <a:ext cx="116724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STATING YOUR RESEARCH PURPOSE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목적 진술 예시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52505"/>
            <a:ext cx="633049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the present study, we focus on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core practice of reviewing and carefully assessing student work, with attention to viewing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that work as language and meaning in process.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연구 목적 진술 예시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852505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aim to add to this body of literature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concerning the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education and experiences of prospective Latino/a teachers and to see how their concerns, strengths, hopes, and struggles are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negotiated in their program of teacher education, whom they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themselves teaching, and how they imagine working with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children and youth.</a:t>
            </a:r>
            <a:endParaRPr lang="en-US" sz="1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126690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DEFINING CONCEPTS/TERMS/OBJECTS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개념 정의 예시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English language learners (ELLs)—that is, students who speak a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language other than English—now account for nearly 10% of the U.S. public school student population (Kena et al., 2016).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개념 정의 예시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21540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Cochran-Smith and Lytle (1993) define teacher research as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"systematic, intentional inquiry by teachers" (p. 5).</a:t>
            </a:r>
            <a:endParaRPr lang="en-US" sz="1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4155"/>
            <a:ext cx="74127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PROVIDING EXAMPLES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899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예시 제공 방법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950" y="3671054"/>
            <a:ext cx="642555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Grammar accuracy is the primary criterion by which they assessed a person's command of language.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an example,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Emily’s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comment was that whatever "roughness" is present in an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international pal's writing is labeled as nonstandard grammar.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0899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예시 제공 방법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671054"/>
            <a:ext cx="656865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disjunction between research and practice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stems from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practical factors (e.g., too few bilingual teachers), ideological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factors (e.g., opposition to languages other than English in schools), and federal policy.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instance,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No Child Left Behind Act of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2001 (NCLB, 2003 ) required schools to monitor the academic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of ELLs through state standardized tests.</a:t>
            </a:r>
            <a:endParaRPr lang="en-US" sz="1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6428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REFERENCING SOURCES/</a:t>
            </a:r>
          </a:p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REPORTING OTHERS' WORK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6280190" y="343078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365260" y="3473291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35086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출처 인용 예시 1</a:t>
            </a:r>
            <a:endParaRPr lang="en-US" sz="2200"/>
          </a:p>
        </p:txBody>
      </p:sp>
      <p:sp>
        <p:nvSpPr>
          <p:cNvPr id="7" name="Text 3"/>
          <p:cNvSpPr/>
          <p:nvPr/>
        </p:nvSpPr>
        <p:spPr>
          <a:xfrm>
            <a:off x="6099350" y="3999071"/>
            <a:ext cx="7737262" cy="3266123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b="1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Studies have found that </a:t>
            </a:r>
            <a:r>
              <a:rPr lang="en-US" sz="1750" b="1" dirty="0" err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translanguaging</a:t>
            </a: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is a social practice that goes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beyond classroom interactions and that it includes all </a:t>
            </a:r>
            <a:r>
              <a:rPr lang="en-US" sz="1750" dirty="0" err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metadiscursive</a:t>
            </a: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regimes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that are performed by all multilingual speakers in their everyday way of making sense of the world around them (García, 2009; Wei, 2011). </a:t>
            </a:r>
            <a:r>
              <a:rPr lang="en-US" sz="1750" b="1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To explain this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b="1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phenomenon,</a:t>
            </a: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García (2009) uses a metaphor of an all-terrain car that has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wheels that extend, contract, flex, and stretch while making movements that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are irregular on 'an uneven ground' (García, 2009, p.45).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8283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REFERENCING SOURCES/</a:t>
            </a:r>
          </a:p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REPORTING OTHERS' WORK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6280190" y="324933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365260" y="3291840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33272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출처 인용 예시 2</a:t>
            </a:r>
            <a:endParaRPr lang="en-US" sz="2200"/>
          </a:p>
        </p:txBody>
      </p:sp>
      <p:sp>
        <p:nvSpPr>
          <p:cNvPr id="7" name="Text 3"/>
          <p:cNvSpPr/>
          <p:nvPr/>
        </p:nvSpPr>
        <p:spPr>
          <a:xfrm>
            <a:off x="6069204" y="3817620"/>
            <a:ext cx="7767407" cy="362902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b="1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In education, King (2004) draws on Wynter's scholarship to propose</a:t>
            </a: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a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"deciphering" form of culture-centered knowledge that moves beyond relations of domination, masked by calls for unity, toward conditions of autonomy where "differences are not suppressed or ranked" (p. 357). She defines culture-centered knowledge as the "thought, perception, and belief structures" that contribute to generating "the coherence of a referent social framework" required "to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secure the loyalty, motivated participation, and relevant consciousness of its </a:t>
            </a:r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dirty="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subjects (adherents).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04731"/>
            <a:ext cx="5561290" cy="637937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5000"/>
              </a:lnSpc>
              <a:buNone/>
              <a:defRPr/>
            </a:pPr>
            <a:r>
              <a:rPr lang="en-US" sz="40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SSCI: Web of Science</a:t>
            </a:r>
            <a:endParaRPr lang="en-US" sz="4000"/>
          </a:p>
        </p:txBody>
      </p:sp>
      <p:sp>
        <p:nvSpPr>
          <p:cNvPr id="4" name="Shape 1"/>
          <p:cNvSpPr/>
          <p:nvPr/>
        </p:nvSpPr>
        <p:spPr>
          <a:xfrm>
            <a:off x="793790" y="1648777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70287" y="1686997"/>
            <a:ext cx="306110" cy="3826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57087" y="171890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SSCI 학술지 검색</a:t>
            </a:r>
            <a:endParaRPr lang="en-US" sz="2000"/>
          </a:p>
        </p:txBody>
      </p:sp>
      <p:sp>
        <p:nvSpPr>
          <p:cNvPr id="7" name="Text 3"/>
          <p:cNvSpPr/>
          <p:nvPr/>
        </p:nvSpPr>
        <p:spPr>
          <a:xfrm>
            <a:off x="1457087" y="2160151"/>
            <a:ext cx="6893123" cy="65341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550"/>
              </a:lnSpc>
              <a:buNone/>
              <a:defRPr/>
            </a:pPr>
            <a:r>
              <a:rPr lang="en-US" sz="1600" u="sng">
                <a:solidFill>
                  <a:srgbClr val="403CCF"/>
                </a:solidFill>
                <a:latin typeface="Open Sans"/>
                <a:ea typeface="Open Sans"/>
                <a:cs typeface="Open Sans"/>
              </a:rPr>
              <a:t>https://mjl.clarivate.com/search-results</a:t>
            </a: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에서 SSCI 등재 학술지를 검색할 수 있습니다.</a:t>
            </a:r>
            <a:endParaRPr lang="en-US" sz="1600"/>
          </a:p>
        </p:txBody>
      </p:sp>
      <p:sp>
        <p:nvSpPr>
          <p:cNvPr id="8" name="Shape 4"/>
          <p:cNvSpPr/>
          <p:nvPr/>
        </p:nvSpPr>
        <p:spPr>
          <a:xfrm>
            <a:off x="793790" y="3221831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70287" y="3260050"/>
            <a:ext cx="306110" cy="3826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57087" y="3291959"/>
            <a:ext cx="6893123" cy="637699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Journal of Multilingual and Multicultural Development</a:t>
            </a:r>
            <a:endParaRPr lang="en-US" sz="2000"/>
          </a:p>
        </p:txBody>
      </p:sp>
      <p:sp>
        <p:nvSpPr>
          <p:cNvPr id="11" name="Text 6"/>
          <p:cNvSpPr/>
          <p:nvPr/>
        </p:nvSpPr>
        <p:spPr>
          <a:xfrm>
            <a:off x="1457087" y="4052054"/>
            <a:ext cx="6893123" cy="32670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다언어 및 다문화 발전 관련 연구를 다루는 SSCI 등재 학술지입니다.</a:t>
            </a:r>
            <a:endParaRPr lang="en-US" sz="1600"/>
          </a:p>
        </p:txBody>
      </p:sp>
      <p:sp>
        <p:nvSpPr>
          <p:cNvPr id="12" name="Shape 7"/>
          <p:cNvSpPr/>
          <p:nvPr/>
        </p:nvSpPr>
        <p:spPr>
          <a:xfrm>
            <a:off x="793790" y="4787027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70287" y="4825246"/>
            <a:ext cx="306110" cy="38266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57087" y="485715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영향력 지수 확인</a:t>
            </a:r>
            <a:endParaRPr lang="en-US" sz="2000"/>
          </a:p>
        </p:txBody>
      </p:sp>
      <p:sp>
        <p:nvSpPr>
          <p:cNvPr id="15" name="Text 9"/>
          <p:cNvSpPr/>
          <p:nvPr/>
        </p:nvSpPr>
        <p:spPr>
          <a:xfrm>
            <a:off x="1457087" y="5298400"/>
            <a:ext cx="6893123" cy="65341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5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학술지의 영향력 지수(Impact Factor)를 확인하여 연구 발표에 적합한 저널을 선택합니다.</a:t>
            </a:r>
            <a:endParaRPr lang="en-US" sz="1600"/>
          </a:p>
        </p:txBody>
      </p:sp>
      <p:sp>
        <p:nvSpPr>
          <p:cNvPr id="16" name="Shape 10"/>
          <p:cNvSpPr/>
          <p:nvPr/>
        </p:nvSpPr>
        <p:spPr>
          <a:xfrm>
            <a:off x="793790" y="6360081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70287" y="6398300"/>
            <a:ext cx="306110" cy="38266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57087" y="643020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학술지 범위 확인</a:t>
            </a:r>
            <a:endParaRPr lang="en-US" sz="2000"/>
          </a:p>
        </p:txBody>
      </p:sp>
      <p:sp>
        <p:nvSpPr>
          <p:cNvPr id="19" name="Text 12"/>
          <p:cNvSpPr/>
          <p:nvPr/>
        </p:nvSpPr>
        <p:spPr>
          <a:xfrm>
            <a:off x="1457087" y="6871454"/>
            <a:ext cx="6893123" cy="65341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25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 주제가 학술지의 범위(Scope)와 일치하는지 확인하여 투고 가능성을 높입니다.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405" y="602575"/>
            <a:ext cx="3535323" cy="441841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3450"/>
              </a:lnSpc>
              <a:buNone/>
              <a:defRPr/>
            </a:pPr>
            <a:r>
              <a:rPr lang="en-US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Scopus: Source</a:t>
            </a:r>
            <a:endParaRPr lang="en-US" sz="27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1405" y="1327190"/>
            <a:ext cx="5859780" cy="4483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405" y="6110645"/>
            <a:ext cx="1767602" cy="22098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3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Scopus 데이터베이스</a:t>
            </a:r>
            <a:endParaRPr lang="en-US" sz="1350"/>
          </a:p>
        </p:txBody>
      </p:sp>
      <p:sp>
        <p:nvSpPr>
          <p:cNvPr id="5" name="Text 2"/>
          <p:cNvSpPr/>
          <p:nvPr/>
        </p:nvSpPr>
        <p:spPr>
          <a:xfrm>
            <a:off x="761405" y="6472952"/>
            <a:ext cx="6381274" cy="45243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1750"/>
              </a:lnSpc>
              <a:buNone/>
              <a:defRPr/>
            </a:pPr>
            <a:r>
              <a:rPr lang="en-US" sz="11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Scopus는 Elsevier에서 제공하는 세계적인 학술 문헌 데이터베이스로, 다양한 분야의 학술지, 도서, 학회 자료 등을 포함합니다.</a:t>
            </a:r>
            <a:endParaRPr lang="en-US" sz="1100"/>
          </a:p>
        </p:txBody>
      </p:sp>
      <p:sp>
        <p:nvSpPr>
          <p:cNvPr id="6" name="Text 3"/>
          <p:cNvSpPr/>
          <p:nvPr/>
        </p:nvSpPr>
        <p:spPr>
          <a:xfrm>
            <a:off x="761405" y="7052548"/>
            <a:ext cx="6381274" cy="22621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750"/>
              </a:lnSpc>
              <a:buNone/>
              <a:defRPr/>
            </a:pPr>
            <a:r>
              <a:rPr lang="en-US" sz="11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학술지 검색 URL: </a:t>
            </a:r>
            <a:r>
              <a:rPr lang="en-US" sz="1100" u="sng">
                <a:solidFill>
                  <a:srgbClr val="403CCF"/>
                </a:solidFill>
                <a:latin typeface="Open Sans"/>
                <a:ea typeface="Open Sans"/>
                <a:cs typeface="Open Sans"/>
                <a:hlinkClick r:id="" action="ppaction://hlinkshowjump?jump=firstslide"/>
              </a:rPr>
              <a:t>https://www.scopus.com/sources.uri?zone=TopNavBar&amp;origin=sourceinfo</a:t>
            </a:r>
            <a:endParaRPr lang="en-US" sz="1100"/>
          </a:p>
        </p:txBody>
      </p:sp>
      <p:sp>
        <p:nvSpPr>
          <p:cNvPr id="7" name="Text 4"/>
          <p:cNvSpPr/>
          <p:nvPr/>
        </p:nvSpPr>
        <p:spPr>
          <a:xfrm>
            <a:off x="7495342" y="6110645"/>
            <a:ext cx="6381274" cy="4419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3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ONLINE JOURNAL OF COMMUNICATION AND MEDIA TECHNOLOGIES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7495342" y="6693932"/>
            <a:ext cx="6381274" cy="22621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750"/>
              </a:lnSpc>
              <a:buNone/>
              <a:defRPr/>
            </a:pPr>
            <a:r>
              <a:rPr lang="en-US" sz="11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커뮤니케이션 및 미디어 기술 분야의 연구를 다루는 Scopus 등재 학술지입니다.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7495342" y="7047309"/>
            <a:ext cx="6381274" cy="45243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ts val="1750"/>
              </a:lnSpc>
              <a:buNone/>
              <a:defRPr/>
            </a:pPr>
            <a:r>
              <a:rPr lang="en-US" sz="11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이 학술지는 미디어 기술, 디지털 커뮤니케이션, 온라인 교육 등의 주제를 다루며, 교육 분야의 미디어 활용 연구에 적합합니다.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695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질의응답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058132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5153144"/>
            <a:ext cx="22542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질문 시간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87579" y="5643563"/>
            <a:ext cx="22542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영어 논문 작성에 관한 질문이 있으시면 말씀해 주세요.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278" y="5058132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19067" y="5153144"/>
            <a:ext cx="225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답변 안내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919067" y="5643563"/>
            <a:ext cx="22543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구체적인 질문을 통해 더 자세한 정보를 제공해 드리겠습니다.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5058132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50674" y="5153144"/>
            <a:ext cx="225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추가 문의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8250674" y="5643563"/>
            <a:ext cx="225432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추가 문의사항은 이메일로 </a:t>
            </a:r>
            <a:r>
              <a:rPr lang="en-US" sz="175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보내주시기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바랍니다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10816828" y="5046821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E6E6E7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8491" y="5058132"/>
            <a:ext cx="566976" cy="56697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582281" y="5153144"/>
            <a:ext cx="225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참고 자료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11582281" y="5643563"/>
            <a:ext cx="22543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발표 자료는 추후 공유해 드리겠습니다.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0689"/>
            <a:ext cx="5735955" cy="602456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4700"/>
              </a:lnSpc>
              <a:buNone/>
              <a:defRPr/>
            </a:pPr>
            <a:r>
              <a:rPr lang="en-US" sz="3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리뷰어의 입장에서 논문 평가</a:t>
            </a:r>
            <a:endParaRPr lang="en-US" sz="3750"/>
          </a:p>
        </p:txBody>
      </p:sp>
      <p:sp>
        <p:nvSpPr>
          <p:cNvPr id="3" name="Shape 1"/>
          <p:cNvSpPr/>
          <p:nvPr/>
        </p:nvSpPr>
        <p:spPr>
          <a:xfrm>
            <a:off x="817959" y="1762839"/>
            <a:ext cx="433626" cy="501015"/>
          </a:xfrm>
          <a:prstGeom prst="roundRect">
            <a:avLst>
              <a:gd name="adj" fmla="val 12652"/>
            </a:avLst>
          </a:prstGeom>
          <a:solidFill>
            <a:srgbClr val="E6E6E7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93790" y="1772364"/>
            <a:ext cx="481965" cy="4819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8517" y="185308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350"/>
              </a:lnSpc>
              <a:buNone/>
              <a:defRPr/>
            </a:pPr>
            <a:r>
              <a:rPr lang="en-US" sz="18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독창성</a:t>
            </a:r>
            <a:endParaRPr lang="en-US" sz="1850"/>
          </a:p>
        </p:txBody>
      </p:sp>
      <p:sp>
        <p:nvSpPr>
          <p:cNvPr id="6" name="Text 3"/>
          <p:cNvSpPr/>
          <p:nvPr/>
        </p:nvSpPr>
        <p:spPr>
          <a:xfrm>
            <a:off x="1468517" y="2269927"/>
            <a:ext cx="12368093" cy="308372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연구가 새로운 지식이나 관점을 제공하는가?</a:t>
            </a:r>
            <a:endParaRPr lang="en-US" sz="1500"/>
          </a:p>
        </p:txBody>
      </p:sp>
      <p:sp>
        <p:nvSpPr>
          <p:cNvPr id="7" name="Shape 4"/>
          <p:cNvSpPr/>
          <p:nvPr/>
        </p:nvSpPr>
        <p:spPr>
          <a:xfrm>
            <a:off x="817959" y="2987993"/>
            <a:ext cx="433626" cy="501015"/>
          </a:xfrm>
          <a:prstGeom prst="roundRect">
            <a:avLst>
              <a:gd name="adj" fmla="val 12652"/>
            </a:avLst>
          </a:prstGeom>
          <a:solidFill>
            <a:srgbClr val="E6E6E7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93790" y="2997518"/>
            <a:ext cx="481965" cy="4819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8517" y="307824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350"/>
              </a:lnSpc>
              <a:buNone/>
              <a:defRPr/>
            </a:pPr>
            <a:r>
              <a:rPr lang="en-US" sz="18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방법론</a:t>
            </a:r>
            <a:endParaRPr lang="en-US" sz="1850"/>
          </a:p>
        </p:txBody>
      </p:sp>
      <p:sp>
        <p:nvSpPr>
          <p:cNvPr id="10" name="Text 6"/>
          <p:cNvSpPr/>
          <p:nvPr/>
        </p:nvSpPr>
        <p:spPr>
          <a:xfrm>
            <a:off x="1468517" y="3495080"/>
            <a:ext cx="12368093" cy="308372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 방법이 적절하고 엄격하게 적용되었는가?</a:t>
            </a:r>
            <a:endParaRPr lang="en-US" sz="15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93790" y="4222671"/>
            <a:ext cx="481965" cy="4819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8517" y="430339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350"/>
              </a:lnSpc>
              <a:buNone/>
              <a:defRPr/>
            </a:pPr>
            <a:r>
              <a:rPr lang="en-US" sz="18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명확성</a:t>
            </a:r>
            <a:endParaRPr lang="en-US" sz="1850"/>
          </a:p>
        </p:txBody>
      </p:sp>
      <p:sp>
        <p:nvSpPr>
          <p:cNvPr id="13" name="Text 8"/>
          <p:cNvSpPr/>
          <p:nvPr/>
        </p:nvSpPr>
        <p:spPr>
          <a:xfrm>
            <a:off x="1468517" y="4720233"/>
            <a:ext cx="12368093" cy="308372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논문이 명확하고 이해하기 쉽게 작성되었는가?</a:t>
            </a:r>
            <a:endParaRPr lang="en-US" sz="1500"/>
          </a:p>
        </p:txBody>
      </p:sp>
      <p:sp>
        <p:nvSpPr>
          <p:cNvPr id="14" name="Shape 9"/>
          <p:cNvSpPr/>
          <p:nvPr/>
        </p:nvSpPr>
        <p:spPr>
          <a:xfrm>
            <a:off x="817959" y="5438299"/>
            <a:ext cx="433626" cy="501015"/>
          </a:xfrm>
          <a:prstGeom prst="roundRect">
            <a:avLst>
              <a:gd name="adj" fmla="val 12652"/>
            </a:avLst>
          </a:prstGeom>
          <a:solidFill>
            <a:srgbClr val="E6E6E7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93790" y="5447824"/>
            <a:ext cx="481965" cy="4819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8517" y="552854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350"/>
              </a:lnSpc>
              <a:buNone/>
              <a:defRPr/>
            </a:pPr>
            <a:r>
              <a:rPr lang="en-US" sz="18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중요성</a:t>
            </a:r>
            <a:endParaRPr lang="en-US" sz="1850"/>
          </a:p>
        </p:txBody>
      </p:sp>
      <p:sp>
        <p:nvSpPr>
          <p:cNvPr id="17" name="Text 11"/>
          <p:cNvSpPr/>
          <p:nvPr/>
        </p:nvSpPr>
        <p:spPr>
          <a:xfrm>
            <a:off x="1468517" y="5945386"/>
            <a:ext cx="12368093" cy="308372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 결과가 학문적, 실용적으로 중요한 의미를 갖는가?</a:t>
            </a:r>
            <a:endParaRPr lang="en-US" sz="1500"/>
          </a:p>
        </p:txBody>
      </p:sp>
      <p:sp>
        <p:nvSpPr>
          <p:cNvPr id="18" name="Shape 12"/>
          <p:cNvSpPr/>
          <p:nvPr/>
        </p:nvSpPr>
        <p:spPr>
          <a:xfrm>
            <a:off x="817959" y="6663452"/>
            <a:ext cx="433626" cy="501015"/>
          </a:xfrm>
          <a:prstGeom prst="roundRect">
            <a:avLst>
              <a:gd name="adj" fmla="val 12652"/>
            </a:avLst>
          </a:prstGeom>
          <a:solidFill>
            <a:srgbClr val="E6E6E7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93790" y="6672977"/>
            <a:ext cx="481965" cy="4819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8517" y="675370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350"/>
              </a:lnSpc>
              <a:buNone/>
              <a:defRPr/>
            </a:pPr>
            <a:r>
              <a:rPr lang="en-US" sz="18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문헌 검토</a:t>
            </a:r>
            <a:endParaRPr lang="en-US" sz="1850"/>
          </a:p>
        </p:txBody>
      </p:sp>
      <p:sp>
        <p:nvSpPr>
          <p:cNvPr id="21" name="Text 14"/>
          <p:cNvSpPr/>
          <p:nvPr/>
        </p:nvSpPr>
        <p:spPr>
          <a:xfrm>
            <a:off x="1468517" y="7170539"/>
            <a:ext cx="12368093" cy="308372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관련 문헌이 충분히 검토되고 적절하게 인용되었는가?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512" y="524947"/>
            <a:ext cx="3094553" cy="386715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24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논문 평가 기준</a:t>
            </a:r>
            <a:endParaRPr lang="en-US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6512" y="1159193"/>
            <a:ext cx="4015145" cy="43863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6512" y="5684758"/>
            <a:ext cx="278487" cy="278487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5" name="Text 2"/>
          <p:cNvSpPr/>
          <p:nvPr/>
        </p:nvSpPr>
        <p:spPr>
          <a:xfrm>
            <a:off x="712887" y="5707916"/>
            <a:ext cx="185618" cy="232053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ctr">
              <a:lnSpc>
                <a:spcPts val="1450"/>
              </a:lnSpc>
              <a:buNone/>
              <a:defRPr/>
            </a:pPr>
            <a:r>
              <a:rPr lang="en-US" sz="14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1</a:t>
            </a:r>
            <a:endParaRPr lang="en-US" sz="1450"/>
          </a:p>
        </p:txBody>
      </p:sp>
      <p:sp>
        <p:nvSpPr>
          <p:cNvPr id="6" name="Text 3"/>
          <p:cNvSpPr/>
          <p:nvPr/>
        </p:nvSpPr>
        <p:spPr>
          <a:xfrm>
            <a:off x="1068705" y="5727263"/>
            <a:ext cx="1547217" cy="193477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연구 주제의 적절성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1068705" y="5994916"/>
            <a:ext cx="6169223" cy="19812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550"/>
              </a:lnSpc>
              <a:buNone/>
              <a:defRPr/>
            </a:pPr>
            <a:r>
              <a:rPr lang="en-US" sz="9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 주제가 학술지의 범위와 일치하며 학문적으로 중요한가?</a:t>
            </a:r>
            <a:endParaRPr lang="en-US" sz="950"/>
          </a:p>
        </p:txBody>
      </p:sp>
      <p:sp>
        <p:nvSpPr>
          <p:cNvPr id="8" name="Shape 5"/>
          <p:cNvSpPr/>
          <p:nvPr/>
        </p:nvSpPr>
        <p:spPr>
          <a:xfrm>
            <a:off x="7392591" y="5684758"/>
            <a:ext cx="278487" cy="278487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9" name="Text 6"/>
          <p:cNvSpPr/>
          <p:nvPr/>
        </p:nvSpPr>
        <p:spPr>
          <a:xfrm>
            <a:off x="7438965" y="5707916"/>
            <a:ext cx="185618" cy="232053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ctr">
              <a:lnSpc>
                <a:spcPts val="1450"/>
              </a:lnSpc>
              <a:buNone/>
              <a:defRPr/>
            </a:pPr>
            <a:r>
              <a:rPr lang="en-US" sz="14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2</a:t>
            </a:r>
            <a:endParaRPr lang="en-US" sz="1450"/>
          </a:p>
        </p:txBody>
      </p:sp>
      <p:sp>
        <p:nvSpPr>
          <p:cNvPr id="10" name="Text 7"/>
          <p:cNvSpPr/>
          <p:nvPr/>
        </p:nvSpPr>
        <p:spPr>
          <a:xfrm>
            <a:off x="7794784" y="5727263"/>
            <a:ext cx="1547217" cy="193477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이론적 기반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7794784" y="5994916"/>
            <a:ext cx="6169223" cy="19812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550"/>
              </a:lnSpc>
              <a:buNone/>
              <a:defRPr/>
            </a:pPr>
            <a:r>
              <a:rPr lang="en-US" sz="9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연구가 적절한 이론적 기반 위에 구축되었는가?</a:t>
            </a:r>
            <a:endParaRPr lang="en-US" sz="950"/>
          </a:p>
        </p:txBody>
      </p:sp>
      <p:sp>
        <p:nvSpPr>
          <p:cNvPr id="12" name="Shape 9"/>
          <p:cNvSpPr/>
          <p:nvPr/>
        </p:nvSpPr>
        <p:spPr>
          <a:xfrm>
            <a:off x="666512" y="6440567"/>
            <a:ext cx="278487" cy="278487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3" name="Text 10"/>
          <p:cNvSpPr/>
          <p:nvPr/>
        </p:nvSpPr>
        <p:spPr>
          <a:xfrm>
            <a:off x="712887" y="6463725"/>
            <a:ext cx="185618" cy="232053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ctr">
              <a:lnSpc>
                <a:spcPts val="1450"/>
              </a:lnSpc>
              <a:buNone/>
              <a:defRPr/>
            </a:pPr>
            <a:r>
              <a:rPr lang="en-US" sz="14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3</a:t>
            </a:r>
            <a:endParaRPr lang="en-US" sz="1450"/>
          </a:p>
        </p:txBody>
      </p:sp>
      <p:sp>
        <p:nvSpPr>
          <p:cNvPr id="14" name="Text 11"/>
          <p:cNvSpPr/>
          <p:nvPr/>
        </p:nvSpPr>
        <p:spPr>
          <a:xfrm>
            <a:off x="1068705" y="6483072"/>
            <a:ext cx="1547217" cy="193477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방법론적 엄격성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1068705" y="6750725"/>
            <a:ext cx="6169223" cy="19812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550"/>
              </a:lnSpc>
              <a:buNone/>
              <a:defRPr/>
            </a:pPr>
            <a:r>
              <a:rPr lang="en-US" sz="9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 설계, 데이터 수집 및 분석 방법이 적절하고 엄격하게 적용되었는가?</a:t>
            </a:r>
            <a:endParaRPr lang="en-US" sz="950"/>
          </a:p>
        </p:txBody>
      </p:sp>
      <p:sp>
        <p:nvSpPr>
          <p:cNvPr id="16" name="Shape 13"/>
          <p:cNvSpPr/>
          <p:nvPr/>
        </p:nvSpPr>
        <p:spPr>
          <a:xfrm>
            <a:off x="7392591" y="6440567"/>
            <a:ext cx="278487" cy="278487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7" name="Text 14"/>
          <p:cNvSpPr/>
          <p:nvPr/>
        </p:nvSpPr>
        <p:spPr>
          <a:xfrm>
            <a:off x="7438965" y="6463725"/>
            <a:ext cx="185618" cy="232053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ctr">
              <a:lnSpc>
                <a:spcPts val="1450"/>
              </a:lnSpc>
              <a:buNone/>
              <a:defRPr/>
            </a:pPr>
            <a:r>
              <a:rPr lang="en-US" sz="14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4</a:t>
            </a:r>
            <a:endParaRPr lang="en-US" sz="1450"/>
          </a:p>
        </p:txBody>
      </p:sp>
      <p:sp>
        <p:nvSpPr>
          <p:cNvPr id="18" name="Text 15"/>
          <p:cNvSpPr/>
          <p:nvPr/>
        </p:nvSpPr>
        <p:spPr>
          <a:xfrm>
            <a:off x="7794784" y="6483072"/>
            <a:ext cx="1547217" cy="193477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결과의 타당성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7794784" y="6750725"/>
            <a:ext cx="6169223" cy="19812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550"/>
              </a:lnSpc>
              <a:buNone/>
              <a:defRPr/>
            </a:pPr>
            <a:r>
              <a:rPr lang="en-US" sz="9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 결과가 데이터에 의해 충분히 뒷받침되는가?</a:t>
            </a:r>
            <a:endParaRPr lang="en-US" sz="950"/>
          </a:p>
        </p:txBody>
      </p:sp>
      <p:sp>
        <p:nvSpPr>
          <p:cNvPr id="20" name="Shape 17"/>
          <p:cNvSpPr/>
          <p:nvPr/>
        </p:nvSpPr>
        <p:spPr>
          <a:xfrm>
            <a:off x="666512" y="7196376"/>
            <a:ext cx="278487" cy="278487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1" name="Text 18"/>
          <p:cNvSpPr/>
          <p:nvPr/>
        </p:nvSpPr>
        <p:spPr>
          <a:xfrm>
            <a:off x="712887" y="7219533"/>
            <a:ext cx="185618" cy="232053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ctr">
              <a:lnSpc>
                <a:spcPts val="1450"/>
              </a:lnSpc>
              <a:buNone/>
              <a:defRPr/>
            </a:pPr>
            <a:r>
              <a:rPr lang="en-US" sz="14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5</a:t>
            </a:r>
            <a:endParaRPr lang="en-US" sz="1450"/>
          </a:p>
        </p:txBody>
      </p:sp>
      <p:sp>
        <p:nvSpPr>
          <p:cNvPr id="22" name="Text 19"/>
          <p:cNvSpPr/>
          <p:nvPr/>
        </p:nvSpPr>
        <p:spPr>
          <a:xfrm>
            <a:off x="1068705" y="7238881"/>
            <a:ext cx="1547217" cy="193477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논의의 깊이</a:t>
            </a:r>
            <a:endParaRPr lang="en-US" sz="1200"/>
          </a:p>
        </p:txBody>
      </p:sp>
      <p:sp>
        <p:nvSpPr>
          <p:cNvPr id="23" name="Text 20"/>
          <p:cNvSpPr/>
          <p:nvPr/>
        </p:nvSpPr>
        <p:spPr>
          <a:xfrm>
            <a:off x="1068705" y="7506533"/>
            <a:ext cx="6169223" cy="19812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550"/>
              </a:lnSpc>
              <a:buNone/>
              <a:defRPr/>
            </a:pPr>
            <a:r>
              <a:rPr lang="en-US" sz="9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결과에 대한 해석과 논의가 깊이 있고 의미 있게 이루어졌는가?</a:t>
            </a:r>
            <a:endParaRPr lang="en-US" sz="950"/>
          </a:p>
        </p:txBody>
      </p:sp>
      <p:sp>
        <p:nvSpPr>
          <p:cNvPr id="24" name="Shape 21"/>
          <p:cNvSpPr/>
          <p:nvPr/>
        </p:nvSpPr>
        <p:spPr>
          <a:xfrm>
            <a:off x="7392591" y="7196376"/>
            <a:ext cx="278487" cy="278487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5" name="Text 22"/>
          <p:cNvSpPr/>
          <p:nvPr/>
        </p:nvSpPr>
        <p:spPr>
          <a:xfrm>
            <a:off x="7438965" y="7219533"/>
            <a:ext cx="185618" cy="232053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ctr">
              <a:lnSpc>
                <a:spcPts val="1450"/>
              </a:lnSpc>
              <a:buNone/>
              <a:defRPr/>
            </a:pPr>
            <a:r>
              <a:rPr lang="en-US" sz="14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6</a:t>
            </a:r>
            <a:endParaRPr lang="en-US" sz="1450"/>
          </a:p>
        </p:txBody>
      </p:sp>
      <p:sp>
        <p:nvSpPr>
          <p:cNvPr id="26" name="Text 23"/>
          <p:cNvSpPr/>
          <p:nvPr/>
        </p:nvSpPr>
        <p:spPr>
          <a:xfrm>
            <a:off x="7794784" y="7238881"/>
            <a:ext cx="1547217" cy="193477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학문적 기여도</a:t>
            </a:r>
            <a:endParaRPr lang="en-US" sz="1200"/>
          </a:p>
        </p:txBody>
      </p:sp>
      <p:sp>
        <p:nvSpPr>
          <p:cNvPr id="27" name="Text 24"/>
          <p:cNvSpPr/>
          <p:nvPr/>
        </p:nvSpPr>
        <p:spPr>
          <a:xfrm>
            <a:off x="7794784" y="7506533"/>
            <a:ext cx="6169223" cy="19812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lnSpc>
                <a:spcPts val="1550"/>
              </a:lnSpc>
              <a:buNone/>
              <a:defRPr/>
            </a:pPr>
            <a:r>
              <a:rPr lang="en-US" sz="9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연구가 해당 분야에 새로운 지식이나 통찰을 제공하는가?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4247</Words>
  <Application>Microsoft Office PowerPoint</Application>
  <PresentationFormat>사용자 지정</PresentationFormat>
  <Paragraphs>633</Paragraphs>
  <Slides>58</Slides>
  <Notes>58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4" baseType="lpstr">
      <vt:lpstr>Open Sans</vt:lpstr>
      <vt:lpstr>Calibri</vt:lpstr>
      <vt:lpstr>Arial</vt:lpstr>
      <vt:lpstr>맑은 고딕</vt:lpstr>
      <vt:lpstr>Libre Baskerville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이용직 </cp:lastModifiedBy>
  <cp:revision>5</cp:revision>
  <dcterms:created xsi:type="dcterms:W3CDTF">2025-06-10T04:28:40Z</dcterms:created>
  <dcterms:modified xsi:type="dcterms:W3CDTF">2025-06-16T23:15:56Z</dcterms:modified>
  <cp:version>1000.0000.01</cp:version>
</cp:coreProperties>
</file>