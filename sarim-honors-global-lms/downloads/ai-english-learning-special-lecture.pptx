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4630400" cy="8229600"/>
  <p:notesSz cx="8229600" cy="14630400"/>
  <p:embeddedFontLst>
    <p:embeddedFont>
      <p:font typeface="휴먼엑스포" panose="02030504000101010101" pitchFamily="18" charset="-127"/>
      <p:regular r:id="rId32"/>
    </p:embeddedFont>
    <p:embeddedFont>
      <p:font typeface="Roboto" panose="02000000000000000000" pitchFamily="2" charset="0"/>
      <p:regular r:id="rId33"/>
      <p:bold r:id="rId34"/>
    </p:embeddedFont>
    <p:embeddedFont>
      <p:font typeface="Roboto Slab" pitchFamily="2" charset="0"/>
      <p:regular r:id="rId35"/>
      <p:bold r:id="rId3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0882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otebooklm.google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soulmachines.com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www.youtube.com/watch?v=XOOJqsQXRTU&amp;ab_channel=Yong-JikLee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youtu.be/PD1ohC3sots" TargetMode="External"/><Relationship Id="rId5" Type="http://schemas.openxmlformats.org/officeDocument/2006/relationships/hyperlink" Target="https://www.delphi.ai/browse" TargetMode="External"/><Relationship Id="rId4" Type="http://schemas.openxmlformats.org/officeDocument/2006/relationships/hyperlink" Target="https://www.soulmachines.com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eygen.com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Relationship Id="rId5" Type="http://schemas.openxmlformats.org/officeDocument/2006/relationships/hyperlink" Target="https://www.youtube.com/watch?v=bO2zXHHcwgo&amp;ab_channel=Yong-JikLee" TargetMode="External"/><Relationship Id="rId4" Type="http://schemas.openxmlformats.org/officeDocument/2006/relationships/hyperlink" Target="https://www.youtube.com/watch?v=4Gspc5M4av8&amp;ab_channel=Yong-JikLee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0263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생성형 AI를 </a:t>
            </a:r>
            <a:r>
              <a:rPr lang="en-US" sz="4450" dirty="0" err="1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활용하여</a:t>
            </a:r>
            <a:r>
              <a:rPr lang="en-US" sz="445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 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영어학습하기</a:t>
            </a:r>
            <a:endParaRPr lang="en-US" sz="44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89" y="3902155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생성형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AI를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활용한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효과적인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영어학습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방법을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소개하고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, 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이를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통해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듣기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, </a:t>
            </a: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말하기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, </a:t>
            </a: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읽기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, </a:t>
            </a: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쓰기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영역에서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학생들의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영어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능력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향상을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위한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다양한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교육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전략과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도구를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23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살펴보겠습니다</a:t>
            </a:r>
            <a:r>
              <a:rPr lang="en-US" sz="23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. </a:t>
            </a:r>
            <a:endParaRPr lang="en-US" sz="23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5846921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26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22044"/>
            <a:ext cx="5507831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디지털 시대 교육의 대전환 방향</a:t>
            </a:r>
            <a:endParaRPr lang="en-US" sz="33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808809"/>
            <a:ext cx="850583" cy="10207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99523" y="397883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학생의 역할 변화</a:t>
            </a:r>
            <a:endParaRPr lang="en-US" sz="16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6" name="Text 2"/>
          <p:cNvSpPr/>
          <p:nvPr/>
        </p:nvSpPr>
        <p:spPr>
          <a:xfrm>
            <a:off x="1899523" y="4346615"/>
            <a:ext cx="1193708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디지털 시대에서 학생은 수동적 학습자에서 자기주도적 학습자로 변모해야 합니다. AI 기술을 활용하여 개인의 학습 속도와 스타일에 맞는 맞춤형 학습이 가능해졌습니다.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829532"/>
            <a:ext cx="850583" cy="12521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99523" y="499955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교</a:t>
            </a:r>
            <a:r>
              <a:rPr lang="ko-KR" altLang="en-US" sz="16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수자</a:t>
            </a:r>
            <a:r>
              <a:rPr lang="en-US" sz="16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의 역할 확장</a:t>
            </a:r>
            <a:endParaRPr lang="en-US" sz="16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9" name="Text 4"/>
          <p:cNvSpPr/>
          <p:nvPr/>
        </p:nvSpPr>
        <p:spPr>
          <a:xfrm>
            <a:off x="1899523" y="5367338"/>
            <a:ext cx="1193708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단순 지식 전달자에서 학습 멘토, 코치, 사회·정서적 지도자로 교사의 역할이 확대되고 있습니다. AI가 반복적인 업무를 대체하면서 교사는 더 창의적이고 인간적인 측면에 집중할 수 있게 되었습니다.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6081713"/>
            <a:ext cx="850583" cy="12521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99523" y="625173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수업 방식의 혁신</a:t>
            </a:r>
            <a:endParaRPr lang="en-US" sz="16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899523" y="6619518"/>
            <a:ext cx="1193708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일방적 강의에서 벗어나 토론, 프로젝트 학습, 거꾸로 학습 등 학생 참여형 수업이 확대되고 있습니다. 디지털 도구와 AI를 활용한 다양한 교수법이 발전하면서 학습 경험이 풍부해지고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7241" y="620435"/>
            <a:ext cx="6341626" cy="70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0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AI 교육의 유형과 적용 영역</a:t>
            </a:r>
            <a:endParaRPr lang="en-US" sz="4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87241" y="1660684"/>
            <a:ext cx="3672364" cy="3095030"/>
          </a:xfrm>
          <a:prstGeom prst="roundRect">
            <a:avLst>
              <a:gd name="adj" fmla="val 1090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1012150" y="1885593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교과교육에 AI 활용</a:t>
            </a:r>
            <a:endParaRPr lang="en-US" sz="2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12150" y="2371963"/>
            <a:ext cx="3222546" cy="2158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기존 교과목 교육에 AI 기술을 접목하여 학습 효율성을 높이는 방식입니다. 영어 교육에서는 AI 번역기, 챗봇, 자동 피드백 시스템 등을 활용하여 학습자의 언어 습득을 돕습니다.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4514" y="1660684"/>
            <a:ext cx="3672364" cy="3095030"/>
          </a:xfrm>
          <a:prstGeom prst="roundRect">
            <a:avLst>
              <a:gd name="adj" fmla="val 1090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4909423" y="1885593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AI 융합 교육</a:t>
            </a:r>
            <a:endParaRPr lang="en-US" sz="2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4909423" y="2371963"/>
            <a:ext cx="3222546" cy="1799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다양한 교과와 AI를 융합하여 새로운 교육 내용과 방법을 개발하는 접근법입니다. 영어와 프로그래밍, 데이터 분석 등을 결합한 프로젝트 학습이 그 예입니다.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87241" y="4980623"/>
            <a:ext cx="7569517" cy="2015609"/>
          </a:xfrm>
          <a:prstGeom prst="roundRect">
            <a:avLst>
              <a:gd name="adj" fmla="val 167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012150" y="5205532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교수-학습에 AI 적용</a:t>
            </a:r>
            <a:endParaRPr lang="en-US" sz="2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12150" y="5691902"/>
            <a:ext cx="7119699" cy="1079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교수자와 학습자 모두가 AI를 교육 도구로 활용하는 방식입니다. 맞춤형 학습 경로 설계, 학습 진단, 평가 등에 AI를 활용하여 교육의 효율성을 높일 수 있습니다.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87241" y="7249239"/>
            <a:ext cx="7569517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출처: 한선관 외(2021). AI 사고를 위한 인공지능 교육. 성안당.</a:t>
            </a:r>
            <a:endParaRPr lang="en-US" sz="17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494" y="561380"/>
            <a:ext cx="3317319" cy="414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AI 윤리교육의 중요성</a:t>
            </a:r>
            <a:endParaRPr lang="en-US" sz="26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66" y="1386699"/>
            <a:ext cx="9614070" cy="44046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4962"/>
            <a:ext cx="6097429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 err="1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영어</a:t>
            </a:r>
            <a:r>
              <a:rPr lang="ko-KR" altLang="en-US" sz="40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학습</a:t>
            </a:r>
            <a:r>
              <a:rPr lang="en-US" sz="4000" dirty="0" err="1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에서의</a:t>
            </a:r>
            <a:r>
              <a:rPr lang="en-US" sz="40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 AI 적용 방안</a:t>
            </a:r>
            <a:endParaRPr lang="en-US" sz="4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1691164"/>
            <a:ext cx="1630323" cy="1176099"/>
          </a:xfrm>
          <a:prstGeom prst="roundRect">
            <a:avLst>
              <a:gd name="adj" fmla="val 260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421" y="2099786"/>
            <a:ext cx="287060" cy="3587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28186" y="189523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학습 목표 설정</a:t>
            </a:r>
            <a:endParaRPr lang="en-US" sz="2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28186" y="2336483"/>
            <a:ext cx="429708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학습자의 요구와 수준에 맞는 맞춤형 학습 목표 설정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26149" y="2857738"/>
            <a:ext cx="11208425" cy="11430"/>
          </a:xfrm>
          <a:prstGeom prst="roundRect">
            <a:avLst>
              <a:gd name="adj" fmla="val 267907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93790" y="2969300"/>
            <a:ext cx="3260646" cy="1176099"/>
          </a:xfrm>
          <a:prstGeom prst="roundRect">
            <a:avLst>
              <a:gd name="adj" fmla="val 260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0523" y="3377922"/>
            <a:ext cx="287060" cy="3587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58508" y="317337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적절한 AI 도구 선택</a:t>
            </a:r>
            <a:endParaRPr lang="en-US" sz="2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258508" y="3614618"/>
            <a:ext cx="4536400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학습 목표에 부합하는 효과적인 AI 도구 및 플랫폼 선정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156472" y="4135874"/>
            <a:ext cx="9578102" cy="11430"/>
          </a:xfrm>
          <a:prstGeom prst="roundRect">
            <a:avLst>
              <a:gd name="adj" fmla="val 267907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93790" y="4247436"/>
            <a:ext cx="4890968" cy="1176099"/>
          </a:xfrm>
          <a:prstGeom prst="roundRect">
            <a:avLst>
              <a:gd name="adj" fmla="val 260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744" y="4656058"/>
            <a:ext cx="287060" cy="3587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88831" y="445150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교육과정 통합</a:t>
            </a:r>
            <a:endParaRPr lang="en-US" sz="2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5888831" y="4892754"/>
            <a:ext cx="443507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기존 교육과정에 AI 도구를 자연스럽게 통합하여 활용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786795" y="5414010"/>
            <a:ext cx="7947779" cy="11430"/>
          </a:xfrm>
          <a:prstGeom prst="roundRect">
            <a:avLst>
              <a:gd name="adj" fmla="val 267907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793790" y="5525572"/>
            <a:ext cx="6521410" cy="1176099"/>
          </a:xfrm>
          <a:prstGeom prst="roundRect">
            <a:avLst>
              <a:gd name="adj" fmla="val 260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0965" y="5934194"/>
            <a:ext cx="287060" cy="35873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19273" y="572964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효과성 평가</a:t>
            </a:r>
            <a:endParaRPr lang="en-US" sz="2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7519273" y="6170890"/>
            <a:ext cx="4160877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도구 활용의 학습 효과 지속적 모니터링 및 개선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1498" y="8340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통합적 언어 기술 접근법</a:t>
            </a:r>
            <a:endParaRPr lang="en-US" sz="3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852" y="1227102"/>
            <a:ext cx="5520084" cy="5094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3152"/>
            <a:ext cx="63293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영어교육에 AI </a:t>
            </a:r>
            <a:r>
              <a:rPr lang="en-US" sz="4450" dirty="0" err="1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적용</a:t>
            </a:r>
            <a:endParaRPr lang="en-US" sz="44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6789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듣기 영역</a:t>
            </a:r>
            <a:endParaRPr lang="en-US" sz="2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2600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NotebookLM을 활용한 맞춤형 팟캐스트 제작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270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다양한 리딩 자료를 AI를 통해 오디오 콘텐츠로 변환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2692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학습자 수준에 맞는 속도와 어휘 난이도 조절 가능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7114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실제 맥락에서의 언어 사용 이해 향상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27839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https://notebooklm.google/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26789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말하기 영역</a:t>
            </a:r>
            <a:endParaRPr lang="en-US" sz="2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9521" y="32600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아바타와의 회화 연습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38270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원어민 수준의 AI와 일상 대화 연습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2692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실시간 피드백을 통한 발음 및 표현 교정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47114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다양한 상황별 대화 시나리오 연습 가능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527839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https://www.soulmachines.com/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9028"/>
            <a:ext cx="64087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영어</a:t>
            </a:r>
            <a:r>
              <a:rPr lang="ko-KR" altLang="en-US" sz="445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학습</a:t>
            </a:r>
            <a:r>
              <a:rPr lang="en-US" sz="445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에 AI 적용하기 (2)</a:t>
            </a:r>
            <a:endParaRPr lang="en-US" sz="44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0247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읽기 영역</a:t>
            </a:r>
            <a:endParaRPr lang="en-US" sz="2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6059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CEFR 수준을 활용한 맞춤형 읽기 자료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7290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학습자의 현재 언어 수준에 맞는 텍스트 제공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6151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AI를 통한 텍스트 난이도 조절 및 변형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05729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개인화된 어휘 학습 및 이해도 점검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0247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쓰기 영역</a:t>
            </a:r>
            <a:endParaRPr lang="en-US" sz="2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36059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Grammarly를 활용한 개별 피드백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17290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실시간 문법 및 스타일 교정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6151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맞춤형 쓰기 개선 제안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05729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Quillbot을 활용한 패러프레이징 연습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8542"/>
            <a:ext cx="5754767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AI를 활용한 듣기 자료 제작</a:t>
            </a:r>
            <a:endParaRPr lang="en-US" sz="4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1662589"/>
            <a:ext cx="152995" cy="1094661"/>
          </a:xfrm>
          <a:prstGeom prst="roundRect">
            <a:avLst>
              <a:gd name="adj" fmla="val 20015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1252895" y="166258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텍스트 선정 및 준비</a:t>
            </a:r>
            <a:endParaRPr lang="en-US" sz="2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1252895" y="2103834"/>
            <a:ext cx="709731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학습 목표와 학습자 수준에 맞는 텍스트를 선택하거나 직접 작성합니다. 교과서 내용, 뉴스 기사, 이야기 등 다양한 장르의 텍스트를 활용할 수 있습니다.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99899" y="2961323"/>
            <a:ext cx="152995" cy="1421368"/>
          </a:xfrm>
          <a:prstGeom prst="roundRect">
            <a:avLst>
              <a:gd name="adj" fmla="val 20015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1559004" y="296132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AI 도구 활용 변환</a:t>
            </a:r>
            <a:endParaRPr lang="en-US" sz="2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1559004" y="3402568"/>
            <a:ext cx="6791206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NotebookLM, Google Text-to-Speech 등의 AI 도구를 활용하여 텍스트를 자연스러운 음성으로 변환합니다. 속도, 억양, 목소리 톤 등을 학습자 수준에 맞게 조절할 수 있습니다.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406128" y="4586764"/>
            <a:ext cx="152995" cy="1421368"/>
          </a:xfrm>
          <a:prstGeom prst="roundRect">
            <a:avLst>
              <a:gd name="adj" fmla="val 20015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865233" y="4586764"/>
            <a:ext cx="2599849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대화문 및 듣기 활동 설계</a:t>
            </a:r>
            <a:endParaRPr lang="en-US" sz="2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865233" y="5028009"/>
            <a:ext cx="6484977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생성된 오디오 자료를 바탕으로 다양한 듣기 활동(빈칸 채우기, 주요 정보 파악하기, 요약하기 등)을 설계합니다. 학생들의 참여를 유도하는 질문과 과제를 준비합니다.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80718"/>
            <a:ext cx="63938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AI 챗봇을 활용한 듣기 연습</a:t>
            </a:r>
            <a:endParaRPr lang="en-US" sz="44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202965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2072164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2107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맞춤형 챗봇 제작</a:t>
            </a:r>
            <a:endParaRPr lang="en-US" sz="2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7" name="Text 3"/>
          <p:cNvSpPr/>
          <p:nvPr/>
        </p:nvSpPr>
        <p:spPr>
          <a:xfrm>
            <a:off x="1530906" y="2597944"/>
            <a:ext cx="289941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MyGPTs와 같은 도구를 활용하여 교육 목적에 맞는 특화된 AI 챗봇을 제작할 수 있습니다. 특정 주제, 언어 수준, 대화 스타일 등을 설정하여 학습자의 필요에 맞게 조정할 수 있습니다.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4713803" y="202965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8874" y="2072164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50919" y="2107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실제적인 대화 환경</a:t>
            </a:r>
            <a:endParaRPr lang="en-US" sz="2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450919" y="2597944"/>
            <a:ext cx="289941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챗봇은 실제 대화와 유사한 환경을 제공하여 학습자가 자연스러운 대화 흐름, 맥락 이해, 질문-응답 패턴 등을 경험할 수 있게 합니다. 이를 통해 실생활에서의 의사소통 능력 향상에 도움이 됩니다.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559188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60" y="5634395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56697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즉각적인 피드백</a:t>
            </a:r>
            <a:endParaRPr lang="en-US" sz="2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530906" y="6160175"/>
            <a:ext cx="681930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학습자의 응답에 대한 즉각적인 피드백을 제공하여 오류를 바로잡고 개선점을 파악할 수 있습니다. 이는 학습자가 자신의 듣기 이해도를 즉시 확인하고 발전시킬 수 있는 기회를 제공합니다.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09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62407"/>
            <a:ext cx="4991814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맞춤형 AI 챗봇 활용 예시</a:t>
            </a:r>
            <a:endParaRPr lang="en-US" sz="37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3954066"/>
            <a:ext cx="13042821" cy="2789396"/>
          </a:xfrm>
          <a:prstGeom prst="roundRect">
            <a:avLst>
              <a:gd name="adj" fmla="val 103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801410" y="3961686"/>
            <a:ext cx="13026271" cy="5548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995601" y="4084915"/>
            <a:ext cx="39522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학습 목표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41025" y="4084915"/>
            <a:ext cx="394847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챗봇 설정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82639" y="4084915"/>
            <a:ext cx="39522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학습 활동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410" y="4516517"/>
            <a:ext cx="13026271" cy="5548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995601" y="4639747"/>
            <a:ext cx="39522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일상 회화 연습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341025" y="4639747"/>
            <a:ext cx="394847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친근한 원어민 역할 설정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682639" y="4639747"/>
            <a:ext cx="39522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일상 주제에 대한 자유 대화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1410" y="5071348"/>
            <a:ext cx="13026271" cy="5548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995601" y="5194578"/>
            <a:ext cx="39522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특정 주제 어휘 학습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341025" y="5194578"/>
            <a:ext cx="394847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해당 분야 전문가 역할 설정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682639" y="5194578"/>
            <a:ext cx="39522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주제별 질의응답 및 용어 설명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01410" y="5626179"/>
            <a:ext cx="13026271" cy="5548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995601" y="5749409"/>
            <a:ext cx="39522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문법 이해 향상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341025" y="5749409"/>
            <a:ext cx="394847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영어 교사 역할 설정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682639" y="5749409"/>
            <a:ext cx="39522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문법적 오류 지적 및 교정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01410" y="6181011"/>
            <a:ext cx="13026271" cy="5548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95601" y="6304240"/>
            <a:ext cx="39522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발음 개선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341025" y="6304240"/>
            <a:ext cx="394847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발음 코치 역할 설정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682639" y="6304240"/>
            <a:ext cx="39522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음성 대화를 통한 발음 피드백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64554" y="698956"/>
            <a:ext cx="75564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듣기 관련 활동: </a:t>
            </a:r>
          </a:p>
          <a:p>
            <a:pPr marL="0" indent="0" algn="l">
              <a:lnSpc>
                <a:spcPts val="5300"/>
              </a:lnSpc>
              <a:buNone/>
            </a:pPr>
            <a:r>
              <a:rPr lang="en-US" sz="4200" dirty="0" err="1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NotebookLM</a:t>
            </a:r>
            <a:r>
              <a:rPr lang="en-US" sz="42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 활용하기</a:t>
            </a:r>
            <a:endParaRPr lang="en-US" sz="4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322195"/>
            <a:ext cx="538639" cy="53863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3076218"/>
            <a:ext cx="233922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파일 업로드</a:t>
            </a:r>
            <a:endParaRPr lang="en-US" sz="21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6" name="Text 2"/>
          <p:cNvSpPr/>
          <p:nvPr/>
        </p:nvSpPr>
        <p:spPr>
          <a:xfrm>
            <a:off x="6280190" y="3541990"/>
            <a:ext cx="2339221" cy="172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교육용 텍스트, 대화문, 이야기 등을 NotebookLM에 업로드합니다. 다양한 형식(PDF, TXT, DOCX 등)의 파일을 지원합니다.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8730" y="2322195"/>
            <a:ext cx="538639" cy="53863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88730" y="3076218"/>
            <a:ext cx="233922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팟캐스트 생성</a:t>
            </a:r>
            <a:endParaRPr lang="en-US" sz="21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9" name="Text 4"/>
          <p:cNvSpPr/>
          <p:nvPr/>
        </p:nvSpPr>
        <p:spPr>
          <a:xfrm>
            <a:off x="8888730" y="3541990"/>
            <a:ext cx="2339221" cy="206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업로드한 텍스트를 AI 기술을 활용하여 자연스러운 음성으로 변환합니다. 다양한 목소리와 말하기 스타일 중에서 선택할 수 있습니다.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7270" y="2322195"/>
            <a:ext cx="538639" cy="53863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497270" y="3076218"/>
            <a:ext cx="233922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공유 및 활용</a:t>
            </a:r>
            <a:endParaRPr lang="en-US" sz="21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1497270" y="3541990"/>
            <a:ext cx="2339221" cy="172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생성된 팟캐스트를 학생들과 공유하고, 다양한 듣기 활동(내용 요약, 주요 정보 파악, 질문에 답하기 등)에 활용합니다.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1519"/>
            <a:ext cx="5158502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AI를 활용한 말하기 학습</a:t>
            </a:r>
            <a:endParaRPr lang="en-US" sz="4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430" y="1767721"/>
            <a:ext cx="1614011" cy="117609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0846" y="2322076"/>
            <a:ext cx="287060" cy="3587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65514" y="1971794"/>
            <a:ext cx="245554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자연스러운 대화 연습</a:t>
            </a:r>
            <a:endParaRPr lang="en-US" sz="2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6" name="Text 2"/>
          <p:cNvSpPr/>
          <p:nvPr/>
        </p:nvSpPr>
        <p:spPr>
          <a:xfrm>
            <a:off x="5065514" y="2413040"/>
            <a:ext cx="245554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실제 대화와 유사한 경험 제공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912400" y="2959775"/>
            <a:ext cx="8873252" cy="11430"/>
          </a:xfrm>
          <a:prstGeom prst="roundRect">
            <a:avLst>
              <a:gd name="adj" fmla="val 267907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0424" y="2994779"/>
            <a:ext cx="3228022" cy="117609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0846" y="3403402"/>
            <a:ext cx="287060" cy="35873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872520" y="3198852"/>
            <a:ext cx="173426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즉각적인 피드백</a:t>
            </a:r>
            <a:endParaRPr lang="en-US" sz="2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1" name="Text 5"/>
          <p:cNvSpPr/>
          <p:nvPr/>
        </p:nvSpPr>
        <p:spPr>
          <a:xfrm>
            <a:off x="5872520" y="3640098"/>
            <a:ext cx="173426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발음, 문법, 표현 교정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5719405" y="4186833"/>
            <a:ext cx="8066246" cy="11430"/>
          </a:xfrm>
          <a:prstGeom prst="roundRect">
            <a:avLst>
              <a:gd name="adj" fmla="val 267907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3418" y="4221837"/>
            <a:ext cx="4842034" cy="1176099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0846" y="4630460"/>
            <a:ext cx="287060" cy="35873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679525" y="4425910"/>
            <a:ext cx="230183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언어 사용 자신감 향상</a:t>
            </a:r>
            <a:endParaRPr lang="en-US" sz="2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6" name="Text 8"/>
          <p:cNvSpPr/>
          <p:nvPr/>
        </p:nvSpPr>
        <p:spPr>
          <a:xfrm>
            <a:off x="6679525" y="4867156"/>
            <a:ext cx="230183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심리적 부담 없는 연습 환경</a:t>
            </a:r>
            <a:endParaRPr lang="en-US" sz="1600" dirty="0"/>
          </a:p>
        </p:txBody>
      </p:sp>
      <p:sp>
        <p:nvSpPr>
          <p:cNvPr id="17" name="Shape 9"/>
          <p:cNvSpPr/>
          <p:nvPr/>
        </p:nvSpPr>
        <p:spPr>
          <a:xfrm>
            <a:off x="6526411" y="5413891"/>
            <a:ext cx="7259241" cy="11430"/>
          </a:xfrm>
          <a:prstGeom prst="roundRect">
            <a:avLst>
              <a:gd name="adj" fmla="val 267907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294" y="5448895"/>
            <a:ext cx="6456164" cy="1176099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0727" y="5857518"/>
            <a:ext cx="287060" cy="358735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486531" y="5652968"/>
            <a:ext cx="230231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EFL 환경의 한계 극복</a:t>
            </a:r>
            <a:endParaRPr lang="en-US" sz="2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7486531" y="6094214"/>
            <a:ext cx="2302312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원어민과의 대화 기회 확대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91064"/>
            <a:ext cx="5878711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AI를 활용한 말하기 교육 방법</a:t>
            </a:r>
            <a:endParaRPr lang="en-US" sz="37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1782723"/>
            <a:ext cx="433745" cy="433745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001" y="1818799"/>
            <a:ext cx="289203" cy="36147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20297" y="1848922"/>
            <a:ext cx="251079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ChatGPT 음성 기능 활용</a:t>
            </a:r>
            <a:endParaRPr lang="en-US" sz="18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7" name="Text 3"/>
          <p:cNvSpPr/>
          <p:nvPr/>
        </p:nvSpPr>
        <p:spPr>
          <a:xfrm>
            <a:off x="1420297" y="2265759"/>
            <a:ext cx="692991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ChatGPT의 음성 대화 기능을 통해 실시간으로 영어 대화를 연습할 수 있습니다. 자연스러운 대화 흐름, 질문-응답 패턴, 다양한 표현 등을 학습할 수 있는 기회를 제공합니다.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93790" y="3268028"/>
            <a:ext cx="433745" cy="433745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001" y="3304103"/>
            <a:ext cx="289203" cy="36147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0297" y="3334226"/>
            <a:ext cx="335268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SoulMachines 디지털 휴먼 활용</a:t>
            </a:r>
            <a:endParaRPr lang="en-US" sz="18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420297" y="3751064"/>
            <a:ext cx="692991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실제 사람과 유사한 디지털 아바타와의 대화를 통해 더욱 실감나는 의사소통 경험을 제공합니다. 시각적 단서와 감정 표현을 통해 보다 풍부한 언어 학습이 가능합니다.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793790" y="4753332"/>
            <a:ext cx="433745" cy="433745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001" y="4789408"/>
            <a:ext cx="289203" cy="36147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0297" y="4819531"/>
            <a:ext cx="261723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상호작용적 언어 활동 설계</a:t>
            </a:r>
            <a:endParaRPr lang="en-US" sz="18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420297" y="5236369"/>
            <a:ext cx="692991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역할극, 토론, 그룹 토의, 프레젠테이션 등 AI를 활용한 다양한 상호작용 활동을 통해 학생들의 영어 사용 기회를 확대합니다.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793790" y="6238637"/>
            <a:ext cx="433745" cy="433745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001" y="6274713"/>
            <a:ext cx="289203" cy="36147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0297" y="630483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개인화된 피드백 제공</a:t>
            </a:r>
            <a:endParaRPr lang="en-US" sz="18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1420297" y="6721673"/>
            <a:ext cx="692991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발음, 문법, 어휘, 유창성 등 다양한 측면에서 학습자 개개인에게 맞춤형 피드백을 제공하여 효과적인 개선이 이루어지도록 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00564"/>
            <a:ext cx="6727746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ChatGPT를 활용한 말하기 연습</a:t>
            </a:r>
            <a:endParaRPr lang="en-US" sz="4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1644610"/>
            <a:ext cx="3676174" cy="4055031"/>
          </a:xfrm>
          <a:prstGeom prst="roundRect">
            <a:avLst>
              <a:gd name="adj" fmla="val 833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997863" y="184868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효과적인 프롬프트 설계</a:t>
            </a:r>
            <a:endParaRPr lang="en-US" sz="2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997863" y="2289929"/>
            <a:ext cx="3268028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ChatGPT에 자신의 소개와 영어 학습 목표를 명확히 전달합니다.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97863" y="3065740"/>
            <a:ext cx="3268028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학습자 수준과 상황 설명: "저는 한국의 중/고등학생입니다. 영어 실력을 향상시키고 싶습니다."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97863" y="4117300"/>
            <a:ext cx="3268028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학습 목표 설정: "영어 말하기 연습을 통해 더 유창하게 말하고 싶습니다."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674037" y="1644610"/>
            <a:ext cx="3676174" cy="4055031"/>
          </a:xfrm>
          <a:prstGeom prst="roundRect">
            <a:avLst>
              <a:gd name="adj" fmla="val 833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878110" y="184868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대화 규칙 설정</a:t>
            </a:r>
            <a:endParaRPr lang="en-US" sz="2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878110" y="2289929"/>
            <a:ext cx="3268028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ChatGPT에 영어 교사 역할을 부여하고 피드백 방식을 안내합니다.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78110" y="3065740"/>
            <a:ext cx="3268028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역할 설정: "당신은 제 영어 실력 향상을 돕는 영어 교사입니다."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78110" y="3790593"/>
            <a:ext cx="3268028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피드백 요청: "제 영어 문장에 오류가 있으면 교정해주고, 더 나은 표현을 추천해주세요."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878109" y="4842153"/>
            <a:ext cx="336188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연습 방법: "추천 문장을 반복하게 해서 연습할 수 있도록 해주세요."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93790" y="5903714"/>
            <a:ext cx="7556421" cy="1625203"/>
          </a:xfrm>
          <a:prstGeom prst="roundRect">
            <a:avLst>
              <a:gd name="adj" fmla="val 188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997863" y="610778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시연 영상 활용</a:t>
            </a:r>
            <a:endParaRPr lang="en-US" sz="2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95827" y="6630709"/>
            <a:ext cx="714827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en-US" altLang="ko-KR" sz="14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https://www.youtube.com/watch?v=XOOJqsQXRTU&amp;ab_channel=Yong-JikLee</a:t>
            </a:r>
            <a:endParaRPr lang="en-US" altLang="ko-KR"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5196" y="483394"/>
            <a:ext cx="3698558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5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디지털 휴먼과의 영어 대화 연습</a:t>
            </a:r>
            <a:endParaRPr lang="en-US" sz="25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96" y="1068824"/>
            <a:ext cx="3535085" cy="2100143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997" y="840343"/>
            <a:ext cx="4400669" cy="4400669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2909" y="840342"/>
            <a:ext cx="4400669" cy="4400669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615196" y="5923955"/>
            <a:ext cx="1340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SoulMachines에서 제공하는 디지털 휴먼 아바타는 실제 사람과 유사한 표정과 감정 표현을 통해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더욱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실감나는</a:t>
            </a:r>
            <a:b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</a:br>
            <a:endParaRPr lang="en-US" sz="2000" dirty="0">
              <a:solidFill>
                <a:srgbClr val="15213F"/>
              </a:solidFill>
              <a:latin typeface="휴먼엑스포" panose="02030504000101010101" pitchFamily="18" charset="-127"/>
              <a:ea typeface="휴먼엑스포" panose="02030504000101010101" pitchFamily="18" charset="-127"/>
              <a:cs typeface="Roboto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영어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대화 경험을 제공합니다. 학습자는 다양한 아바타 중에서 선택하여 관심 있는 주제에 대해 대화를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나누며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자연</a:t>
            </a:r>
            <a:endParaRPr lang="en-US" sz="2000" dirty="0">
              <a:solidFill>
                <a:srgbClr val="15213F"/>
              </a:solidFill>
              <a:latin typeface="휴먼엑스포" panose="02030504000101010101" pitchFamily="18" charset="-127"/>
              <a:ea typeface="휴먼엑스포" panose="02030504000101010101" pitchFamily="18" charset="-127"/>
              <a:cs typeface="Roboto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sz="2000" dirty="0">
              <a:solidFill>
                <a:srgbClr val="15213F"/>
              </a:solidFill>
              <a:latin typeface="휴먼엑스포" panose="02030504000101010101" pitchFamily="18" charset="-127"/>
              <a:ea typeface="휴먼엑스포" panose="02030504000101010101" pitchFamily="18" charset="-127"/>
              <a:cs typeface="Roboto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스럽게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영어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말하기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능력을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향상시킬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수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있습니다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.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얼굴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표정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,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목소리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톤,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감정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표현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등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비언어적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요소도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함께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학습할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</a:p>
          <a:p>
            <a:pPr marL="0" indent="0" algn="l">
              <a:lnSpc>
                <a:spcPts val="1400"/>
              </a:lnSpc>
              <a:buNone/>
            </a:pPr>
            <a:endParaRPr lang="en-US" sz="2000" dirty="0">
              <a:solidFill>
                <a:srgbClr val="15213F"/>
              </a:solidFill>
              <a:latin typeface="휴먼엑스포" panose="02030504000101010101" pitchFamily="18" charset="-127"/>
              <a:ea typeface="휴먼엑스포" panose="02030504000101010101" pitchFamily="18" charset="-127"/>
              <a:cs typeface="Roboto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수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있어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종합적인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의사소통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능력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개발에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도움이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됩니다</a:t>
            </a: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" pitchFamily="34" charset="-120"/>
              </a:rPr>
              <a:t>.</a:t>
            </a:r>
            <a:endParaRPr lang="en-US" sz="2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846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59631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말하기 연습 활동 안내</a:t>
            </a:r>
            <a:endParaRPr lang="en-US" sz="31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573185"/>
            <a:ext cx="6402348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4100" dirty="0"/>
          </a:p>
        </p:txBody>
      </p:sp>
      <p:sp>
        <p:nvSpPr>
          <p:cNvPr id="5" name="Text 2"/>
          <p:cNvSpPr/>
          <p:nvPr/>
        </p:nvSpPr>
        <p:spPr>
          <a:xfrm>
            <a:off x="3002637" y="429541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소울머신 활용</a:t>
            </a:r>
            <a:endParaRPr lang="en-US" sz="15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4638675"/>
            <a:ext cx="640234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원하는 아바타를 선택하여 영어 회화 연습 영상 녹화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434263" y="3573185"/>
            <a:ext cx="6402348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4100" dirty="0"/>
          </a:p>
        </p:txBody>
      </p:sp>
      <p:sp>
        <p:nvSpPr>
          <p:cNvPr id="8" name="Text 5"/>
          <p:cNvSpPr/>
          <p:nvPr/>
        </p:nvSpPr>
        <p:spPr>
          <a:xfrm>
            <a:off x="9643110" y="429541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Delphi 활용</a:t>
            </a:r>
            <a:endParaRPr lang="en-US" sz="15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34263" y="4638675"/>
            <a:ext cx="640234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실제 음성 대화 진행 및 피드백 받기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93790" y="5448300"/>
            <a:ext cx="6402348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4100" dirty="0"/>
          </a:p>
        </p:txBody>
      </p:sp>
      <p:sp>
        <p:nvSpPr>
          <p:cNvPr id="11" name="Text 8"/>
          <p:cNvSpPr/>
          <p:nvPr/>
        </p:nvSpPr>
        <p:spPr>
          <a:xfrm>
            <a:off x="3002637" y="617053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연습 결과 공유</a:t>
            </a:r>
            <a:endParaRPr lang="en-US" sz="15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93790" y="6513790"/>
            <a:ext cx="640234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녹화된 대화를 분석하고 개선점 찾기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434263" y="5448300"/>
            <a:ext cx="6402348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4100" dirty="0"/>
          </a:p>
        </p:txBody>
      </p:sp>
      <p:sp>
        <p:nvSpPr>
          <p:cNvPr id="14" name="Text 11"/>
          <p:cNvSpPr/>
          <p:nvPr/>
        </p:nvSpPr>
        <p:spPr>
          <a:xfrm>
            <a:off x="9643110" y="617053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피드백 적용</a:t>
            </a:r>
            <a:endParaRPr lang="en-US" sz="15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434263" y="6513790"/>
            <a:ext cx="640234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지적된 부분 반복 연습으로 향상시키기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93790" y="6946463"/>
            <a:ext cx="130428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소울머신(</a:t>
            </a:r>
            <a:r>
              <a:rPr lang="en-US" sz="125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https://www.soulmachines.com/</a:t>
            </a: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)과 Delphi(</a:t>
            </a:r>
            <a:r>
              <a:rPr lang="en-US" sz="125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https://www.delphi.ai/browse</a:t>
            </a: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)를 활용한 말하기 연습은 학생들이 실제 대화 상황과 유사한 환경에서 부담 없이 영어를 사용할 수 있는 기회를 제공합니다. 실제 활용 방법은 시연 영상(</a:t>
            </a:r>
            <a:r>
              <a:rPr lang="en-US" sz="125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https://youtu.be/PD1ohC3sots</a:t>
            </a: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)을 통해 확인할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0436"/>
            <a:ext cx="6224230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AI를 활용한 수준별 읽기 학습</a:t>
            </a:r>
            <a:endParaRPr lang="en-US" sz="4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03770" y="1676638"/>
            <a:ext cx="22860" cy="5039439"/>
          </a:xfrm>
          <a:prstGeom prst="roundRect">
            <a:avLst>
              <a:gd name="adj" fmla="val 133954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496110" y="1894761"/>
            <a:ext cx="612338" cy="22860"/>
          </a:xfrm>
          <a:prstGeom prst="roundRect">
            <a:avLst>
              <a:gd name="adj" fmla="val 133954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085588" y="1676638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086" y="1714857"/>
            <a:ext cx="306110" cy="3826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42730" y="174676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원본 텍스트 선택</a:t>
            </a:r>
            <a:endParaRPr lang="en-US" sz="2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3790" y="2188012"/>
            <a:ext cx="5500688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교육 목표와 주제에 맞는 영어 텍스트를 선정합니다. 학생들의 관심사와 교육과정을 고려하여 적절한 자료를 선택합니다.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521952" y="3119557"/>
            <a:ext cx="612338" cy="22860"/>
          </a:xfrm>
          <a:prstGeom prst="roundRect">
            <a:avLst>
              <a:gd name="adj" fmla="val 133954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085588" y="2901434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086" y="2939653"/>
            <a:ext cx="306110" cy="3826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335923" y="297156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학습자 수준 분석</a:t>
            </a:r>
            <a:endParaRPr lang="en-US" sz="2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335923" y="3412807"/>
            <a:ext cx="5500688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학습자의 영어 능력을 CEFR(유럽 공통 언어 참조 기준) 수준으로 평가하고 분류합니다. A1부터 C2까지 다양한 수준의 학습자 그룹을 파악합니다.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96110" y="4175284"/>
            <a:ext cx="612338" cy="22860"/>
          </a:xfrm>
          <a:prstGeom prst="roundRect">
            <a:avLst>
              <a:gd name="adj" fmla="val 133954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7085588" y="3957161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2086" y="3995380"/>
            <a:ext cx="306110" cy="3826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16417" y="4027289"/>
            <a:ext cx="257806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AI를 활용한 텍스트 변형</a:t>
            </a:r>
            <a:endParaRPr lang="en-US" sz="2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793790" y="4468535"/>
            <a:ext cx="5500688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ChatGPT나 기타 AI 도구를 활용하여 원본 텍스트를 각 </a:t>
            </a:r>
            <a:r>
              <a:rPr lang="en-US" sz="16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수준</a:t>
            </a:r>
            <a:endParaRPr lang="en-US" sz="16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(A1, A2, B1, B2, C1, C2)에 맞게 변형합니다. 어휘와 문장 구조의 복잡성을 조절합니다.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521952" y="5231011"/>
            <a:ext cx="612338" cy="22860"/>
          </a:xfrm>
          <a:prstGeom prst="roundRect">
            <a:avLst>
              <a:gd name="adj" fmla="val 133954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7085588" y="5012888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/>
          <p:nvPr/>
        </p:nvSpPr>
        <p:spPr>
          <a:xfrm>
            <a:off x="7162086" y="5051108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8335923" y="508301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수준별 학습 활동 설계</a:t>
            </a:r>
            <a:endParaRPr lang="en-US" sz="2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8335923" y="5524262"/>
            <a:ext cx="5500688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각 수준에 맞는 읽기 이해 문제, 어휘 학습 활동, 토론 질문 등을 개발합니다. 동일한 내용이지만 난이도가 다른 활동을 제공합니다.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431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효과적인 읽기 교육 전략</a:t>
            </a:r>
            <a:endParaRPr lang="en-US" sz="44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69211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2485906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어휘력 향상 활동</a:t>
            </a:r>
            <a:endParaRPr lang="en-US" sz="2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6" name="Text 2"/>
          <p:cNvSpPr/>
          <p:nvPr/>
        </p:nvSpPr>
        <p:spPr>
          <a:xfrm>
            <a:off x="793790" y="2976324"/>
            <a:ext cx="3503425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단어 게임, 플래시카드, 퀴즈 등을 통해 어휘력을 확장합니다. 더 많은 단어를 이해하면 자연스럽게 읽기 이해력이 향상됩니다. AI는 학습자의 현재 어휘 수준을 분석하고 적절한 새 단어를 제안할 수 있습니다.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6827" y="1703427"/>
            <a:ext cx="566976" cy="5669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10639" y="2485906"/>
            <a:ext cx="336834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다중모드 텍스트 활용</a:t>
            </a:r>
            <a:endParaRPr lang="en-US" sz="2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0" name="Text 5"/>
          <p:cNvSpPr/>
          <p:nvPr/>
        </p:nvSpPr>
        <p:spPr>
          <a:xfrm>
            <a:off x="5110639" y="3157775"/>
            <a:ext cx="3503425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그래프, 차트, 이미지, 글 등 다양한 정보 모드가 포함된 텍스트를 활용합니다. 이는 학생들이 다양한 유형의 데이터를 해석하는 능력을 기르고 종합적인 이해력을 향상시킵니다.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8631" y="376118"/>
            <a:ext cx="2832973" cy="277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5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CEFR 수준별 맞춤형 읽기 자료</a:t>
            </a:r>
            <a:endParaRPr lang="en-US" sz="25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0" y="831652"/>
            <a:ext cx="11865769" cy="67858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8631" y="8795385"/>
            <a:ext cx="13673138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유럽 공통 언어 참조 기준(CEFR)은 언어 능력을 평가하는 국제적 기준으로, A1(초급)부터 C2(최고급)까지 여섯 단계로 구분됩니다. AI를 활용하면 동일한 내용의 텍스트를 각 CEFR 수준에 맞게 변형하여 학습자 수준에 적합한 난이도의 읽기 자료를 제공할 수 있습니다. 이를 통해 모든 학습자가 자신의 수준에서 성공적인 학습 경험을 할 수 있습니다.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2167"/>
            <a:ext cx="80997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AI를 활용한 읽기 지문 난이도 조절</a:t>
            </a:r>
            <a:endParaRPr lang="en-US" sz="4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4179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원본 텍스트 (C1 수준)</a:t>
            </a:r>
            <a:endParaRPr lang="en-US" sz="2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999065"/>
            <a:ext cx="6375937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unprecedented proliferation of digital technology has fundamentally transformed the landscape of modern education, precipitating a paradigm shift in pedagogical methodologies. Educational institutions are increasingly integrating sophisticated technological tools to enhance learning outcomes and prepare students for the exigencies of a rapidly evolving global marketplace.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417921"/>
            <a:ext cx="28953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AI 변형 텍스트 (B1 수준)</a:t>
            </a:r>
            <a:endParaRPr lang="en-US" sz="2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99521" y="2999065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big growth of digital technology has really changed modern education, creating a big shift in teaching methods. Schools are now using more and more technology tools to help students learn better and get ready for the changing global job market.</a:t>
            </a:r>
            <a:endParaRPr lang="en-US" sz="1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45319"/>
            <a:ext cx="5315426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AI를 활용한 영작문 피드백</a:t>
            </a:r>
            <a:endParaRPr lang="en-US" sz="37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1536978"/>
            <a:ext cx="144542" cy="1033582"/>
          </a:xfrm>
          <a:prstGeom prst="roundRect">
            <a:avLst>
              <a:gd name="adj" fmla="val 2000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1227534" y="153697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영작문 작성</a:t>
            </a:r>
            <a:endParaRPr lang="en-US" sz="18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1227534" y="1953816"/>
            <a:ext cx="712267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학생들이 주제에 맞는 영작문을 작성합니다. 이 단계에서는 자유롭게 자신의 생각을 영어로 표현하도록 합니다.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082993" y="2763322"/>
            <a:ext cx="144542" cy="1033582"/>
          </a:xfrm>
          <a:prstGeom prst="roundRect">
            <a:avLst>
              <a:gd name="adj" fmla="val 2000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1516737" y="276332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AI 도구 활용 피드백</a:t>
            </a:r>
            <a:endParaRPr lang="en-US" sz="18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1516737" y="3180159"/>
            <a:ext cx="6833473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Grammarly, Quillbot 등의 AI 도구를 활용하여 작성한 영작문의 문법, 어휘, 표현 등을 검토하고 개선점을 파악합니다.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72195" y="3989665"/>
            <a:ext cx="144542" cy="1033582"/>
          </a:xfrm>
          <a:prstGeom prst="roundRect">
            <a:avLst>
              <a:gd name="adj" fmla="val 2000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805940" y="398966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수정 및 개선</a:t>
            </a:r>
            <a:endParaRPr lang="en-US" sz="18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805940" y="4406503"/>
            <a:ext cx="6544270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AI의 피드백을 바탕으로 영작문을 수정하고 개선합니다. 이 과정에서 자신의 오류 패턴을 인식하고 학습할 수 있습니다.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661398" y="5216009"/>
            <a:ext cx="144542" cy="1033582"/>
          </a:xfrm>
          <a:prstGeom prst="roundRect">
            <a:avLst>
              <a:gd name="adj" fmla="val 2000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2095143" y="521600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교</a:t>
            </a:r>
            <a:r>
              <a:rPr lang="ko-KR" altLang="en-US" sz="18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수자</a:t>
            </a:r>
            <a:r>
              <a:rPr lang="en-US" sz="18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 피드백 및 평가</a:t>
            </a:r>
            <a:endParaRPr lang="en-US" sz="18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095143" y="5632847"/>
            <a:ext cx="625506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최종적으로 교사의 피드백을 통해 AI가 잡아내지 못한 부분이나 내용의 논리성, 창의성 등을 평가받습니다.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241" y="619958"/>
            <a:ext cx="5498187" cy="63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효과적인 </a:t>
            </a:r>
            <a:r>
              <a:rPr lang="en-US" sz="3950" dirty="0" err="1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영작문</a:t>
            </a:r>
            <a:r>
              <a:rPr lang="en-US" sz="395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 </a:t>
            </a:r>
            <a:r>
              <a:rPr lang="ko-KR" altLang="en-US" sz="395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피드백</a:t>
            </a:r>
            <a:endParaRPr lang="en-US" sz="39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41" y="1657350"/>
            <a:ext cx="4036457" cy="209895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7241" y="3983950"/>
            <a:ext cx="4217075" cy="3625691"/>
          </a:xfrm>
          <a:prstGeom prst="roundRect">
            <a:avLst>
              <a:gd name="adj" fmla="val 83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989648" y="4186357"/>
            <a:ext cx="2812018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문장 틀과 문장 시작어 활용</a:t>
            </a:r>
            <a:endParaRPr lang="en-US" sz="19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989648" y="4624149"/>
            <a:ext cx="3812262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창의적이고 사고를 자극하는 글쓰기 프롬프트를 제공하여 아이디어 생성과 글쓰기 연습을 장려합니다. 문장 시작어(Sentence Starters)는 학생들이 글을 시작하는 데 도움을 주고, 다양한 문장 구조를 학습하는 데 효과적입니다.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89529" y="6766711"/>
            <a:ext cx="381226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학생 수준에 맞는 맞춤형 문장 틀 제공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206722" y="3983950"/>
            <a:ext cx="4217075" cy="3625691"/>
          </a:xfrm>
          <a:prstGeom prst="roundRect">
            <a:avLst>
              <a:gd name="adj" fmla="val 83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409128" y="4186357"/>
            <a:ext cx="2530673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글쓰기 저널 활용</a:t>
            </a:r>
            <a:endParaRPr lang="en-US" sz="19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409128" y="4624149"/>
            <a:ext cx="381226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정기적인 글쓰기 연습을 장려하기 위해 저널을 활용합니다. 저널은 비공식적인 글쓰기 공간으로, 학생들이 자신의 목소리와 유창성을 발전시키는 데 도움이 됩니다.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409128" y="6040993"/>
            <a:ext cx="381226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도구로 저널 작성에 대한 즉각적 피드백 제공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409128" y="6759535"/>
            <a:ext cx="381226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정기적인 글쓰기 습관 형성 지원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9626203" y="3983950"/>
            <a:ext cx="4217075" cy="3625691"/>
          </a:xfrm>
          <a:prstGeom prst="roundRect">
            <a:avLst>
              <a:gd name="adj" fmla="val 83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9828609" y="4186357"/>
            <a:ext cx="2530673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연구 기술 교육</a:t>
            </a:r>
            <a:endParaRPr lang="en-US" sz="19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828609" y="4624149"/>
            <a:ext cx="381226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정보를 찾는 방법, 출처의 신뢰성을 평가하는 방법, 올바르게 인용하는 방법 등 연구 기술을 가르칩니다. 이는 학술적 글쓰기의 기초가 되는 중요한 능력입니다.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9828609" y="6040993"/>
            <a:ext cx="381226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AI를 활용한 신뢰할 수 있는 정보 소스 식별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9828609" y="6759535"/>
            <a:ext cx="381226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올바른 인용 방법 학습 및 연습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4607" y="522803"/>
            <a:ext cx="457616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Quillbot을 활용한 영작문 향상 활동</a:t>
            </a:r>
            <a:endParaRPr lang="en-US" sz="24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07" y="1155382"/>
            <a:ext cx="3085862" cy="19071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04655" y="1348263"/>
            <a:ext cx="154293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3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문법 오류 검사</a:t>
            </a:r>
            <a:endParaRPr lang="en-US" sz="3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3904655" y="1708806"/>
            <a:ext cx="100611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Quillbot의 온라인 교정 도구를 활용하여 자신이 작성한 영작문의 문법, 철자, 구두점 등의 오류를 확인합니다. </a:t>
            </a:r>
          </a:p>
          <a:p>
            <a:pPr marL="0" indent="0" algn="l">
              <a:lnSpc>
                <a:spcPts val="1550"/>
              </a:lnSpc>
              <a:buNone/>
            </a:pPr>
            <a:endParaRPr lang="en-US" sz="15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 과정에서 자주 범하는 실수 패턴을 파악하고 개선할 수 있습니다.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07" y="3309342"/>
            <a:ext cx="3085862" cy="19071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04654" y="3507256"/>
            <a:ext cx="154293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3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바꿔쓰기 연습</a:t>
            </a:r>
            <a:endParaRPr lang="en-US" sz="3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3904655" y="4016037"/>
            <a:ext cx="100611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Quillbot의 패러프레이징 기능을 활용하여 같은 의미를 다양한 표현으로 바꿔쓰는 연습을 합니다. </a:t>
            </a:r>
          </a:p>
          <a:p>
            <a:pPr marL="0" indent="0" algn="l">
              <a:lnSpc>
                <a:spcPts val="1550"/>
              </a:lnSpc>
              <a:buNone/>
            </a:pPr>
            <a:endParaRPr lang="en-US" sz="15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5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이를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통해 어휘력과 표현력이 향상되고, 영어의 다양한 문장 구조를 익힐 수 있습니다.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07" y="5463302"/>
            <a:ext cx="3085862" cy="19071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04655" y="5769469"/>
            <a:ext cx="154293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3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피드백 분석 및 적용</a:t>
            </a:r>
            <a:endParaRPr lang="en-US" sz="3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1" name="Text 6"/>
          <p:cNvSpPr/>
          <p:nvPr/>
        </p:nvSpPr>
        <p:spPr>
          <a:xfrm>
            <a:off x="3904654" y="6282894"/>
            <a:ext cx="100611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AI가 제공한 피드백을 분석하고 이를 자신의 글쓰기에 적용합니다. </a:t>
            </a:r>
          </a:p>
          <a:p>
            <a:pPr marL="0" indent="0" algn="l">
              <a:lnSpc>
                <a:spcPts val="1550"/>
              </a:lnSpc>
              <a:buNone/>
            </a:pPr>
            <a:endParaRPr lang="en-US" sz="15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5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단순히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오류를 수정하는 것을 넘어, 왜 그러한 수정이 필요한지 이해하고 학습하는 과정이 중요합니다.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0249"/>
            <a:ext cx="70440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Deepfake 기술의 교육적 활용</a:t>
            </a:r>
            <a:endParaRPr lang="en-US" sz="44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316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HeyGen 활용 가이드</a:t>
            </a:r>
            <a:endParaRPr lang="en-US" sz="2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89714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HeyGen은 AI를 활용한 비디오 생성 도구로, 교육용 콘텐츠 제작에 활용할 수 있습니다. 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270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텍스트를 자연스러운 영상으로 변환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2692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다양한 언어로 더빙 가능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7114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커스텀 아바타 생성 및 활용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27839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https://www.heygen.com/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2316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교육적 활용 사례</a:t>
            </a:r>
            <a:endParaRPr lang="en-US" sz="2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9521" y="289714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Deepfake 기술의 교육적 활용 사례와 관련 자료를 확인할 수 있습니다: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38270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한글 설명 녹화본: </a:t>
            </a:r>
            <a:r>
              <a:rPr lang="en-US" sz="175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녹화본 보기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2692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영어 변환 사례: </a:t>
            </a:r>
            <a:r>
              <a:rPr lang="en-US" sz="175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영어 변환 예시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47114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다양한 언어 학습 자료 제작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51536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학생 참여형 프로젝트 활동</a:t>
            </a:r>
            <a:endParaRPr lang="en-US" sz="1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7306"/>
            <a:ext cx="69155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AI를 활용한 영어 학습의 효과</a:t>
            </a:r>
            <a:endParaRPr lang="en-US" sz="44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46971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2512219"/>
            <a:ext cx="340162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25475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학습 불안감 감소</a:t>
            </a:r>
            <a:endParaRPr lang="en-US" sz="2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1530906" y="3037999"/>
            <a:ext cx="3421499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AI와 대화하는 환경은 학생들의 심리적 부담을 줄여줍니다. "AI랑 말하는 거라 부끄럽지 않아서 좋음", "혼자서 부끄럽지 않게 공부할 수 있었다", "상대가 AI라서 부담이 없었다"와 같은 학생들의 피드백은 AI 환경이 언어 학습 불안을 효과적으로 감소시킴을 보여줍니다.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35893" y="246971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963" y="2512219"/>
            <a:ext cx="340162" cy="4252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73008" y="25475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즉각적인 피드백</a:t>
            </a:r>
            <a:endParaRPr lang="en-US" sz="2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973008" y="3037999"/>
            <a:ext cx="342149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AI는 학습자에게 실시간으로 피드백을 제공합니다. "실시간으로 피드백 받을 수 있어서 좋았고, 발음 교정까지 해주어서 영어학습에 효과적이라고 생각했다"라는 의견은 AI의 즉각적인 피드백 기능이 학습 효과를 높인다는 것을 보여줍니다.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77995" y="246971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3065" y="2512219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15111" y="25475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자신감 향상</a:t>
            </a:r>
            <a:endParaRPr lang="en-US" sz="2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0415111" y="3037999"/>
            <a:ext cx="342149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AI와의 반복적인 연습을 통해 학생들은 영어 사용에 자신감을 얻게 됩니다. "자신감이 없을 때 사용하기 좋다"는 의견은 AI가 학습자의 자신감 형성에 기여함을 시사합니다. 이러한 자신감은 실제 의사소통 상황에서도 긍정적인 영향을 미칩니다.</a:t>
            </a:r>
            <a:endParaRPr lang="en-US" sz="1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0083"/>
            <a:ext cx="6693813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영작문 학습에서의 AI 활용 효과</a:t>
            </a:r>
            <a:endParaRPr lang="en-US" sz="4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706285"/>
            <a:ext cx="3759637" cy="2323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28505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문법 및 표현 향상</a:t>
            </a:r>
            <a:endParaRPr lang="en-US" sz="2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726305"/>
            <a:ext cx="4177427" cy="1960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"영어로 쓰면 내가 쓰고 있는 문장이 정확한지 의문이 들었는데 이를 고칠 수 있어서 좋았다", "영어로 글을 쓸 때 문법이나 단어선택에 어려움이 있었는데 그런 부분들을 고쳐주어서 유용했다"와 같은 의견은 AI가 문법적 정확성과 표현력 향상에 도움을 준다는 것을 보여줍니다.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6368" y="1706285"/>
            <a:ext cx="3759756" cy="23236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6368" y="428505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심리적 부담 감소</a:t>
            </a:r>
            <a:endParaRPr lang="en-US" sz="2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5226368" y="4726305"/>
            <a:ext cx="4177546" cy="1960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"단지 영작문을 하는 데 AI를 사용한 적은 없지만, 영작문의 프레임을 다 형성하고 나면서 생기는 오점으로 인한 긴장과 부담을 Grammarly가 대신 덜어줄 수 있는데, 틀린 점과 수정보완할 점을 표시하여 방안을 제시해주니, 이는 문법 입문자가 쉽게 다가갈 수 있는 생성형 AI라 생각한다."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9064" y="1706285"/>
            <a:ext cx="3759637" cy="23236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59064" y="428505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비판적 사고 능력 발달</a:t>
            </a:r>
            <a:endParaRPr lang="en-US" sz="2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659064" y="4726305"/>
            <a:ext cx="4177427" cy="1633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"정보의 정확성에 대해 의심하게되지만 전체적인 흐름을 잡고자 할 때에는 유용하다고 생각"이라는 의견은 학생들이 AI의 제안을 무조건 수용하지 않고 비판적으로 평가하는 능력을 기르고 있음을 보여줍니다.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34854"/>
            <a:ext cx="6074331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AI 활용 과제의 평가와 검증</a:t>
            </a:r>
            <a:endParaRPr lang="en-US" sz="4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1731407"/>
            <a:ext cx="7556421" cy="3796903"/>
          </a:xfrm>
          <a:prstGeom prst="roundRect">
            <a:avLst>
              <a:gd name="adj" fmla="val 85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801410" y="1739027"/>
            <a:ext cx="7540347" cy="6184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1017627" y="1875830"/>
            <a:ext cx="207859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검증 도구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3534608" y="1875830"/>
            <a:ext cx="207478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주요 기능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047780" y="1875830"/>
            <a:ext cx="207859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활용 방법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801410" y="2357438"/>
            <a:ext cx="7540347" cy="9632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017627" y="2494240"/>
            <a:ext cx="207859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카피킬러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3534608" y="2494240"/>
            <a:ext cx="207478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표절 검사 및 유사도 분석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047780" y="2494240"/>
            <a:ext cx="207859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출처</a:t>
            </a: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확인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801410" y="3320653"/>
            <a:ext cx="7540347" cy="6184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1017627" y="3457456"/>
            <a:ext cx="207859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GPT 감지 도구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3534608" y="3457456"/>
            <a:ext cx="207478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생성 텍스트 탐지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047780" y="3457456"/>
            <a:ext cx="207859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작성 여부 확인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801410" y="3939064"/>
            <a:ext cx="7540347" cy="61841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1017627" y="4075867"/>
            <a:ext cx="207859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통합 검증 시스템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3534608" y="4075867"/>
            <a:ext cx="207478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다중 검증 방식 적용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047780" y="4075867"/>
            <a:ext cx="207859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종합적인 진위 판단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801410" y="4557474"/>
            <a:ext cx="7540347" cy="9632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1017627" y="4694277"/>
            <a:ext cx="207859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과정 중심 평가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3534608" y="4694277"/>
            <a:ext cx="207478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작성 과정 모니터링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6047780" y="4694277"/>
            <a:ext cx="207859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단계별 작업 확인 및 평가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669" y="615791"/>
            <a:ext cx="4758333" cy="594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질의응답 시간</a:t>
            </a:r>
            <a:endParaRPr lang="en-US" sz="37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69" y="1591270"/>
            <a:ext cx="1094423" cy="10944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3669" y="3090029"/>
            <a:ext cx="2379107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주요 발표 내용 요약</a:t>
            </a:r>
            <a:endParaRPr lang="en-US" sz="18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3669" y="3577590"/>
            <a:ext cx="6299359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생성형 AI를 활용한 영어 교육의 혁신적 방법 소개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83669" y="3948708"/>
            <a:ext cx="6299359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듣기, 말하기, 읽기, 쓰기 영역별 AI 활용 전략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83669" y="4319826"/>
            <a:ext cx="6299359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다양한 AI 도구와 플랫폼의 교육적 활용 사례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83669" y="4690943"/>
            <a:ext cx="6299359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학생들의 실제 피드백을 통한 효과성 검증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83669" y="5062061"/>
            <a:ext cx="6299359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활용 과제의 평가와 검증 방법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554992" y="3090029"/>
            <a:ext cx="2379107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 err="1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향후</a:t>
            </a:r>
            <a:r>
              <a:rPr lang="en-US" sz="185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 </a:t>
            </a:r>
            <a:r>
              <a:rPr lang="ko-KR" altLang="en-US" sz="185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학습</a:t>
            </a:r>
            <a:r>
              <a:rPr lang="en-US" sz="1850" dirty="0">
                <a:solidFill>
                  <a:srgbClr val="3257B8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Roboto Slab" pitchFamily="34" charset="-120"/>
              </a:rPr>
              <a:t> 방향</a:t>
            </a:r>
            <a:endParaRPr lang="en-US" sz="185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554992" y="3577590"/>
            <a:ext cx="6299359" cy="913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기술은 계속 발전하고 있으며, 교육자는 이러한 도구를 적절히 활용하여 학생들의 학습 경험을 풍부하게 할 수 있습니다. 중요한 것은 기술에 의존하기보다는 교육적 목표와 학습자 중심의 접근을 유지하는 것입니다.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554992" y="4662488"/>
            <a:ext cx="6299359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여러분의 질문과 의견을 환영합니다. 발표 내용과 관련하여 궁금한 점이 있으시면 편하게 질문해 주시기 바랍니다.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2440</Words>
  <Application>Microsoft Office PowerPoint</Application>
  <PresentationFormat>사용자 지정</PresentationFormat>
  <Paragraphs>284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4" baseType="lpstr">
      <vt:lpstr>Roboto Slab</vt:lpstr>
      <vt:lpstr>휴먼엑스포</vt:lpstr>
      <vt:lpstr>Arial</vt:lpstr>
      <vt:lpstr>Roboto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이용직</cp:lastModifiedBy>
  <cp:revision>9</cp:revision>
  <dcterms:created xsi:type="dcterms:W3CDTF">2025-06-09T11:15:14Z</dcterms:created>
  <dcterms:modified xsi:type="dcterms:W3CDTF">2025-06-09T11:39:49Z</dcterms:modified>
</cp:coreProperties>
</file>