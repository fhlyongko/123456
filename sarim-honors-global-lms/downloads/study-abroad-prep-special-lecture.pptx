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</p:sldIdLst>
  <p:sldSz cx="14630400" cy="8229600"/>
  <p:notesSz cx="8229600" cy="14630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27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yongjiklee@changwon.ac.kr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103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대학원생을</a:t>
            </a: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위한 유학 컨설팅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681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사림아너스</a:t>
            </a:r>
            <a:r>
              <a:rPr lang="ko-KR" alt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학부 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이용직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오늘은 여러분의 해외 유학 준비와 경험에 대한 실질적인 정보를 공유하려 합니다.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1042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이메일: 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4"/>
              </a:rPr>
              <a:t>yongjiklee</a:t>
            </a:r>
            <a:r>
              <a:rPr lang="en-US" sz="17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4"/>
              </a:rPr>
              <a:t>@changwon.ac.kr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8446"/>
            <a:ext cx="77023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들어가며: 유학을 왜 가야 할까요?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060853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676882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287667"/>
            <a:ext cx="23010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개인적 동기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2778085"/>
            <a:ext cx="23010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나만의 이유는 무엇인가?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380899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3424476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3878580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3651290"/>
            <a:ext cx="2774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학습 목표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141708"/>
            <a:ext cx="27740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무엇을 정확히 배우고 싶은가?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4744522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4788098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242203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014913"/>
            <a:ext cx="23569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경험 욕구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5505331"/>
            <a:ext cx="2356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어떤 경험을 하고 싶은가?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3501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투자 대비 결과물이 맞는지 냉철하게 판단해 보세요.</a:t>
            </a:r>
            <a:endParaRPr lang="en-US" sz="1750" dirty="0"/>
          </a:p>
        </p:txBody>
      </p:sp>
      <p:sp>
        <p:nvSpPr>
          <p:cNvPr id="18" name="Text 10"/>
          <p:cNvSpPr/>
          <p:nvPr/>
        </p:nvSpPr>
        <p:spPr>
          <a:xfrm>
            <a:off x="793790" y="69682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시간과 돈을 들여 가는 것이 의미 있는지 스스로에게 질문하세요.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08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유학을 결심하게 된 동기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2479834"/>
            <a:ext cx="30480" cy="370082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273612" y="271974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93790" y="24798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522339"/>
            <a:ext cx="340162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83011" y="25577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외국어 고등학교 영어과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183011" y="3048119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전세계 사람들과 영어로 의사소통하는 게 멋져 보였습니다.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273612" y="410456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93790" y="38646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3907155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83011" y="3942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대학 진학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2183011" y="4432935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실용영어에 관심이 있어 영어학과로 진학했습니다.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1273612" y="548937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793790" y="52494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291971"/>
            <a:ext cx="340162" cy="4252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83011" y="5327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진로 모색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2183011" y="5817751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영어 전문가로서의 미래를 그리기 시작했습니다.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793790" y="64358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스토리텔링의 시작은 바로 여러분 자신의 이야기입니다.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91733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학부생활 중 경험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388287"/>
            <a:ext cx="4347567" cy="8618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9174" y="557331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영어 실력 향상 욕구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009174" y="6039088"/>
            <a:ext cx="3916799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영어를 더 잘하고 싶다는 열망이 생겼습니다.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4388287"/>
            <a:ext cx="4347567" cy="8618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56741" y="557331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호주 단기 연수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356741" y="6039088"/>
            <a:ext cx="391679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모나쉬 대학에서 1달간 언어 연수 프로그램에 참여했습니다.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4388287"/>
            <a:ext cx="4347567" cy="8618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04308" y="557331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깨달음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704308" y="6039088"/>
            <a:ext cx="391679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영어 전공자로서 더 높은 수준의 실력이 필요함을 깨달았습니다.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93790" y="7186493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단기 연수는 더 깊은 학습에 대한 열망을 불러일으켰습니다.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5799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학원에서의 강사 경험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1619845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491883" y="183153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대학 졸업 후 진로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91883" y="2272784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학원에서 중고등학생 대상으로 내신, 수능 강의를 진행했습니다.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80190" y="3015258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91883" y="32269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한계 인식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91883" y="3668197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시험만 가르치는 영어교육에 한계를 느꼈습니다.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80190" y="4410670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91883" y="462236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새로운 목표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91883" y="5063609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영어로 진행하는 원어수업 능력을 향상시키고 싶었습니다.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0190" y="5806083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91883" y="601777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유학 결심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91883" y="6459022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제대로 배우기 위해 유학을 결심했고 부모님 설득이 필요했습니다.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80190" y="7226975"/>
            <a:ext cx="75564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교육 현장의 경험이 유학의 구체적인 필요성을 일깨웠습니다.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83756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석사 유학 준비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5026700"/>
            <a:ext cx="4132183" cy="215384"/>
          </a:xfrm>
          <a:prstGeom prst="roundRect">
            <a:avLst>
              <a:gd name="adj" fmla="val 4202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793790" y="556521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유학원 방문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6030992"/>
            <a:ext cx="41321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서울 소재 유학원을 방문하여 테솔학과 정보를 수집했습니다.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3790" y="6849785"/>
            <a:ext cx="41321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필요한 최소 토플 점수(100점/120점)를 확인했습니다.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249108" y="4703445"/>
            <a:ext cx="4132183" cy="215384"/>
          </a:xfrm>
          <a:prstGeom prst="roundRect">
            <a:avLst>
              <a:gd name="adj" fmla="val 4202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49108" y="524196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어학 준비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249108" y="5707737"/>
            <a:ext cx="41321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어학원 토플강좌에 등록하고 3개월간 고시원에 머물며 공부했습니다.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704427" y="4380309"/>
            <a:ext cx="4132183" cy="215384"/>
          </a:xfrm>
          <a:prstGeom prst="roundRect">
            <a:avLst>
              <a:gd name="adj" fmla="val 4202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704427" y="491882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학교 선택 기준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704427" y="5384602"/>
            <a:ext cx="41321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학비가 저렴한 주립대학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704427" y="5804773"/>
            <a:ext cx="41321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결과를 빠르게 알려주는 대학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704427" y="6224945"/>
            <a:ext cx="41321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지원 자격 확인(교육 경험 요구사항)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704427" y="6645116"/>
            <a:ext cx="413218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조용한 도시 선호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4963"/>
            <a:ext cx="53347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유학준비 = 토플공부 시작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0190" y="1701046"/>
            <a:ext cx="3625096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5300" dirty="0"/>
          </a:p>
        </p:txBody>
      </p:sp>
      <p:sp>
        <p:nvSpPr>
          <p:cNvPr id="5" name="Text 2"/>
          <p:cNvSpPr/>
          <p:nvPr/>
        </p:nvSpPr>
        <p:spPr>
          <a:xfrm>
            <a:off x="6816804" y="26297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집중 공부 기간(월)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280190" y="3070979"/>
            <a:ext cx="362509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서울 유학원에서 3개월간 집중적으로 토플 공부를 했습니다.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11395" y="1701046"/>
            <a:ext cx="362521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6-12</a:t>
            </a:r>
            <a:endParaRPr lang="en-US" sz="5300" dirty="0"/>
          </a:p>
        </p:txBody>
      </p:sp>
      <p:sp>
        <p:nvSpPr>
          <p:cNvPr id="8" name="Text 5"/>
          <p:cNvSpPr/>
          <p:nvPr/>
        </p:nvSpPr>
        <p:spPr>
          <a:xfrm>
            <a:off x="10748129" y="26297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개인차 기간(월)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211395" y="3070979"/>
            <a:ext cx="3625215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영어 능력에 따라 6개월에서 1년까지 소요될 수 있습니다.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45793" y="4438769"/>
            <a:ext cx="3625096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100</a:t>
            </a:r>
            <a:endParaRPr lang="en-US" sz="5300" dirty="0"/>
          </a:p>
        </p:txBody>
      </p:sp>
      <p:sp>
        <p:nvSpPr>
          <p:cNvPr id="11" name="Text 8"/>
          <p:cNvSpPr/>
          <p:nvPr/>
        </p:nvSpPr>
        <p:spPr>
          <a:xfrm>
            <a:off x="8782407" y="536745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목표 토플 점수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45793" y="5808702"/>
            <a:ext cx="362509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석사 과정 지원을 위한 최소 토플 점수(120점 만점)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80190" y="6691670"/>
            <a:ext cx="75564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어학원 풀패키지를 통해 공부에만 집중했습니다.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80190" y="7247930"/>
            <a:ext cx="75564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선택과 집중의 원칙이 중요합니다.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846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혼자 준비하는 방법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7335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1776055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1811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학업계획서(SOP) 작성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230183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스토리텔링이 필요하며 AI 도구(그래머리, ChatGPT)의 도움을 받을 수 있습니다.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3523774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학교 및 전공 조사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0173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각 대학 홈페이지에서 전공 및 학과 정보를 검색하세요.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4908590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교수 연락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543437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담당/지도교수에게 연락하여 신입생 모집 여부와 장학금 기회를 확인하세요.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6280190" y="66138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5260" y="6656308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17306" y="6691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장학금 확인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7017306" y="71820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박사과정의 경우 TA/RA 기회가 있는지 직접 이메일로 문의하세요.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5623798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석사 프로그램 중 경험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61" y="1915954"/>
            <a:ext cx="3125153" cy="312515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917" y="1915954"/>
            <a:ext cx="3125272" cy="312527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092" y="1915954"/>
            <a:ext cx="3125272" cy="312527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0267" y="1915954"/>
            <a:ext cx="3125272" cy="312527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87241" y="5439013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전공: Teaching English as a Second Language (티솔_TESL)</a:t>
            </a:r>
            <a:endParaRPr lang="en-US" sz="1750" dirty="0"/>
          </a:p>
        </p:txBody>
      </p:sp>
      <p:sp>
        <p:nvSpPr>
          <p:cNvPr id="8" name="Text 2"/>
          <p:cNvSpPr/>
          <p:nvPr/>
        </p:nvSpPr>
        <p:spPr>
          <a:xfrm>
            <a:off x="787241" y="6051828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책에서만 보던 유명 학자들을 직접 만날 수 있었습니다.</a:t>
            </a:r>
            <a:endParaRPr lang="en-US" sz="1750" dirty="0"/>
          </a:p>
        </p:txBody>
      </p:sp>
      <p:sp>
        <p:nvSpPr>
          <p:cNvPr id="9" name="Text 3"/>
          <p:cNvSpPr/>
          <p:nvPr/>
        </p:nvSpPr>
        <p:spPr>
          <a:xfrm>
            <a:off x="787241" y="6664643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처음으로 영어 논문을 작성해보는 값진 경험을 했습니다.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787241" y="7277457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시카고, 세인트루이스, 신시내티 등 주변 도시를 여행하며 MLB 경기도 관람했습니다.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68774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석사 프로그램 중 고민 및 경험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7339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한국 커뮤니티 활동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24332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유학 초기 정착을 위한 도움이 필요합니다.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2867501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55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균형 찾기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042880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한국인과 너무 가깝게 지내면 영어 향상이 어렵습니다.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256002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186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국제 교류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676900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비한국인 친구들과의 교류가 필요합니다.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481876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005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소속감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49544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한국인과 너무 멀어지면 외로움을 느낄 수 있습니다.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093375"/>
            <a:ext cx="339328" cy="4242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주중에는 학교의 비한국인 전공 친구들과, 주말에는 한국 커뮤니티와 함께 시간을 보냈습니다.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772"/>
            <a:ext cx="62322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석사 졸업 후 한국으로 복귀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4179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2458283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230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진로 고민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2721412"/>
            <a:ext cx="38198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박사 진학에 대한 결정이 불확실했습니다.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295888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93790" y="3424476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3878580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36512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대학 강의 시작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141708"/>
            <a:ext cx="44455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강사로 대학에서 교양영어 수업을 진행했습니다.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4716185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93790" y="4844772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298877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0715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연구 관심사 변화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5562005"/>
            <a:ext cx="57233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영어교육에서 이중언어/다언어교육으로 관심이 옮겨갔습니다.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4068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당시 이중언어 교육 분야는 한국에서 초기 단계였습니다(10년 전).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7024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이 경험이 박사 진학에 대한 진지한 고민으로 이어졌습니다.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28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박사 준비 과정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8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준비 방법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497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석사 경험으로 유학원 방문 불필요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19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토플 성적은 석사 유학으로 면제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41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스스로 대학과 전공 검색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636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석사 친구들에게 대학 추천받음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268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GRE 준비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8497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박사 진학을 위해 GRE 성적이 필요했습니다.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4167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1달간 GRE 학원을 다니며 성적을 획득했습니다.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9837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당시 GRE가 현재보다 쉬웠다고 합니다.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8737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석사 경험으로 박사 지원 과정은 더 수월했습니다.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40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박사 학교 선택 기준사항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564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398996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대학 랭킹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924776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R1 연구중심 대학인지 확인하세요.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33564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63" y="3398996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지도교수 역량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3924776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해당 분야의 대가이며 저명한 학자인지 살펴보세요.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33564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065" y="3398996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학생 지도 경험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5111" y="3924776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많은 학생을 지도한 교수인지, 선배 배출 현황을 확인하세요.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51042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146715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0906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생활 환경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30906" y="5672495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한국 커뮤니티와 식료품점 유무를 확인하세요.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457003" y="51042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074" y="5146715"/>
            <a:ext cx="340162" cy="42529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94119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장학금 기회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8194119" y="5672495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다양한 장학금 기회가 있는지 살펴봐야 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607" y="522803"/>
            <a:ext cx="331970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박사과정: 플로리다 대학교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7" y="1155382"/>
            <a:ext cx="3085862" cy="1907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4655" y="1155382"/>
            <a:ext cx="19254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ESOL/Bilingual Education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04655" y="1422321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전공 특성상 거의 모든 학생이 유학생이었습니다.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7" y="3309342"/>
            <a:ext cx="3085862" cy="19071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04655" y="3309342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다양한 국제학생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904655" y="3576280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다양한 국적의 학생들과 교류하는 기회가 있었습니다.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07" y="5463302"/>
            <a:ext cx="3085862" cy="19071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04655" y="5463302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입학 조건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904655" y="5730240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두 가지 언어를 유창하게 구사해야 하는 특별한 조건이 있었습니다.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64607" y="7509272"/>
            <a:ext cx="1330118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영어만 구사하는 미국 학생들은 지원이 불가능했습니다.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9027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지도교수가 유명하다고 무조건 좋을까?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97418" y="251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교수의 명성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08828"/>
            <a:ext cx="4238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전 TESOL International 회장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07819"/>
            <a:ext cx="4238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당시 College of Education 학장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62" y="3356372"/>
            <a:ext cx="318968" cy="3986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7628" y="2586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시간 제약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97628" y="3076932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담당 비서와 연락해 최소 2주 전에 미팅을 잡아야 했습니다.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713" y="3356372"/>
            <a:ext cx="318968" cy="3986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7628" y="50390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진로 기대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597628" y="5529501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지도교수는 학생들이 미국에 남기를 원했습니다.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6713" y="5018723"/>
            <a:ext cx="318968" cy="39862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197418" y="50390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영향력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5529501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플로리다주 내에서 교수의 영향력이 큰 상황이었습니다.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362" y="5018723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대부분의 학생들이 미국에서 구직 활동을 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330" y="577691"/>
            <a:ext cx="5252442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박사 과정 중 경험들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5330" y="1759387"/>
            <a:ext cx="2626162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수업조교(TA)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35330" y="2297668"/>
            <a:ext cx="632364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미국 초등 예비교사 대상 ESOL 교사교육 수업 진행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5330" y="2707362"/>
            <a:ext cx="632364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첫 학기 강의평가: "Mr. Lee의 발음이 별로에요"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" y="3279934"/>
            <a:ext cx="6323648" cy="3449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79043" y="1759387"/>
            <a:ext cx="2626162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연구조교(RA)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579043" y="2297668"/>
            <a:ext cx="632364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미국 현직교사 대상 교사연수 프로그램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9043" y="2707362"/>
            <a:ext cx="632364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다언어 학생(영어학습자) 대상 교사연수 프로그램 콘텐츠 개발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79043" y="3117056"/>
            <a:ext cx="632364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미국 초등 mainstream 교사에게 ESOL 전문성 개발 제공</a:t>
            </a:r>
            <a:endParaRPr lang="en-US" sz="1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43" y="3689628"/>
            <a:ext cx="6323648" cy="34492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5330" y="7611547"/>
            <a:ext cx="13159740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TA와 RA 경험은 학문적 성장과 교육 실무 경험을 동시에 제공했습니다.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9553"/>
            <a:ext cx="75227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유학 중 할 수 있는 다양한 경험들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51961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05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학업 외 활동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9606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유학 생활은 학업만이 전부가 아닙니다.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351961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205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여가 활동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69606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다양한 문화 체험과 여행을 통해 견문을 넓힐 수 있습니다.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351961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205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학술 교류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69606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학회 참가를 통해 전 세계 학자들과 교류할 수 있습니다.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6770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유학 생활의 균형을 유지하며 다양한 경험을 쌓는 것이 중요합니다.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926" y="614482"/>
            <a:ext cx="6257092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박사 졸업 후 첫 직장 구하기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926" y="1647230"/>
            <a:ext cx="1116449" cy="13398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19298" y="1870472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귀국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719298" y="2353270"/>
            <a:ext cx="61295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2018년 8월에 귀국하여 한 학기 동안 취업 준비를 했습니다.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926" y="2987040"/>
            <a:ext cx="1116449" cy="13398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19298" y="3210282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논문 작성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719298" y="3693081"/>
            <a:ext cx="61295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KCI 등재 논문을 작성했습니다.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926" y="4326850"/>
            <a:ext cx="1116449" cy="13398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19298" y="4550093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첫 직장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719298" y="5032891"/>
            <a:ext cx="61295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2019년 3월, A 사립대학에서 교양영어 수업을 진행했습니다.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926" y="5666661"/>
            <a:ext cx="1116449" cy="133981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19298" y="5889903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교육 방법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7719298" y="6372701"/>
            <a:ext cx="61295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CLIL과 EMI 방식으로 대학생들에게 영어 4기능을 가르쳤습니다.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6267926" y="7257693"/>
            <a:ext cx="758094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하이브레인넷으로 매일 아침을 시작하며 취업 정보를 탐색했습니다.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388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이직 - 두 번째 직장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87798"/>
            <a:ext cx="75564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01410" y="2395418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28224" y="253912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대학명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53912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 사립대학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045738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28224" y="3189446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소속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189446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대학원 교육학과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3696057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028224" y="3839766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학생 구성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3839766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중국 유학생 위주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4346377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028224" y="449008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주요 업무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02624" y="449008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유학생 영어논문 작성 지도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4996696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028224" y="514040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특이사항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802624" y="514040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한국어가 불가능한 유학생 다수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793790" y="5909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"나는 유학생활을 엄청 열심히 했는데, 이분들은...?"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793790" y="65278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한국어 능력이 부족한 유학생들을 위한 영어 논문 작성 교재를 개발했습니다.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536" y="377547"/>
            <a:ext cx="3477101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유학생을 위한 영어논문쓰기 교재 작성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36" y="834866"/>
            <a:ext cx="8885039" cy="48559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35204" y="5721310"/>
            <a:ext cx="89178" cy="89178"/>
          </a:xfrm>
          <a:prstGeom prst="roundRect">
            <a:avLst>
              <a:gd name="adj" fmla="val 20507"/>
            </a:avLst>
          </a:prstGeom>
          <a:solidFill>
            <a:srgbClr val="2124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785342" y="5721310"/>
            <a:ext cx="350282" cy="8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논문 구조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2772370" y="5721310"/>
            <a:ext cx="89178" cy="89178"/>
          </a:xfrm>
          <a:prstGeom prst="roundRect">
            <a:avLst>
              <a:gd name="adj" fmla="val 20507"/>
            </a:avLst>
          </a:prstGeom>
          <a:solidFill>
            <a:srgbClr val="4247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922508" y="5721310"/>
            <a:ext cx="536258" cy="8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학술 영어 표현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38782" y="5721310"/>
            <a:ext cx="89178" cy="89178"/>
          </a:xfrm>
          <a:prstGeom prst="roundRect">
            <a:avLst>
              <a:gd name="adj" fmla="val 20507"/>
            </a:avLst>
          </a:prstGeom>
          <a:solidFill>
            <a:srgbClr val="636A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688919" y="5721310"/>
            <a:ext cx="618411" cy="8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인용 및 참고문헌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439257" y="5721310"/>
            <a:ext cx="89178" cy="89178"/>
          </a:xfrm>
          <a:prstGeom prst="roundRect">
            <a:avLst>
              <a:gd name="adj" fmla="val 20507"/>
            </a:avLst>
          </a:prstGeom>
          <a:solidFill>
            <a:srgbClr val="8A90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589395" y="5721310"/>
            <a:ext cx="432316" cy="8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연구 방법론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7710487" y="5721310"/>
            <a:ext cx="89178" cy="89178"/>
          </a:xfrm>
          <a:prstGeom prst="roundRect">
            <a:avLst>
              <a:gd name="adj" fmla="val 20507"/>
            </a:avLst>
          </a:prstGeom>
          <a:solidFill>
            <a:srgbClr val="B4B9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860625" y="5721310"/>
            <a:ext cx="536258" cy="8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논문 작성 실습</a:t>
            </a:r>
            <a:endParaRPr lang="en-US" sz="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527" y="1619413"/>
            <a:ext cx="3837980" cy="29173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536" y="8928616"/>
            <a:ext cx="136693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학술 영어 표현과 논문 구조 학습에 중점을 둔 교재를 개발했습니다.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7601"/>
            <a:ext cx="7399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대학원생 해외 유학 준비 추가 팁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학술적 준비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144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지도교수 사전 조사: 연구 관심사가 일치하는 교수를 찾으세요.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566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강한 학업계획서(SOP) 준비: 연구 관심사와 해당 대학 선택 이유를 명확히 설명하세요.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617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학문적 준비: 관련 문헌과 연구를 검토하여 수업과 연구에 대비하세요.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668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언어 능력: 프로그램에 필요한 언어 능력 수준을 갖추세요.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실용적 준비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6144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재정 지원 이해: 대학이 제공하는 장학금, 보조금, 조교직 기회를 조사하세요.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4196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네트워킹: 현재 학생이나 졸업생에게 연락하여 프로그램과 대학 생활에 대한 통찰력을 얻으세요.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247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문화적 준비: 유학할 국가의 문화와 관습에 친숙해지세요.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6668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재정 계획: 학비, 생활비, 예상치 못한 비용을 고려하여 재정을 신중하게 계획하세요.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607" y="522803"/>
            <a:ext cx="308586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질의응답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7" y="1155382"/>
            <a:ext cx="3085862" cy="1907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4655" y="1155382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여러분의 질문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04655" y="1422321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유학 준비나 경험에 관한 궁금한 점을 자유롭게 질문해 주세요.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7" y="3309342"/>
            <a:ext cx="3085862" cy="19071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04655" y="3309342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맞춤형 조언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904655" y="3576280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여러분의 상황에 맞는 구체적인 조언을 드리겠습니다.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07" y="5463302"/>
            <a:ext cx="3085862" cy="19071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04655" y="5463302"/>
            <a:ext cx="1542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개별 상담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904655" y="5730240"/>
            <a:ext cx="100611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세부적인 상담이 필요하시면 강연 후 개별적으로 말씀해 주세요.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64607" y="7509272"/>
            <a:ext cx="1330118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여러분의 성공적인 유학 경험을 위해 어떤 도움이든 드리겠습니다.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1172</Words>
  <Application>Microsoft Office PowerPoint</Application>
  <PresentationFormat>사용자 지정</PresentationFormat>
  <Paragraphs>224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Funnel Sans</vt:lpstr>
      <vt:lpstr>Mona Sans Semi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이용직</cp:lastModifiedBy>
  <cp:revision>3</cp:revision>
  <dcterms:created xsi:type="dcterms:W3CDTF">2025-06-10T11:55:25Z</dcterms:created>
  <dcterms:modified xsi:type="dcterms:W3CDTF">2025-06-10T11:58:03Z</dcterms:modified>
</cp:coreProperties>
</file>