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Lst>
  <p:notesMasterIdLst>
    <p:notesMasterId r:id="rId6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7" roundtripDataSignature="AMtx7mhBfTrqaKGygPIZfl31+ZsGbssr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customschemas.google.com/relationships/presentationmetadata" Target="meta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Malgun Gothic"/>
                <a:ea typeface="Malgun Gothic"/>
                <a:cs typeface="Malgun Gothic"/>
                <a:sym typeface="Malgun Gothic"/>
              </a:rPr>
              <a:t>‹#›</a:t>
            </a:fld>
            <a:endParaRPr sz="12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2:notes"/>
          <p:cNvSpPr txBox="1">
            <a:spLocks noGrp="1"/>
          </p:cNvSpPr>
          <p:nvPr>
            <p:ph type="body" idx="1"/>
          </p:nvPr>
        </p:nvSpPr>
        <p:spPr>
          <a:xfrm>
            <a:off x="685800" y="4343400"/>
            <a:ext cx="5486400" cy="4114800"/>
          </a:xfrm>
          <a:prstGeom prst="rect">
            <a:avLst/>
          </a:prstGeom>
          <a:noFill/>
          <a:ln>
            <a:noFill/>
          </a:ln>
        </p:spPr>
        <p:txBody>
          <a:bodyPr spcFirstLastPara="1" wrap="square" lIns="91400" tIns="91400" rIns="91400" bIns="91400" anchor="t" anchorCtr="0">
            <a:noAutofit/>
          </a:bodyPr>
          <a:lstStyle/>
          <a:p>
            <a:pPr marL="0" lvl="0" indent="0" algn="l" rtl="0">
              <a:spcBef>
                <a:spcPts val="0"/>
              </a:spcBef>
              <a:spcAft>
                <a:spcPts val="0"/>
              </a:spcAft>
              <a:buClr>
                <a:schemeClr val="dk1"/>
              </a:buClr>
              <a:buSzPts val="1200"/>
              <a:buFont typeface="Malgun Gothic"/>
              <a:buNone/>
            </a:pPr>
            <a:endParaRPr/>
          </a:p>
        </p:txBody>
      </p:sp>
      <p:sp>
        <p:nvSpPr>
          <p:cNvPr id="133" name="Google Shape;13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6" name="Google Shape;496;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4" name="Google Shape;514;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0" name="Google Shape;520;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2" name="Google Shape;532;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제목 슬라이드" type="title">
  <p:cSld name="TITLE">
    <p:spTree>
      <p:nvGrpSpPr>
        <p:cNvPr id="1" name="Shape 18"/>
        <p:cNvGrpSpPr/>
        <p:nvPr/>
      </p:nvGrpSpPr>
      <p:grpSpPr>
        <a:xfrm>
          <a:off x="0" y="0"/>
          <a:ext cx="0" cy="0"/>
          <a:chOff x="0" y="0"/>
          <a:chExt cx="0" cy="0"/>
        </a:xfrm>
      </p:grpSpPr>
      <p:sp>
        <p:nvSpPr>
          <p:cNvPr id="19" name="Google Shape;19;p6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6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65"/>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EFEFE"/>
              </a:buClr>
              <a:buSzPts val="8000"/>
              <a:buFont typeface="Calibri"/>
              <a:buNone/>
              <a:defRPr sz="8000">
                <a:solidFill>
                  <a:srgbClr val="FEFEF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65"/>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3" name="Google Shape;23;p6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6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6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65"/>
          <p:cNvCxnSpPr/>
          <p:nvPr/>
        </p:nvCxnSpPr>
        <p:spPr>
          <a:xfrm>
            <a:off x="1207658" y="4343400"/>
            <a:ext cx="9875520" cy="0"/>
          </a:xfrm>
          <a:prstGeom prst="straightConnector1">
            <a:avLst/>
          </a:prstGeom>
          <a:noFill/>
          <a:ln w="9525" cap="flat" cmpd="sng">
            <a:solidFill>
              <a:srgbClr val="FEFEFE"/>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6"/>
        <p:cNvGrpSpPr/>
        <p:nvPr/>
      </p:nvGrpSpPr>
      <p:grpSpPr>
        <a:xfrm>
          <a:off x="0" y="0"/>
          <a:ext cx="0" cy="0"/>
          <a:chOff x="0" y="0"/>
          <a:chExt cx="0" cy="0"/>
        </a:xfrm>
      </p:grpSpPr>
      <p:sp>
        <p:nvSpPr>
          <p:cNvPr id="37" name="Google Shape;37;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6"/>
          <p:cNvSpPr txBox="1">
            <a:spLocks noGrp="1"/>
          </p:cNvSpPr>
          <p:nvPr>
            <p:ph type="title"/>
          </p:nvPr>
        </p:nvSpPr>
        <p:spPr>
          <a:xfrm>
            <a:off x="609600" y="359465"/>
            <a:ext cx="10972800" cy="1143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FFFFFF"/>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0" name="Google Shape;40;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41" name="Google Shape;41;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FFFFFF"/>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42"/>
        <p:cNvGrpSpPr/>
        <p:nvPr/>
      </p:nvGrpSpPr>
      <p:grpSpPr>
        <a:xfrm>
          <a:off x="0" y="0"/>
          <a:ext cx="0" cy="0"/>
          <a:chOff x="0" y="0"/>
          <a:chExt cx="0" cy="0"/>
        </a:xfrm>
      </p:grpSpPr>
      <p:sp>
        <p:nvSpPr>
          <p:cNvPr id="43" name="Google Shape;43;p6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7"/>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5" name="Google Shape;45;p6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6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제목 슬라이드" type="title">
  <p:cSld name="TITLE">
    <p:spTree>
      <p:nvGrpSpPr>
        <p:cNvPr id="1" name="Shape 48"/>
        <p:cNvGrpSpPr/>
        <p:nvPr/>
      </p:nvGrpSpPr>
      <p:grpSpPr>
        <a:xfrm>
          <a:off x="0" y="0"/>
          <a:ext cx="0" cy="0"/>
          <a:chOff x="0" y="0"/>
          <a:chExt cx="0" cy="0"/>
        </a:xfrm>
      </p:grpSpPr>
      <p:sp>
        <p:nvSpPr>
          <p:cNvPr id="49" name="Google Shape;49;p6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6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64"/>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64"/>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53" name="Google Shape;53;p6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56" name="Google Shape;56;p64"/>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구역 머리글" type="secHead">
  <p:cSld name="SECTION_HEADER">
    <p:bg>
      <p:bgPr>
        <a:solidFill>
          <a:schemeClr val="lt1"/>
        </a:solidFill>
        <a:effectLst/>
      </p:bgPr>
    </p:bg>
    <p:spTree>
      <p:nvGrpSpPr>
        <p:cNvPr id="1" name="Shape 57"/>
        <p:cNvGrpSpPr/>
        <p:nvPr/>
      </p:nvGrpSpPr>
      <p:grpSpPr>
        <a:xfrm>
          <a:off x="0" y="0"/>
          <a:ext cx="0" cy="0"/>
          <a:chOff x="0" y="0"/>
          <a:chExt cx="0" cy="0"/>
        </a:xfrm>
      </p:grpSpPr>
      <p:sp>
        <p:nvSpPr>
          <p:cNvPr id="58" name="Google Shape;58;p68"/>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8"/>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68"/>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68"/>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62" name="Google Shape;62;p6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65" name="Google Shape;65;p68"/>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콘텐츠 2개" type="twoObj">
  <p:cSld name="TWO_OBJECTS">
    <p:spTree>
      <p:nvGrpSpPr>
        <p:cNvPr id="1" name="Shape 66"/>
        <p:cNvGrpSpPr/>
        <p:nvPr/>
      </p:nvGrpSpPr>
      <p:grpSpPr>
        <a:xfrm>
          <a:off x="0" y="0"/>
          <a:ext cx="0" cy="0"/>
          <a:chOff x="0" y="0"/>
          <a:chExt cx="0" cy="0"/>
        </a:xfrm>
      </p:grpSpPr>
      <p:sp>
        <p:nvSpPr>
          <p:cNvPr id="67" name="Google Shape;67;p6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69"/>
          <p:cNvSpPr txBox="1">
            <a:spLocks noGrp="1"/>
          </p:cNvSpPr>
          <p:nvPr>
            <p:ph type="body" idx="1"/>
          </p:nvPr>
        </p:nvSpPr>
        <p:spPr>
          <a:xfrm>
            <a:off x="1097278"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9" name="Google Shape;69;p69"/>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0" name="Google Shape;70;p6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6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73"/>
        <p:cNvGrpSpPr/>
        <p:nvPr/>
      </p:nvGrpSpPr>
      <p:grpSpPr>
        <a:xfrm>
          <a:off x="0" y="0"/>
          <a:ext cx="0" cy="0"/>
          <a:chOff x="0" y="0"/>
          <a:chExt cx="0" cy="0"/>
        </a:xfrm>
      </p:grpSpPr>
      <p:sp>
        <p:nvSpPr>
          <p:cNvPr id="74" name="Google Shape;74;p7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70"/>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6" name="Google Shape;76;p70"/>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7" name="Google Shape;77;p70"/>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8" name="Google Shape;78;p70"/>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9" name="Google Shape;79;p7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7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7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82"/>
        <p:cNvGrpSpPr/>
        <p:nvPr/>
      </p:nvGrpSpPr>
      <p:grpSpPr>
        <a:xfrm>
          <a:off x="0" y="0"/>
          <a:ext cx="0" cy="0"/>
          <a:chOff x="0" y="0"/>
          <a:chExt cx="0" cy="0"/>
        </a:xfrm>
      </p:grpSpPr>
      <p:sp>
        <p:nvSpPr>
          <p:cNvPr id="83" name="Google Shape;83;p7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7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7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빈 화면" type="blank">
  <p:cSld name="BLANK">
    <p:spTree>
      <p:nvGrpSpPr>
        <p:cNvPr id="1" name="Shape 87"/>
        <p:cNvGrpSpPr/>
        <p:nvPr/>
      </p:nvGrpSpPr>
      <p:grpSpPr>
        <a:xfrm>
          <a:off x="0" y="0"/>
          <a:ext cx="0" cy="0"/>
          <a:chOff x="0" y="0"/>
          <a:chExt cx="0" cy="0"/>
        </a:xfrm>
      </p:grpSpPr>
      <p:sp>
        <p:nvSpPr>
          <p:cNvPr id="88" name="Google Shape;88;p7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7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7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7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7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캡션 있는 콘텐츠" type="objTx">
  <p:cSld name="OBJECT_WITH_CAPTION_TEXT">
    <p:spTree>
      <p:nvGrpSpPr>
        <p:cNvPr id="1" name="Shape 93"/>
        <p:cNvGrpSpPr/>
        <p:nvPr/>
      </p:nvGrpSpPr>
      <p:grpSpPr>
        <a:xfrm>
          <a:off x="0" y="0"/>
          <a:ext cx="0" cy="0"/>
          <a:chOff x="0" y="0"/>
          <a:chExt cx="0" cy="0"/>
        </a:xfrm>
      </p:grpSpPr>
      <p:sp>
        <p:nvSpPr>
          <p:cNvPr id="94" name="Google Shape;94;p73"/>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73"/>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73"/>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73"/>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8" name="Google Shape;98;p73"/>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99" name="Google Shape;99;p73"/>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73"/>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7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b="0" i="0" u="none" strike="noStrike" cap="none">
                <a:solidFill>
                  <a:schemeClr val="dk2"/>
                </a:solidFill>
                <a:latin typeface="Calibri"/>
                <a:ea typeface="Calibri"/>
                <a:cs typeface="Calibri"/>
                <a:sym typeface="Calibri"/>
              </a:defRPr>
            </a:lvl1pPr>
            <a:lvl2pPr marL="0" lvl="1" indent="0" algn="r">
              <a:spcBef>
                <a:spcPts val="0"/>
              </a:spcBef>
              <a:buNone/>
              <a:defRPr sz="1050" b="0" i="0" u="none" strike="noStrike" cap="none">
                <a:solidFill>
                  <a:schemeClr val="dk2"/>
                </a:solidFill>
                <a:latin typeface="Calibri"/>
                <a:ea typeface="Calibri"/>
                <a:cs typeface="Calibri"/>
                <a:sym typeface="Calibri"/>
              </a:defRPr>
            </a:lvl2pPr>
            <a:lvl3pPr marL="0" lvl="2" indent="0" algn="r">
              <a:spcBef>
                <a:spcPts val="0"/>
              </a:spcBef>
              <a:buNone/>
              <a:defRPr sz="1050" b="0" i="0" u="none" strike="noStrike" cap="none">
                <a:solidFill>
                  <a:schemeClr val="dk2"/>
                </a:solidFill>
                <a:latin typeface="Calibri"/>
                <a:ea typeface="Calibri"/>
                <a:cs typeface="Calibri"/>
                <a:sym typeface="Calibri"/>
              </a:defRPr>
            </a:lvl3pPr>
            <a:lvl4pPr marL="0" lvl="3" indent="0" algn="r">
              <a:spcBef>
                <a:spcPts val="0"/>
              </a:spcBef>
              <a:buNone/>
              <a:defRPr sz="1050" b="0" i="0" u="none" strike="noStrike" cap="none">
                <a:solidFill>
                  <a:schemeClr val="dk2"/>
                </a:solidFill>
                <a:latin typeface="Calibri"/>
                <a:ea typeface="Calibri"/>
                <a:cs typeface="Calibri"/>
                <a:sym typeface="Calibri"/>
              </a:defRPr>
            </a:lvl4pPr>
            <a:lvl5pPr marL="0" lvl="4" indent="0" algn="r">
              <a:spcBef>
                <a:spcPts val="0"/>
              </a:spcBef>
              <a:buNone/>
              <a:defRPr sz="1050" b="0" i="0" u="none" strike="noStrike" cap="none">
                <a:solidFill>
                  <a:schemeClr val="dk2"/>
                </a:solidFill>
                <a:latin typeface="Calibri"/>
                <a:ea typeface="Calibri"/>
                <a:cs typeface="Calibri"/>
                <a:sym typeface="Calibri"/>
              </a:defRPr>
            </a:lvl5pPr>
            <a:lvl6pPr marL="0" lvl="5" indent="0" algn="r">
              <a:spcBef>
                <a:spcPts val="0"/>
              </a:spcBef>
              <a:buNone/>
              <a:defRPr sz="1050" b="0" i="0" u="none" strike="noStrike" cap="none">
                <a:solidFill>
                  <a:schemeClr val="dk2"/>
                </a:solidFill>
                <a:latin typeface="Calibri"/>
                <a:ea typeface="Calibri"/>
                <a:cs typeface="Calibri"/>
                <a:sym typeface="Calibri"/>
              </a:defRPr>
            </a:lvl6pPr>
            <a:lvl7pPr marL="0" lvl="6" indent="0" algn="r">
              <a:spcBef>
                <a:spcPts val="0"/>
              </a:spcBef>
              <a:buNone/>
              <a:defRPr sz="1050" b="0" i="0" u="none" strike="noStrike" cap="none">
                <a:solidFill>
                  <a:schemeClr val="dk2"/>
                </a:solidFill>
                <a:latin typeface="Calibri"/>
                <a:ea typeface="Calibri"/>
                <a:cs typeface="Calibri"/>
                <a:sym typeface="Calibri"/>
              </a:defRPr>
            </a:lvl7pPr>
            <a:lvl8pPr marL="0" lvl="7" indent="0" algn="r">
              <a:spcBef>
                <a:spcPts val="0"/>
              </a:spcBef>
              <a:buNone/>
              <a:defRPr sz="1050" b="0" i="0" u="none" strike="noStrike" cap="none">
                <a:solidFill>
                  <a:schemeClr val="dk2"/>
                </a:solidFill>
                <a:latin typeface="Calibri"/>
                <a:ea typeface="Calibri"/>
                <a:cs typeface="Calibri"/>
                <a:sym typeface="Calibri"/>
              </a:defRPr>
            </a:lvl8pPr>
            <a:lvl9pPr marL="0" lvl="8" indent="0" algn="r">
              <a:spcBef>
                <a:spcPts val="0"/>
              </a:spcBef>
              <a:buNone/>
              <a:defRPr sz="105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캡션 있는 그림" type="picTx">
  <p:cSld name="PICTURE_WITH_CAPTION_TEXT">
    <p:spTree>
      <p:nvGrpSpPr>
        <p:cNvPr id="1" name="Shape 102"/>
        <p:cNvGrpSpPr/>
        <p:nvPr/>
      </p:nvGrpSpPr>
      <p:grpSpPr>
        <a:xfrm>
          <a:off x="0" y="0"/>
          <a:ext cx="0" cy="0"/>
          <a:chOff x="0" y="0"/>
          <a:chExt cx="0" cy="0"/>
        </a:xfrm>
      </p:grpSpPr>
      <p:sp>
        <p:nvSpPr>
          <p:cNvPr id="103" name="Google Shape;103;p74"/>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74"/>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74"/>
          <p:cNvSpPr txBox="1">
            <a:spLocks noGrp="1"/>
          </p:cNvSpPr>
          <p:nvPr>
            <p:ph type="title"/>
          </p:nvPr>
        </p:nvSpPr>
        <p:spPr>
          <a:xfrm>
            <a:off x="1097280" y="5074920"/>
            <a:ext cx="10113645"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74"/>
          <p:cNvSpPr>
            <a:spLocks noGrp="1"/>
          </p:cNvSpPr>
          <p:nvPr>
            <p:ph type="pic" idx="2"/>
          </p:nvPr>
        </p:nvSpPr>
        <p:spPr>
          <a:xfrm>
            <a:off x="15" y="0"/>
            <a:ext cx="12191985" cy="4915076"/>
          </a:xfrm>
          <a:prstGeom prst="rect">
            <a:avLst/>
          </a:prstGeom>
          <a:solidFill>
            <a:srgbClr val="D2CDB0"/>
          </a:solidFill>
          <a:ln>
            <a:noFill/>
          </a:ln>
        </p:spPr>
      </p:sp>
      <p:sp>
        <p:nvSpPr>
          <p:cNvPr id="107" name="Google Shape;107;p74"/>
          <p:cNvSpPr txBox="1">
            <a:spLocks noGrp="1"/>
          </p:cNvSpPr>
          <p:nvPr>
            <p:ph type="body" idx="1"/>
          </p:nvPr>
        </p:nvSpPr>
        <p:spPr>
          <a:xfrm>
            <a:off x="1097280" y="5907024"/>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108" name="Google Shape;108;p7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7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7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111"/>
        <p:cNvGrpSpPr/>
        <p:nvPr/>
      </p:nvGrpSpPr>
      <p:grpSpPr>
        <a:xfrm>
          <a:off x="0" y="0"/>
          <a:ext cx="0" cy="0"/>
          <a:chOff x="0" y="0"/>
          <a:chExt cx="0" cy="0"/>
        </a:xfrm>
      </p:grpSpPr>
      <p:sp>
        <p:nvSpPr>
          <p:cNvPr id="112" name="Google Shape;112;p7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75"/>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14" name="Google Shape;114;p7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7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7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세로 제목 및 텍스트" type="vertTitleAndTx">
  <p:cSld name="VERTICAL_TITLE_AND_VERTICAL_TEXT">
    <p:spTree>
      <p:nvGrpSpPr>
        <p:cNvPr id="1" name="Shape 117"/>
        <p:cNvGrpSpPr/>
        <p:nvPr/>
      </p:nvGrpSpPr>
      <p:grpSpPr>
        <a:xfrm>
          <a:off x="0" y="0"/>
          <a:ext cx="0" cy="0"/>
          <a:chOff x="0" y="0"/>
          <a:chExt cx="0" cy="0"/>
        </a:xfrm>
      </p:grpSpPr>
      <p:sp>
        <p:nvSpPr>
          <p:cNvPr id="118" name="Google Shape;118;p76"/>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6"/>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6"/>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76"/>
          <p:cNvSpPr txBox="1">
            <a:spLocks noGrp="1"/>
          </p:cNvSpPr>
          <p:nvPr>
            <p:ph type="body" idx="1"/>
          </p:nvPr>
        </p:nvSpPr>
        <p:spPr>
          <a:xfrm rot="5400000">
            <a:off x="1825401" y="-574899"/>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22" name="Google Shape;122;p7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7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7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63"/>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63"/>
          <p:cNvSpPr/>
          <p:nvPr/>
        </p:nvSpPr>
        <p:spPr>
          <a:xfrm>
            <a:off x="15" y="6334316"/>
            <a:ext cx="12191985" cy="6648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6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FEFEFE"/>
              </a:buClr>
              <a:buSzPts val="4800"/>
              <a:buFont typeface="Calibri"/>
              <a:buNone/>
              <a:defRPr sz="4800" b="0" i="0" u="none" strike="noStrike" cap="none">
                <a:solidFill>
                  <a:srgbClr val="FEFEFE"/>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6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FEFEFE"/>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FEFEFE"/>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FEFEFE"/>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FEFEFE"/>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FEFEFE"/>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FEFEFE"/>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FEFEFE"/>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FEFEFE"/>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FEFEFE"/>
                </a:solidFill>
                <a:latin typeface="Calibri"/>
                <a:ea typeface="Calibri"/>
                <a:cs typeface="Calibri"/>
                <a:sym typeface="Calibri"/>
              </a:defRPr>
            </a:lvl9pPr>
          </a:lstStyle>
          <a:p>
            <a:endParaRPr/>
          </a:p>
        </p:txBody>
      </p:sp>
      <p:sp>
        <p:nvSpPr>
          <p:cNvPr id="14" name="Google Shape;14;p6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5" name="Google Shape;15;p6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6" name="Google Shape;16;p6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63"/>
          <p:cNvCxnSpPr/>
          <p:nvPr/>
        </p:nvCxnSpPr>
        <p:spPr>
          <a:xfrm>
            <a:off x="1193532" y="1737845"/>
            <a:ext cx="9966960" cy="0"/>
          </a:xfrm>
          <a:prstGeom prst="straightConnector1">
            <a:avLst/>
          </a:prstGeom>
          <a:noFill/>
          <a:ln w="9525" cap="flat" cmpd="sng">
            <a:solidFill>
              <a:srgbClr val="FEFEFE"/>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
        <p:cNvGrpSpPr/>
        <p:nvPr/>
      </p:nvGrpSpPr>
      <p:grpSpPr>
        <a:xfrm>
          <a:off x="0" y="0"/>
          <a:ext cx="0" cy="0"/>
          <a:chOff x="0" y="0"/>
          <a:chExt cx="0" cy="0"/>
        </a:xfrm>
      </p:grpSpPr>
      <p:sp>
        <p:nvSpPr>
          <p:cNvPr id="28" name="Google Shape;28;p62"/>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62"/>
          <p:cNvSpPr/>
          <p:nvPr/>
        </p:nvSpPr>
        <p:spPr>
          <a:xfrm>
            <a:off x="15" y="6334316"/>
            <a:ext cx="12191985" cy="6648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6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62"/>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32" name="Google Shape;32;p6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6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6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35" name="Google Shape;35;p62"/>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ites.google.com/view/yongjiklee/%ED%99%88"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mjl.clarivate.com/search-results"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hyperlink" Target="https://www.scopus.com/sources.uri?zone=TopNavBar&amp;origin=sourceinfo"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hyperlink" Target="https://essayreview.co.kr/apa-citation-generator" TargetMode="External"/><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hyperlink" Target="https://app.grammarly.com/" TargetMode="External"/><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hyperlink" Target="https://drive.google.com/drive/folders/19Q1NJNwuvTdNeng9Yhkm_8NEUpjQnjJN?usp=sharing" TargetMode="External"/><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28"/>
        <p:cNvGrpSpPr/>
        <p:nvPr/>
      </p:nvGrpSpPr>
      <p:grpSpPr>
        <a:xfrm>
          <a:off x="0" y="0"/>
          <a:ext cx="0" cy="0"/>
          <a:chOff x="0" y="0"/>
          <a:chExt cx="0" cy="0"/>
        </a:xfrm>
      </p:grpSpPr>
      <p:sp>
        <p:nvSpPr>
          <p:cNvPr id="129" name="Google Shape;129;p1"/>
          <p:cNvSpPr txBox="1">
            <a:spLocks noGrp="1"/>
          </p:cNvSpPr>
          <p:nvPr>
            <p:ph type="ctrTitle"/>
          </p:nvPr>
        </p:nvSpPr>
        <p:spPr>
          <a:xfrm>
            <a:off x="2104802" y="1139624"/>
            <a:ext cx="6960759" cy="2849671"/>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FFFFFF"/>
              </a:buClr>
              <a:buSzPts val="4000"/>
              <a:buFont typeface="Calibri"/>
              <a:buNone/>
            </a:pPr>
            <a:r>
              <a:rPr lang="en-US" sz="4000">
                <a:solidFill>
                  <a:srgbClr val="FFFFFF"/>
                </a:solidFill>
              </a:rPr>
              <a:t>영어논문쓰기 특강:</a:t>
            </a:r>
            <a:br>
              <a:rPr lang="en-US" sz="4000">
                <a:solidFill>
                  <a:srgbClr val="FFFFFF"/>
                </a:solidFill>
              </a:rPr>
            </a:br>
            <a:r>
              <a:rPr lang="en-US" sz="4000">
                <a:solidFill>
                  <a:srgbClr val="FFFFFF"/>
                </a:solidFill>
              </a:rPr>
              <a:t>리뷰어의 입장에서 </a:t>
            </a:r>
            <a:br>
              <a:rPr lang="en-US" sz="4000">
                <a:solidFill>
                  <a:srgbClr val="FFFFFF"/>
                </a:solidFill>
              </a:rPr>
            </a:br>
            <a:r>
              <a:rPr lang="en-US" sz="4000">
                <a:solidFill>
                  <a:srgbClr val="FFFFFF"/>
                </a:solidFill>
              </a:rPr>
              <a:t>논문살펴보기</a:t>
            </a:r>
            <a:endParaRPr sz="4000">
              <a:solidFill>
                <a:srgbClr val="FFFFFF"/>
              </a:solidFill>
            </a:endParaRPr>
          </a:p>
        </p:txBody>
      </p:sp>
      <p:sp>
        <p:nvSpPr>
          <p:cNvPr id="130" name="Google Shape;130;p1"/>
          <p:cNvSpPr txBox="1">
            <a:spLocks noGrp="1"/>
          </p:cNvSpPr>
          <p:nvPr>
            <p:ph type="subTitle" idx="1"/>
          </p:nvPr>
        </p:nvSpPr>
        <p:spPr>
          <a:xfrm>
            <a:off x="5125571" y="4437101"/>
            <a:ext cx="6203795" cy="118610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3000"/>
              <a:buNone/>
            </a:pPr>
            <a:r>
              <a:rPr lang="en-US" sz="3000" b="1">
                <a:solidFill>
                  <a:srgbClr val="FFFFFF"/>
                </a:solidFill>
              </a:rPr>
              <a:t>이용직</a:t>
            </a:r>
            <a:endParaRPr sz="3000" b="1">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
          <p:cNvSpPr txBox="1">
            <a:spLocks noGrp="1"/>
          </p:cNvSpPr>
          <p:nvPr>
            <p:ph type="body" idx="1"/>
          </p:nvPr>
        </p:nvSpPr>
        <p:spPr>
          <a:xfrm>
            <a:off x="1155548" y="2217343"/>
            <a:ext cx="9880893" cy="395961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Char char="•"/>
            </a:pPr>
            <a:r>
              <a:rPr lang="en-US" sz="2400" u="sng">
                <a:solidFill>
                  <a:schemeClr val="hlink"/>
                </a:solidFill>
                <a:hlinkClick r:id="rId3"/>
              </a:rPr>
              <a:t>https://sites.google.com/view/yongjiklee/%ED%99%88</a:t>
            </a:r>
            <a:endParaRPr sz="2400"/>
          </a:p>
          <a:p>
            <a:pPr marL="0" lvl="0" indent="114300" algn="l" rtl="0">
              <a:lnSpc>
                <a:spcPct val="90000"/>
              </a:lnSpc>
              <a:spcBef>
                <a:spcPts val="1000"/>
              </a:spcBef>
              <a:spcAft>
                <a:spcPts val="0"/>
              </a:spcAft>
              <a:buSzPts val="1800"/>
              <a:buNone/>
            </a:pPr>
            <a:endParaRPr sz="2400"/>
          </a:p>
          <a:p>
            <a:pPr marL="0" lvl="0" indent="114300" algn="l" rtl="0">
              <a:lnSpc>
                <a:spcPct val="90000"/>
              </a:lnSpc>
              <a:spcBef>
                <a:spcPts val="1000"/>
              </a:spcBef>
              <a:spcAft>
                <a:spcPts val="0"/>
              </a:spcAft>
              <a:buSzPts val="1800"/>
              <a:buNone/>
            </a:pPr>
            <a:endParaRPr sz="2400"/>
          </a:p>
        </p:txBody>
      </p:sp>
      <p:sp>
        <p:nvSpPr>
          <p:cNvPr id="136" name="Google Shape;136;p2"/>
          <p:cNvSpPr txBox="1">
            <a:spLocks noGrp="1"/>
          </p:cNvSpPr>
          <p:nvPr>
            <p:ph type="title"/>
          </p:nvPr>
        </p:nvSpPr>
        <p:spPr>
          <a:xfrm>
            <a:off x="1156851" y="637762"/>
            <a:ext cx="9888496" cy="90013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000"/>
              <a:buFont typeface="Calibri"/>
              <a:buNone/>
            </a:pPr>
            <a:r>
              <a:rPr lang="en-US" sz="4000" b="1">
                <a:solidFill>
                  <a:schemeClr val="lt1"/>
                </a:solidFill>
                <a:latin typeface="Calibri"/>
                <a:ea typeface="Calibri"/>
                <a:cs typeface="Calibri"/>
                <a:sym typeface="Calibri"/>
              </a:rPr>
              <a:t>교수자 소개: 이용직</a:t>
            </a:r>
            <a:endParaRPr/>
          </a:p>
        </p:txBody>
      </p:sp>
      <p:sp>
        <p:nvSpPr>
          <p:cNvPr id="137" name="Google Shape;137;p2"/>
          <p:cNvSpPr txBox="1"/>
          <p:nvPr/>
        </p:nvSpPr>
        <p:spPr>
          <a:xfrm>
            <a:off x="1147945" y="977487"/>
            <a:ext cx="9888496" cy="900131"/>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3000"/>
              <a:buFont typeface="Calibri"/>
              <a:buNone/>
            </a:pPr>
            <a:r>
              <a:rPr lang="en-US" sz="4000" b="1" i="0" u="none" strike="noStrike" cap="none">
                <a:solidFill>
                  <a:schemeClr val="dk1"/>
                </a:solidFill>
                <a:latin typeface="Calibri"/>
                <a:ea typeface="Calibri"/>
                <a:cs typeface="Calibri"/>
                <a:sym typeface="Calibri"/>
              </a:rPr>
              <a:t>교수자 소개: 이용직</a:t>
            </a:r>
            <a:endParaRPr sz="4000" b="1"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1"/>
        <p:cNvGrpSpPr/>
        <p:nvPr/>
      </p:nvGrpSpPr>
      <p:grpSpPr>
        <a:xfrm>
          <a:off x="0" y="0"/>
          <a:ext cx="0" cy="0"/>
          <a:chOff x="0" y="0"/>
          <a:chExt cx="0" cy="0"/>
        </a:xfrm>
      </p:grpSpPr>
      <p:sp>
        <p:nvSpPr>
          <p:cNvPr id="142" name="Google Shape;142;p3"/>
          <p:cNvSpPr txBox="1">
            <a:spLocks noGrp="1"/>
          </p:cNvSpPr>
          <p:nvPr>
            <p:ph type="title"/>
          </p:nvPr>
        </p:nvSpPr>
        <p:spPr>
          <a:xfrm>
            <a:off x="643467" y="816638"/>
            <a:ext cx="3367359" cy="52247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3F3F3F"/>
              </a:buClr>
              <a:buSzPts val="4800"/>
              <a:buFont typeface="Calibri"/>
              <a:buNone/>
            </a:pPr>
            <a:r>
              <a:rPr lang="en-US"/>
              <a:t>Overview</a:t>
            </a:r>
            <a:endParaRPr/>
          </a:p>
        </p:txBody>
      </p:sp>
      <p:sp>
        <p:nvSpPr>
          <p:cNvPr id="143" name="Google Shape;143;p3"/>
          <p:cNvSpPr txBox="1">
            <a:spLocks noGrp="1"/>
          </p:cNvSpPr>
          <p:nvPr>
            <p:ph type="body" idx="1"/>
          </p:nvPr>
        </p:nvSpPr>
        <p:spPr>
          <a:xfrm>
            <a:off x="3686455" y="816638"/>
            <a:ext cx="7244781" cy="5224724"/>
          </a:xfrm>
          <a:prstGeom prst="rect">
            <a:avLst/>
          </a:prstGeom>
          <a:noFill/>
          <a:ln>
            <a:noFill/>
          </a:ln>
        </p:spPr>
        <p:txBody>
          <a:bodyPr spcFirstLastPara="1" wrap="square" lIns="0" tIns="45700" rIns="0" bIns="45700" anchor="ctr" anchorCtr="0">
            <a:normAutofit/>
          </a:bodyPr>
          <a:lstStyle/>
          <a:p>
            <a:pPr marL="91440" lvl="0" indent="-158750" algn="l" rtl="0">
              <a:lnSpc>
                <a:spcPct val="90000"/>
              </a:lnSpc>
              <a:spcBef>
                <a:spcPts val="0"/>
              </a:spcBef>
              <a:spcAft>
                <a:spcPts val="0"/>
              </a:spcAft>
              <a:buSzPts val="2500"/>
              <a:buChar char=" "/>
            </a:pPr>
            <a:r>
              <a:rPr lang="en-US" sz="2500"/>
              <a:t>Recap</a:t>
            </a:r>
            <a:endParaRPr/>
          </a:p>
          <a:p>
            <a:pPr marL="91440" lvl="0" indent="-158750" algn="l" rtl="0">
              <a:lnSpc>
                <a:spcPct val="90000"/>
              </a:lnSpc>
              <a:spcBef>
                <a:spcPts val="1400"/>
              </a:spcBef>
              <a:spcAft>
                <a:spcPts val="0"/>
              </a:spcAft>
              <a:buSzPts val="2500"/>
              <a:buChar char=" "/>
            </a:pPr>
            <a:r>
              <a:rPr lang="en-US" sz="2500"/>
              <a:t>Structure of academic English paper</a:t>
            </a:r>
            <a:endParaRPr/>
          </a:p>
          <a:p>
            <a:pPr marL="91440" lvl="0" indent="-158750" algn="l" rtl="0">
              <a:lnSpc>
                <a:spcPct val="90000"/>
              </a:lnSpc>
              <a:spcBef>
                <a:spcPts val="1400"/>
              </a:spcBef>
              <a:spcAft>
                <a:spcPts val="0"/>
              </a:spcAft>
              <a:buSzPts val="2500"/>
              <a:buChar char=" "/>
            </a:pPr>
            <a:r>
              <a:rPr lang="en-US" sz="2500"/>
              <a:t>Examples of each section </a:t>
            </a:r>
            <a:endParaRPr/>
          </a:p>
          <a:p>
            <a:pPr marL="91440" lvl="0" indent="-158750" algn="l" rtl="0">
              <a:lnSpc>
                <a:spcPct val="90000"/>
              </a:lnSpc>
              <a:spcBef>
                <a:spcPts val="1400"/>
              </a:spcBef>
              <a:spcAft>
                <a:spcPts val="0"/>
              </a:spcAft>
              <a:buSzPts val="2500"/>
              <a:buChar char=" "/>
            </a:pPr>
            <a:r>
              <a:rPr lang="en-US" sz="2500"/>
              <a:t>Academic English writing templates</a:t>
            </a:r>
            <a:endParaRPr/>
          </a:p>
          <a:p>
            <a:pPr marL="91440" lvl="0" indent="-158750" algn="l" rtl="0">
              <a:lnSpc>
                <a:spcPct val="90000"/>
              </a:lnSpc>
              <a:spcBef>
                <a:spcPts val="1400"/>
              </a:spcBef>
              <a:spcAft>
                <a:spcPts val="0"/>
              </a:spcAft>
              <a:buSzPts val="2500"/>
              <a:buChar char=" "/>
            </a:pPr>
            <a:r>
              <a:rPr lang="en-US" sz="2500"/>
              <a:t>More examples </a:t>
            </a:r>
            <a:endParaRPr/>
          </a:p>
          <a:p>
            <a:pPr marL="91440" lvl="0" indent="-158750" algn="l" rtl="0">
              <a:lnSpc>
                <a:spcPct val="90000"/>
              </a:lnSpc>
              <a:spcBef>
                <a:spcPts val="1400"/>
              </a:spcBef>
              <a:spcAft>
                <a:spcPts val="0"/>
              </a:spcAft>
              <a:buSzPts val="2500"/>
              <a:buChar char=" "/>
            </a:pPr>
            <a:r>
              <a:rPr lang="en-US" sz="2500"/>
              <a:t>Practice with your research topics </a:t>
            </a:r>
            <a:endParaRPr sz="2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7"/>
        <p:cNvGrpSpPr/>
        <p:nvPr/>
      </p:nvGrpSpPr>
      <p:grpSpPr>
        <a:xfrm>
          <a:off x="0" y="0"/>
          <a:ext cx="0" cy="0"/>
          <a:chOff x="0" y="0"/>
          <a:chExt cx="0" cy="0"/>
        </a:xfrm>
      </p:grpSpPr>
      <p:sp>
        <p:nvSpPr>
          <p:cNvPr id="148" name="Google Shape;148;p4"/>
          <p:cNvSpPr txBox="1">
            <a:spLocks noGrp="1"/>
          </p:cNvSpPr>
          <p:nvPr>
            <p:ph type="title"/>
          </p:nvPr>
        </p:nvSpPr>
        <p:spPr>
          <a:xfrm>
            <a:off x="1286933" y="609600"/>
            <a:ext cx="10197494" cy="10994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Calibri"/>
              <a:buNone/>
            </a:pPr>
            <a:r>
              <a:rPr lang="en-US" sz="4000"/>
              <a:t>논문 작성전에 자가 점검 체크리스트</a:t>
            </a:r>
            <a:endParaRPr/>
          </a:p>
        </p:txBody>
      </p:sp>
      <p:grpSp>
        <p:nvGrpSpPr>
          <p:cNvPr id="149" name="Google Shape;149;p4"/>
          <p:cNvGrpSpPr/>
          <p:nvPr/>
        </p:nvGrpSpPr>
        <p:grpSpPr>
          <a:xfrm>
            <a:off x="1286933" y="1949042"/>
            <a:ext cx="9618133" cy="4092482"/>
            <a:chOff x="0" y="499"/>
            <a:chExt cx="9618133" cy="4092482"/>
          </a:xfrm>
        </p:grpSpPr>
        <p:cxnSp>
          <p:nvCxnSpPr>
            <p:cNvPr id="150" name="Google Shape;150;p4"/>
            <p:cNvCxnSpPr/>
            <p:nvPr/>
          </p:nvCxnSpPr>
          <p:spPr>
            <a:xfrm>
              <a:off x="0" y="499"/>
              <a:ext cx="9618133" cy="0"/>
            </a:xfrm>
            <a:prstGeom prst="straightConnector1">
              <a:avLst/>
            </a:prstGeom>
            <a:solidFill>
              <a:srgbClr val="62A534"/>
            </a:solidFill>
            <a:ln w="15875" cap="flat" cmpd="sng">
              <a:solidFill>
                <a:srgbClr val="62A534"/>
              </a:solidFill>
              <a:prstDash val="solid"/>
              <a:round/>
              <a:headEnd type="none" w="sm" len="sm"/>
              <a:tailEnd type="none" w="sm" len="sm"/>
            </a:ln>
          </p:spPr>
        </p:cxnSp>
        <p:sp>
          <p:nvSpPr>
            <p:cNvPr id="151" name="Google Shape;151;p4"/>
            <p:cNvSpPr/>
            <p:nvPr/>
          </p:nvSpPr>
          <p:spPr>
            <a:xfrm>
              <a:off x="0" y="499"/>
              <a:ext cx="9618133" cy="8184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txBox="1"/>
            <p:nvPr/>
          </p:nvSpPr>
          <p:spPr>
            <a:xfrm>
              <a:off x="0" y="499"/>
              <a:ext cx="9618133" cy="818496"/>
            </a:xfrm>
            <a:prstGeom prst="rect">
              <a:avLst/>
            </a:prstGeom>
            <a:noFill/>
            <a:ln>
              <a:noFill/>
            </a:ln>
          </p:spPr>
          <p:txBody>
            <a:bodyPr spcFirstLastPara="1" wrap="square" lIns="72375" tIns="72375" rIns="72375" bIns="72375" anchor="t" anchorCtr="0">
              <a:noAutofit/>
            </a:bodyPr>
            <a:lstStyle/>
            <a:p>
              <a:pPr marL="0" marR="0" lvl="0" indent="0" algn="l" rtl="0">
                <a:lnSpc>
                  <a:spcPct val="90000"/>
                </a:lnSpc>
                <a:spcBef>
                  <a:spcPts val="0"/>
                </a:spcBef>
                <a:spcAft>
                  <a:spcPts val="0"/>
                </a:spcAft>
                <a:buNone/>
              </a:pPr>
              <a:r>
                <a:rPr lang="en-US" sz="1900" b="0" i="0" u="none" strike="noStrike" cap="none">
                  <a:solidFill>
                    <a:schemeClr val="dk1"/>
                  </a:solidFill>
                  <a:latin typeface="Calibri"/>
                  <a:ea typeface="Calibri"/>
                  <a:cs typeface="Calibri"/>
                  <a:sym typeface="Calibri"/>
                </a:rPr>
                <a:t>1. What is my research purpose? </a:t>
              </a:r>
              <a:endParaRPr/>
            </a:p>
          </p:txBody>
        </p:sp>
        <p:cxnSp>
          <p:nvCxnSpPr>
            <p:cNvPr id="153" name="Google Shape;153;p4"/>
            <p:cNvCxnSpPr/>
            <p:nvPr/>
          </p:nvCxnSpPr>
          <p:spPr>
            <a:xfrm>
              <a:off x="0" y="818996"/>
              <a:ext cx="9618133" cy="0"/>
            </a:xfrm>
            <a:prstGeom prst="straightConnector1">
              <a:avLst/>
            </a:prstGeom>
            <a:solidFill>
              <a:srgbClr val="34A76C"/>
            </a:solidFill>
            <a:ln w="15875" cap="flat" cmpd="sng">
              <a:solidFill>
                <a:srgbClr val="34A76C"/>
              </a:solidFill>
              <a:prstDash val="solid"/>
              <a:round/>
              <a:headEnd type="none" w="sm" len="sm"/>
              <a:tailEnd type="none" w="sm" len="sm"/>
            </a:ln>
          </p:spPr>
        </p:cxnSp>
        <p:sp>
          <p:nvSpPr>
            <p:cNvPr id="154" name="Google Shape;154;p4"/>
            <p:cNvSpPr/>
            <p:nvPr/>
          </p:nvSpPr>
          <p:spPr>
            <a:xfrm>
              <a:off x="0" y="818996"/>
              <a:ext cx="9618133" cy="8184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txBox="1"/>
            <p:nvPr/>
          </p:nvSpPr>
          <p:spPr>
            <a:xfrm>
              <a:off x="0" y="818996"/>
              <a:ext cx="9618133" cy="818496"/>
            </a:xfrm>
            <a:prstGeom prst="rect">
              <a:avLst/>
            </a:prstGeom>
            <a:noFill/>
            <a:ln>
              <a:noFill/>
            </a:ln>
          </p:spPr>
          <p:txBody>
            <a:bodyPr spcFirstLastPara="1" wrap="square" lIns="72375" tIns="72375" rIns="72375" bIns="72375" anchor="t" anchorCtr="0">
              <a:noAutofit/>
            </a:bodyPr>
            <a:lstStyle/>
            <a:p>
              <a:pPr marL="0" marR="0" lvl="0" indent="0" algn="l" rtl="0">
                <a:lnSpc>
                  <a:spcPct val="90000"/>
                </a:lnSpc>
                <a:spcBef>
                  <a:spcPts val="0"/>
                </a:spcBef>
                <a:spcAft>
                  <a:spcPts val="0"/>
                </a:spcAft>
                <a:buNone/>
              </a:pPr>
              <a:r>
                <a:rPr lang="en-US" sz="1900" b="0" i="0" u="none" strike="noStrike" cap="none">
                  <a:solidFill>
                    <a:schemeClr val="dk1"/>
                  </a:solidFill>
                  <a:latin typeface="Calibri"/>
                  <a:ea typeface="Calibri"/>
                  <a:cs typeface="Calibri"/>
                  <a:sym typeface="Calibri"/>
                </a:rPr>
                <a:t>2. Who will be my target audience? </a:t>
              </a:r>
              <a:endParaRPr/>
            </a:p>
          </p:txBody>
        </p:sp>
        <p:cxnSp>
          <p:nvCxnSpPr>
            <p:cNvPr id="156" name="Google Shape;156;p4"/>
            <p:cNvCxnSpPr/>
            <p:nvPr/>
          </p:nvCxnSpPr>
          <p:spPr>
            <a:xfrm>
              <a:off x="0" y="1637492"/>
              <a:ext cx="9618133" cy="0"/>
            </a:xfrm>
            <a:prstGeom prst="straightConnector1">
              <a:avLst/>
            </a:prstGeom>
            <a:solidFill>
              <a:srgbClr val="43C1A3"/>
            </a:solidFill>
            <a:ln w="15875" cap="flat" cmpd="sng">
              <a:solidFill>
                <a:srgbClr val="43C1A3"/>
              </a:solidFill>
              <a:prstDash val="solid"/>
              <a:round/>
              <a:headEnd type="none" w="sm" len="sm"/>
              <a:tailEnd type="none" w="sm" len="sm"/>
            </a:ln>
          </p:spPr>
        </p:cxnSp>
        <p:sp>
          <p:nvSpPr>
            <p:cNvPr id="157" name="Google Shape;157;p4"/>
            <p:cNvSpPr/>
            <p:nvPr/>
          </p:nvSpPr>
          <p:spPr>
            <a:xfrm>
              <a:off x="0" y="1637492"/>
              <a:ext cx="9618133" cy="8184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4"/>
            <p:cNvSpPr txBox="1"/>
            <p:nvPr/>
          </p:nvSpPr>
          <p:spPr>
            <a:xfrm>
              <a:off x="0" y="1637492"/>
              <a:ext cx="9618133" cy="818496"/>
            </a:xfrm>
            <a:prstGeom prst="rect">
              <a:avLst/>
            </a:prstGeom>
            <a:noFill/>
            <a:ln>
              <a:noFill/>
            </a:ln>
          </p:spPr>
          <p:txBody>
            <a:bodyPr spcFirstLastPara="1" wrap="square" lIns="72375" tIns="72375" rIns="72375" bIns="72375" anchor="t" anchorCtr="0">
              <a:noAutofit/>
            </a:bodyPr>
            <a:lstStyle/>
            <a:p>
              <a:pPr marL="0" marR="0" lvl="0" indent="0" algn="l" rtl="0">
                <a:lnSpc>
                  <a:spcPct val="90000"/>
                </a:lnSpc>
                <a:spcBef>
                  <a:spcPts val="0"/>
                </a:spcBef>
                <a:spcAft>
                  <a:spcPts val="0"/>
                </a:spcAft>
                <a:buNone/>
              </a:pPr>
              <a:r>
                <a:rPr lang="en-US" sz="1900" b="0" i="0" u="none" strike="noStrike" cap="none">
                  <a:solidFill>
                    <a:schemeClr val="dk1"/>
                  </a:solidFill>
                  <a:latin typeface="Calibri"/>
                  <a:ea typeface="Calibri"/>
                  <a:cs typeface="Calibri"/>
                  <a:sym typeface="Calibri"/>
                </a:rPr>
                <a:t>3. What educational problems/issues need to be solved through </a:t>
              </a:r>
              <a:endParaRPr/>
            </a:p>
            <a:p>
              <a:pPr marL="0" marR="0" lvl="0" indent="0" algn="l" rtl="0">
                <a:lnSpc>
                  <a:spcPct val="90000"/>
                </a:lnSpc>
                <a:spcBef>
                  <a:spcPts val="665"/>
                </a:spcBef>
                <a:spcAft>
                  <a:spcPts val="0"/>
                </a:spcAft>
                <a:buNone/>
              </a:pPr>
              <a:r>
                <a:rPr lang="en-US" sz="1900" b="0" i="0" u="none" strike="noStrike" cap="none">
                  <a:solidFill>
                    <a:schemeClr val="dk1"/>
                  </a:solidFill>
                  <a:latin typeface="Calibri"/>
                  <a:ea typeface="Calibri"/>
                  <a:cs typeface="Calibri"/>
                  <a:sym typeface="Calibri"/>
                </a:rPr>
                <a:t>    your research? </a:t>
              </a:r>
              <a:endParaRPr/>
            </a:p>
          </p:txBody>
        </p:sp>
        <p:cxnSp>
          <p:nvCxnSpPr>
            <p:cNvPr id="159" name="Google Shape;159;p4"/>
            <p:cNvCxnSpPr/>
            <p:nvPr/>
          </p:nvCxnSpPr>
          <p:spPr>
            <a:xfrm>
              <a:off x="0" y="2455989"/>
              <a:ext cx="9618133" cy="0"/>
            </a:xfrm>
            <a:prstGeom prst="straightConnector1">
              <a:avLst/>
            </a:prstGeom>
            <a:solidFill>
              <a:srgbClr val="4CB3CE"/>
            </a:solidFill>
            <a:ln w="15875" cap="flat" cmpd="sng">
              <a:solidFill>
                <a:srgbClr val="4CB3CE"/>
              </a:solidFill>
              <a:prstDash val="solid"/>
              <a:round/>
              <a:headEnd type="none" w="sm" len="sm"/>
              <a:tailEnd type="none" w="sm" len="sm"/>
            </a:ln>
          </p:spPr>
        </p:cxnSp>
        <p:sp>
          <p:nvSpPr>
            <p:cNvPr id="160" name="Google Shape;160;p4"/>
            <p:cNvSpPr/>
            <p:nvPr/>
          </p:nvSpPr>
          <p:spPr>
            <a:xfrm>
              <a:off x="0" y="2455989"/>
              <a:ext cx="9618133" cy="8184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4"/>
            <p:cNvSpPr txBox="1"/>
            <p:nvPr/>
          </p:nvSpPr>
          <p:spPr>
            <a:xfrm>
              <a:off x="0" y="2455989"/>
              <a:ext cx="9618133" cy="818496"/>
            </a:xfrm>
            <a:prstGeom prst="rect">
              <a:avLst/>
            </a:prstGeom>
            <a:noFill/>
            <a:ln>
              <a:noFill/>
            </a:ln>
          </p:spPr>
          <p:txBody>
            <a:bodyPr spcFirstLastPara="1" wrap="square" lIns="72375" tIns="72375" rIns="72375" bIns="72375" anchor="t" anchorCtr="0">
              <a:noAutofit/>
            </a:bodyPr>
            <a:lstStyle/>
            <a:p>
              <a:pPr marL="0" marR="0" lvl="0" indent="0" algn="l" rtl="0">
                <a:lnSpc>
                  <a:spcPct val="90000"/>
                </a:lnSpc>
                <a:spcBef>
                  <a:spcPts val="0"/>
                </a:spcBef>
                <a:spcAft>
                  <a:spcPts val="0"/>
                </a:spcAft>
                <a:buNone/>
              </a:pPr>
              <a:r>
                <a:rPr lang="en-US" sz="1900" b="1" i="0" u="sng" strike="noStrike" cap="none">
                  <a:solidFill>
                    <a:schemeClr val="dk1"/>
                  </a:solidFill>
                  <a:latin typeface="Calibri"/>
                  <a:ea typeface="Calibri"/>
                  <a:cs typeface="Calibri"/>
                  <a:sym typeface="Calibri"/>
                </a:rPr>
                <a:t>4. What will be the research project's originality and novelty to the field? </a:t>
              </a:r>
              <a:endParaRPr/>
            </a:p>
          </p:txBody>
        </p:sp>
        <p:cxnSp>
          <p:nvCxnSpPr>
            <p:cNvPr id="162" name="Google Shape;162;p4"/>
            <p:cNvCxnSpPr/>
            <p:nvPr/>
          </p:nvCxnSpPr>
          <p:spPr>
            <a:xfrm>
              <a:off x="0" y="3274485"/>
              <a:ext cx="9618133" cy="0"/>
            </a:xfrm>
            <a:prstGeom prst="straightConnector1">
              <a:avLst/>
            </a:prstGeom>
            <a:solidFill>
              <a:srgbClr val="50C3F8"/>
            </a:solidFill>
            <a:ln w="15875" cap="flat" cmpd="sng">
              <a:solidFill>
                <a:srgbClr val="50C3F8"/>
              </a:solidFill>
              <a:prstDash val="solid"/>
              <a:round/>
              <a:headEnd type="none" w="sm" len="sm"/>
              <a:tailEnd type="none" w="sm" len="sm"/>
            </a:ln>
          </p:spPr>
        </p:cxnSp>
        <p:sp>
          <p:nvSpPr>
            <p:cNvPr id="163" name="Google Shape;163;p4"/>
            <p:cNvSpPr/>
            <p:nvPr/>
          </p:nvSpPr>
          <p:spPr>
            <a:xfrm>
              <a:off x="0" y="3274485"/>
              <a:ext cx="9618133" cy="8184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txBox="1"/>
            <p:nvPr/>
          </p:nvSpPr>
          <p:spPr>
            <a:xfrm>
              <a:off x="0" y="3274485"/>
              <a:ext cx="9618133" cy="818496"/>
            </a:xfrm>
            <a:prstGeom prst="rect">
              <a:avLst/>
            </a:prstGeom>
            <a:noFill/>
            <a:ln>
              <a:noFill/>
            </a:ln>
          </p:spPr>
          <p:txBody>
            <a:bodyPr spcFirstLastPara="1" wrap="square" lIns="72375" tIns="72375" rIns="72375" bIns="72375" anchor="t" anchorCtr="0">
              <a:noAutofit/>
            </a:bodyPr>
            <a:lstStyle/>
            <a:p>
              <a:pPr marL="0" marR="0" lvl="0" indent="0" algn="l" rtl="0">
                <a:lnSpc>
                  <a:spcPct val="90000"/>
                </a:lnSpc>
                <a:spcBef>
                  <a:spcPts val="0"/>
                </a:spcBef>
                <a:spcAft>
                  <a:spcPts val="0"/>
                </a:spcAft>
                <a:buNone/>
              </a:pPr>
              <a:r>
                <a:rPr lang="en-US" sz="1900" b="1" i="0" u="sng" strike="noStrike" cap="none">
                  <a:solidFill>
                    <a:schemeClr val="dk1"/>
                  </a:solidFill>
                  <a:latin typeface="Calibri"/>
                  <a:ea typeface="Calibri"/>
                  <a:cs typeface="Calibri"/>
                  <a:sym typeface="Calibri"/>
                </a:rPr>
                <a:t>** 실험 연구일 경우 -&gt; 연구의 독창성은 더욱 높아짐</a:t>
              </a:r>
              <a:endParaRPr sz="1900" b="1" i="0" u="sng" strike="noStrike" cap="none">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5"/>
          <p:cNvSpPr txBox="1">
            <a:spLocks noGrp="1"/>
          </p:cNvSpPr>
          <p:nvPr>
            <p:ph type="title"/>
          </p:nvPr>
        </p:nvSpPr>
        <p:spPr>
          <a:xfrm>
            <a:off x="925087" y="-20500"/>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2000"/>
              <a:buFont typeface="Calibri"/>
              <a:buNone/>
            </a:pPr>
            <a:r>
              <a:rPr lang="en-US" sz="2000" b="1"/>
              <a:t>SSCI: Web of Science </a:t>
            </a:r>
            <a:br>
              <a:rPr lang="en-US" sz="2000" b="1"/>
            </a:br>
            <a:r>
              <a:rPr lang="en-US" sz="2000" b="1"/>
              <a:t>Journal of Multilingual and Multicultural Development</a:t>
            </a:r>
            <a:endParaRPr sz="2000" b="1"/>
          </a:p>
        </p:txBody>
      </p:sp>
      <p:sp>
        <p:nvSpPr>
          <p:cNvPr id="170" name="Google Shape;170;p5"/>
          <p:cNvSpPr txBox="1">
            <a:spLocks noGrp="1"/>
          </p:cNvSpPr>
          <p:nvPr>
            <p:ph type="body" idx="1"/>
          </p:nvPr>
        </p:nvSpPr>
        <p:spPr>
          <a:xfrm>
            <a:off x="623895" y="1430257"/>
            <a:ext cx="8596668"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u="sng">
                <a:solidFill>
                  <a:schemeClr val="hlink"/>
                </a:solidFill>
                <a:hlinkClick r:id="rId3"/>
              </a:rPr>
              <a:t>     https://mjl.clarivate.com/search-results</a:t>
            </a: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p:txBody>
      </p:sp>
      <p:pic>
        <p:nvPicPr>
          <p:cNvPr id="171" name="Google Shape;171;p5"/>
          <p:cNvPicPr preferRelativeResize="0"/>
          <p:nvPr/>
        </p:nvPicPr>
        <p:blipFill rotWithShape="1">
          <a:blip r:embed="rId4">
            <a:alphaModFix/>
          </a:blip>
          <a:srcRect/>
          <a:stretch/>
        </p:blipFill>
        <p:spPr>
          <a:xfrm>
            <a:off x="2743199" y="1930400"/>
            <a:ext cx="6217882" cy="398518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2000"/>
              <a:buFont typeface="Calibri"/>
              <a:buNone/>
            </a:pPr>
            <a:r>
              <a:rPr lang="en-US" sz="2000" b="1"/>
              <a:t>Scopus: Source</a:t>
            </a:r>
            <a:br>
              <a:rPr lang="en-US" sz="2000" b="1"/>
            </a:br>
            <a:r>
              <a:rPr lang="en-US" sz="2000" b="1"/>
              <a:t>Online Journal of Communication and Media Technologies</a:t>
            </a:r>
            <a:br>
              <a:rPr lang="en-US" sz="2000" b="1"/>
            </a:br>
            <a:r>
              <a:rPr lang="en-US" sz="2000" u="sng">
                <a:solidFill>
                  <a:schemeClr val="hlink"/>
                </a:solidFill>
                <a:hlinkClick r:id="rId3"/>
              </a:rPr>
              <a:t>https://www.scopus.com/sources.uri?zone=TopNavBar&amp;origin=sourceinfo</a:t>
            </a:r>
            <a:br>
              <a:rPr lang="en-US" sz="2000"/>
            </a:br>
            <a:endParaRPr sz="2000"/>
          </a:p>
        </p:txBody>
      </p:sp>
      <p:pic>
        <p:nvPicPr>
          <p:cNvPr id="177" name="Google Shape;177;p6"/>
          <p:cNvPicPr preferRelativeResize="0">
            <a:picLocks noGrp="1"/>
          </p:cNvPicPr>
          <p:nvPr>
            <p:ph type="body" idx="1"/>
          </p:nvPr>
        </p:nvPicPr>
        <p:blipFill rotWithShape="1">
          <a:blip r:embed="rId4">
            <a:alphaModFix/>
          </a:blip>
          <a:srcRect/>
          <a:stretch/>
        </p:blipFill>
        <p:spPr>
          <a:xfrm>
            <a:off x="3497151" y="1846263"/>
            <a:ext cx="5258024" cy="4022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Calibri"/>
              <a:buNone/>
            </a:pPr>
            <a:r>
              <a:rPr lang="en-US" sz="4000"/>
              <a:t>리뷰어의 입장에서 논문 평가 </a:t>
            </a:r>
            <a:endParaRPr/>
          </a:p>
        </p:txBody>
      </p:sp>
      <p:sp>
        <p:nvSpPr>
          <p:cNvPr id="183" name="Google Shape;183;p7"/>
          <p:cNvSpPr txBox="1">
            <a:spLocks noGrp="1"/>
          </p:cNvSpPr>
          <p:nvPr>
            <p:ph type="body" idx="1"/>
          </p:nvPr>
        </p:nvSpPr>
        <p:spPr>
          <a:xfrm>
            <a:off x="1147716" y="1899714"/>
            <a:ext cx="10133842" cy="3880773"/>
          </a:xfrm>
          <a:prstGeom prst="rect">
            <a:avLst/>
          </a:prstGeom>
          <a:noFill/>
          <a:ln>
            <a:noFill/>
          </a:ln>
        </p:spPr>
        <p:txBody>
          <a:bodyPr spcFirstLastPara="1" wrap="square" lIns="0" tIns="45700" rIns="0" bIns="45700" anchor="t" anchorCtr="0">
            <a:normAutofit/>
          </a:bodyPr>
          <a:lstStyle/>
          <a:p>
            <a:pPr marL="91440" lvl="0" indent="-139700" algn="l" rtl="0">
              <a:lnSpc>
                <a:spcPct val="90000"/>
              </a:lnSpc>
              <a:spcBef>
                <a:spcPts val="0"/>
              </a:spcBef>
              <a:spcAft>
                <a:spcPts val="0"/>
              </a:spcAft>
              <a:buSzPts val="2200"/>
              <a:buChar char=" "/>
            </a:pPr>
            <a:r>
              <a:rPr lang="en-US" sz="2200"/>
              <a:t>1. 초록 – 필요한 요소들이 다 들어갔는가</a:t>
            </a:r>
            <a:endParaRPr sz="2200"/>
          </a:p>
          <a:p>
            <a:pPr marL="91440" lvl="0" indent="-139700" algn="l" rtl="0">
              <a:lnSpc>
                <a:spcPct val="90000"/>
              </a:lnSpc>
              <a:spcBef>
                <a:spcPts val="1400"/>
              </a:spcBef>
              <a:spcAft>
                <a:spcPts val="0"/>
              </a:spcAft>
              <a:buSzPts val="2200"/>
              <a:buChar char=" "/>
            </a:pPr>
            <a:r>
              <a:rPr lang="en-US" sz="2200"/>
              <a:t>2. 선행연구 – 선행연구의 gap 이 잘 표현되었는가</a:t>
            </a:r>
            <a:endParaRPr sz="2200"/>
          </a:p>
          <a:p>
            <a:pPr marL="91440" lvl="0" indent="-139700" algn="l" rtl="0">
              <a:lnSpc>
                <a:spcPct val="90000"/>
              </a:lnSpc>
              <a:spcBef>
                <a:spcPts val="1400"/>
              </a:spcBef>
              <a:spcAft>
                <a:spcPts val="0"/>
              </a:spcAft>
              <a:buSzPts val="2200"/>
              <a:buChar char=" "/>
            </a:pPr>
            <a:r>
              <a:rPr lang="en-US" sz="2200" b="1" u="sng"/>
              <a:t>3. 연구질문 구성 – 연구목적과 연구질문이 연결되어 구성되었는가?</a:t>
            </a:r>
            <a:endParaRPr/>
          </a:p>
          <a:p>
            <a:pPr marL="91440" lvl="0" indent="-139700" algn="l" rtl="0">
              <a:lnSpc>
                <a:spcPct val="90000"/>
              </a:lnSpc>
              <a:spcBef>
                <a:spcPts val="1400"/>
              </a:spcBef>
              <a:spcAft>
                <a:spcPts val="0"/>
              </a:spcAft>
              <a:buSzPts val="2200"/>
              <a:buChar char=" "/>
            </a:pPr>
            <a:r>
              <a:rPr lang="en-US" sz="2200" b="1" u="sng"/>
              <a:t>4. 연구방법 – 연구의 목적에 맞게 연구방법이 설정되었는가?</a:t>
            </a:r>
            <a:endParaRPr/>
          </a:p>
          <a:p>
            <a:pPr marL="91440" lvl="0" indent="-139700" algn="l" rtl="0">
              <a:lnSpc>
                <a:spcPct val="90000"/>
              </a:lnSpc>
              <a:spcBef>
                <a:spcPts val="1400"/>
              </a:spcBef>
              <a:spcAft>
                <a:spcPts val="0"/>
              </a:spcAft>
              <a:buSzPts val="2200"/>
              <a:buChar char=" "/>
            </a:pPr>
            <a:r>
              <a:rPr lang="en-US" sz="2200"/>
              <a:t>3번과 4번의 Alignment</a:t>
            </a:r>
            <a:endParaRPr/>
          </a:p>
          <a:p>
            <a:pPr marL="91440" lvl="0" indent="-139700" algn="l" rtl="0">
              <a:lnSpc>
                <a:spcPct val="90000"/>
              </a:lnSpc>
              <a:spcBef>
                <a:spcPts val="1400"/>
              </a:spcBef>
              <a:spcAft>
                <a:spcPts val="0"/>
              </a:spcAft>
              <a:buSzPts val="2200"/>
              <a:buChar char=" "/>
            </a:pPr>
            <a:r>
              <a:rPr lang="en-US" sz="2200"/>
              <a:t>5. 논의 – 연구질문에 대답을 잘 하였는가? (가설에 대한 검증이 되었는가?)</a:t>
            </a:r>
            <a:endParaRPr/>
          </a:p>
          <a:p>
            <a:pPr marL="91440" lvl="0" indent="-139700" algn="l" rtl="0">
              <a:lnSpc>
                <a:spcPct val="90000"/>
              </a:lnSpc>
              <a:spcBef>
                <a:spcPts val="1400"/>
              </a:spcBef>
              <a:spcAft>
                <a:spcPts val="0"/>
              </a:spcAft>
              <a:buSzPts val="2200"/>
              <a:buChar char=" "/>
            </a:pPr>
            <a:r>
              <a:rPr lang="en-US" sz="2200"/>
              <a:t>6. 결론 – 본 연구의 독창성은 무엇인가? 미래 연구방향 제안점은?</a:t>
            </a:r>
            <a:endParaRPr/>
          </a:p>
          <a:p>
            <a:pPr marL="91440" lvl="0" indent="-139700" algn="l" rtl="0">
              <a:lnSpc>
                <a:spcPct val="90000"/>
              </a:lnSpc>
              <a:spcBef>
                <a:spcPts val="1400"/>
              </a:spcBef>
              <a:spcAft>
                <a:spcPts val="0"/>
              </a:spcAft>
              <a:buSzPts val="2200"/>
              <a:buChar char=" "/>
            </a:pPr>
            <a:r>
              <a:rPr lang="en-US" sz="2200"/>
              <a:t>7. 참고문헌 적절성</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Word 파일참조</a:t>
            </a:r>
            <a:endParaRPr/>
          </a:p>
        </p:txBody>
      </p:sp>
      <p:pic>
        <p:nvPicPr>
          <p:cNvPr id="189" name="Google Shape;189;p8"/>
          <p:cNvPicPr preferRelativeResize="0">
            <a:picLocks noGrp="1"/>
          </p:cNvPicPr>
          <p:nvPr>
            <p:ph type="body" idx="1"/>
          </p:nvPr>
        </p:nvPicPr>
        <p:blipFill rotWithShape="1">
          <a:blip r:embed="rId3">
            <a:alphaModFix/>
          </a:blip>
          <a:srcRect/>
          <a:stretch/>
        </p:blipFill>
        <p:spPr>
          <a:xfrm>
            <a:off x="5628904" y="559798"/>
            <a:ext cx="5267190" cy="55965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3"/>
        <p:cNvGrpSpPr/>
        <p:nvPr/>
      </p:nvGrpSpPr>
      <p:grpSpPr>
        <a:xfrm>
          <a:off x="0" y="0"/>
          <a:ext cx="0" cy="0"/>
          <a:chOff x="0" y="0"/>
          <a:chExt cx="0" cy="0"/>
        </a:xfrm>
      </p:grpSpPr>
      <p:sp>
        <p:nvSpPr>
          <p:cNvPr id="194" name="Google Shape;194;p9"/>
          <p:cNvSpPr txBox="1">
            <a:spLocks noGrp="1"/>
          </p:cNvSpPr>
          <p:nvPr>
            <p:ph type="title"/>
          </p:nvPr>
        </p:nvSpPr>
        <p:spPr>
          <a:xfrm>
            <a:off x="1286933" y="609600"/>
            <a:ext cx="10197494" cy="10994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ABSTRACT - 썸네일</a:t>
            </a:r>
            <a:endParaRPr/>
          </a:p>
        </p:txBody>
      </p:sp>
      <p:grpSp>
        <p:nvGrpSpPr>
          <p:cNvPr id="195" name="Google Shape;195;p9"/>
          <p:cNvGrpSpPr/>
          <p:nvPr/>
        </p:nvGrpSpPr>
        <p:grpSpPr>
          <a:xfrm>
            <a:off x="1286933" y="1949042"/>
            <a:ext cx="9618133" cy="4092482"/>
            <a:chOff x="0" y="499"/>
            <a:chExt cx="9618133" cy="4092482"/>
          </a:xfrm>
        </p:grpSpPr>
        <p:sp>
          <p:nvSpPr>
            <p:cNvPr id="196" name="Google Shape;196;p9"/>
            <p:cNvSpPr/>
            <p:nvPr/>
          </p:nvSpPr>
          <p:spPr>
            <a:xfrm>
              <a:off x="0" y="499"/>
              <a:ext cx="9618133" cy="1169280"/>
            </a:xfrm>
            <a:prstGeom prst="roundRect">
              <a:avLst>
                <a:gd name="adj" fmla="val 10000"/>
              </a:avLst>
            </a:prstGeom>
            <a:solidFill>
              <a:srgbClr val="62A5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9"/>
            <p:cNvSpPr/>
            <p:nvPr/>
          </p:nvSpPr>
          <p:spPr>
            <a:xfrm>
              <a:off x="353707" y="263587"/>
              <a:ext cx="643104" cy="643104"/>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9"/>
            <p:cNvSpPr/>
            <p:nvPr/>
          </p:nvSpPr>
          <p:spPr>
            <a:xfrm>
              <a:off x="1350519" y="499"/>
              <a:ext cx="8267613" cy="11692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txBox="1"/>
            <p:nvPr/>
          </p:nvSpPr>
          <p:spPr>
            <a:xfrm>
              <a:off x="1350519" y="499"/>
              <a:ext cx="8267613" cy="1169280"/>
            </a:xfrm>
            <a:prstGeom prst="rect">
              <a:avLst/>
            </a:prstGeom>
            <a:noFill/>
            <a:ln>
              <a:noFill/>
            </a:ln>
          </p:spPr>
          <p:txBody>
            <a:bodyPr spcFirstLastPara="1" wrap="square" lIns="123725" tIns="123725" rIns="123725" bIns="123725" anchor="ctr" anchorCtr="0">
              <a:noAutofit/>
            </a:bodyPr>
            <a:lstStyle/>
            <a:p>
              <a:pPr marL="0" marR="0" lvl="0" indent="0" algn="l" rtl="0">
                <a:lnSpc>
                  <a:spcPct val="90000"/>
                </a:lnSpc>
                <a:spcBef>
                  <a:spcPts val="0"/>
                </a:spcBef>
                <a:spcAft>
                  <a:spcPts val="0"/>
                </a:spcAft>
                <a:buNone/>
              </a:pPr>
              <a:r>
                <a:rPr lang="en-US" sz="2200" b="0" i="0" u="none" strike="noStrike" cap="none">
                  <a:solidFill>
                    <a:schemeClr val="dk1"/>
                  </a:solidFill>
                  <a:latin typeface="Calibri"/>
                  <a:ea typeface="Calibri"/>
                  <a:cs typeface="Calibri"/>
                  <a:sym typeface="Calibri"/>
                </a:rPr>
                <a:t>Invest in the writing of an abstract. </a:t>
              </a:r>
              <a:endParaRPr/>
            </a:p>
            <a:p>
              <a:pPr marL="0" marR="0" lvl="0" indent="0" algn="l" rtl="0">
                <a:lnSpc>
                  <a:spcPct val="90000"/>
                </a:lnSpc>
                <a:spcBef>
                  <a:spcPts val="770"/>
                </a:spcBef>
                <a:spcAft>
                  <a:spcPts val="0"/>
                </a:spcAft>
                <a:buNone/>
              </a:pPr>
              <a:r>
                <a:rPr lang="en-US" sz="2200" b="0" i="0" u="none" strike="noStrike" cap="none">
                  <a:solidFill>
                    <a:schemeClr val="dk1"/>
                  </a:solidFill>
                  <a:latin typeface="Calibri"/>
                  <a:ea typeface="Calibri"/>
                  <a:cs typeface="Calibri"/>
                  <a:sym typeface="Calibri"/>
                </a:rPr>
                <a:t>Consider your abstract as a book cover. </a:t>
              </a:r>
              <a:endParaRPr/>
            </a:p>
          </p:txBody>
        </p:sp>
        <p:sp>
          <p:nvSpPr>
            <p:cNvPr id="200" name="Google Shape;200;p9"/>
            <p:cNvSpPr/>
            <p:nvPr/>
          </p:nvSpPr>
          <p:spPr>
            <a:xfrm>
              <a:off x="0" y="1462100"/>
              <a:ext cx="9618133" cy="1169280"/>
            </a:xfrm>
            <a:prstGeom prst="roundRect">
              <a:avLst>
                <a:gd name="adj" fmla="val 10000"/>
              </a:avLst>
            </a:prstGeom>
            <a:solidFill>
              <a:srgbClr val="34A7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9"/>
            <p:cNvSpPr/>
            <p:nvPr/>
          </p:nvSpPr>
          <p:spPr>
            <a:xfrm>
              <a:off x="353707" y="1725188"/>
              <a:ext cx="643104" cy="643104"/>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9"/>
            <p:cNvSpPr/>
            <p:nvPr/>
          </p:nvSpPr>
          <p:spPr>
            <a:xfrm>
              <a:off x="1350519" y="1462100"/>
              <a:ext cx="8267613" cy="11692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9"/>
            <p:cNvSpPr txBox="1"/>
            <p:nvPr/>
          </p:nvSpPr>
          <p:spPr>
            <a:xfrm>
              <a:off x="1350519" y="1462100"/>
              <a:ext cx="8267613" cy="1169280"/>
            </a:xfrm>
            <a:prstGeom prst="rect">
              <a:avLst/>
            </a:prstGeom>
            <a:noFill/>
            <a:ln>
              <a:noFill/>
            </a:ln>
          </p:spPr>
          <p:txBody>
            <a:bodyPr spcFirstLastPara="1" wrap="square" lIns="123725" tIns="123725" rIns="123725" bIns="123725" anchor="ctr" anchorCtr="0">
              <a:noAutofit/>
            </a:bodyPr>
            <a:lstStyle/>
            <a:p>
              <a:pPr marL="0" marR="0" lvl="0" indent="0" algn="l" rtl="0">
                <a:lnSpc>
                  <a:spcPct val="90000"/>
                </a:lnSpc>
                <a:spcBef>
                  <a:spcPts val="0"/>
                </a:spcBef>
                <a:spcAft>
                  <a:spcPts val="0"/>
                </a:spcAft>
                <a:buNone/>
              </a:pPr>
              <a:r>
                <a:rPr lang="en-US" sz="2200" b="0" i="0" u="none" strike="noStrike" cap="none">
                  <a:solidFill>
                    <a:schemeClr val="dk1"/>
                  </a:solidFill>
                  <a:latin typeface="Calibri"/>
                  <a:ea typeface="Calibri"/>
                  <a:cs typeface="Calibri"/>
                  <a:sym typeface="Calibri"/>
                </a:rPr>
                <a:t>The abstract is the cover and face of your thesis. It would help if you crafted an abstract that is unique, attractive, succinct, and interesting. </a:t>
              </a:r>
              <a:endParaRPr/>
            </a:p>
          </p:txBody>
        </p:sp>
        <p:sp>
          <p:nvSpPr>
            <p:cNvPr id="204" name="Google Shape;204;p9"/>
            <p:cNvSpPr/>
            <p:nvPr/>
          </p:nvSpPr>
          <p:spPr>
            <a:xfrm>
              <a:off x="0" y="2923701"/>
              <a:ext cx="9618133" cy="1169280"/>
            </a:xfrm>
            <a:prstGeom prst="roundRect">
              <a:avLst>
                <a:gd name="adj" fmla="val 10000"/>
              </a:avLst>
            </a:prstGeom>
            <a:solidFill>
              <a:srgbClr val="43C1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9"/>
            <p:cNvSpPr/>
            <p:nvPr/>
          </p:nvSpPr>
          <p:spPr>
            <a:xfrm>
              <a:off x="353707" y="3186789"/>
              <a:ext cx="643104" cy="643104"/>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9"/>
            <p:cNvSpPr/>
            <p:nvPr/>
          </p:nvSpPr>
          <p:spPr>
            <a:xfrm>
              <a:off x="1350519" y="2923701"/>
              <a:ext cx="8267613" cy="11692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9"/>
            <p:cNvSpPr txBox="1"/>
            <p:nvPr/>
          </p:nvSpPr>
          <p:spPr>
            <a:xfrm>
              <a:off x="1350519" y="2923701"/>
              <a:ext cx="8267613" cy="1169280"/>
            </a:xfrm>
            <a:prstGeom prst="rect">
              <a:avLst/>
            </a:prstGeom>
            <a:noFill/>
            <a:ln>
              <a:noFill/>
            </a:ln>
          </p:spPr>
          <p:txBody>
            <a:bodyPr spcFirstLastPara="1" wrap="square" lIns="123725" tIns="123725" rIns="123725" bIns="123725" anchor="ctr" anchorCtr="0">
              <a:noAutofit/>
            </a:bodyPr>
            <a:lstStyle/>
            <a:p>
              <a:pPr marL="0" marR="0" lvl="0" indent="0" algn="l" rtl="0">
                <a:lnSpc>
                  <a:spcPct val="90000"/>
                </a:lnSpc>
                <a:spcBef>
                  <a:spcPts val="0"/>
                </a:spcBef>
                <a:spcAft>
                  <a:spcPts val="0"/>
                </a:spcAft>
                <a:buNone/>
              </a:pPr>
              <a:r>
                <a:rPr lang="en-US" sz="2200" b="1" i="0" u="sng" strike="noStrike" cap="none">
                  <a:solidFill>
                    <a:schemeClr val="dk1"/>
                  </a:solidFill>
                  <a:latin typeface="Calibri"/>
                  <a:ea typeface="Calibri"/>
                  <a:cs typeface="Calibri"/>
                  <a:sym typeface="Calibri"/>
                </a:rPr>
                <a:t>Typically, the abstract contains a brief summary of the problem and the purpose of the research, an outline of the methodology, a few key findings/results, and the principal conclusion or implication. </a:t>
              </a:r>
              <a:endParaRPr sz="22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Abstract 1</a:t>
            </a:r>
            <a:endParaRPr/>
          </a:p>
        </p:txBody>
      </p:sp>
      <p:sp>
        <p:nvSpPr>
          <p:cNvPr id="213" name="Google Shape;213;p10"/>
          <p:cNvSpPr txBox="1">
            <a:spLocks noGrp="1"/>
          </p:cNvSpPr>
          <p:nvPr>
            <p:ph type="body" idx="1"/>
          </p:nvPr>
        </p:nvSpPr>
        <p:spPr>
          <a:xfrm>
            <a:off x="1097280" y="1923084"/>
            <a:ext cx="10313279" cy="4839914"/>
          </a:xfrm>
          <a:prstGeom prst="rect">
            <a:avLst/>
          </a:prstGeom>
          <a:noFill/>
          <a:ln>
            <a:noFill/>
          </a:ln>
        </p:spPr>
        <p:txBody>
          <a:bodyPr spcFirstLastPara="1" wrap="square" lIns="0" tIns="45700" rIns="0" bIns="45700" anchor="t" anchorCtr="0">
            <a:normAutofit/>
          </a:bodyPr>
          <a:lstStyle/>
          <a:p>
            <a:pPr marL="91440" lvl="0" indent="-101600" algn="l" rtl="0">
              <a:lnSpc>
                <a:spcPct val="90000"/>
              </a:lnSpc>
              <a:spcBef>
                <a:spcPts val="0"/>
              </a:spcBef>
              <a:spcAft>
                <a:spcPts val="0"/>
              </a:spcAft>
              <a:buSzPts val="1600"/>
              <a:buChar char=" "/>
            </a:pPr>
            <a:r>
              <a:rPr lang="en-US" sz="1600"/>
              <a:t>KCI</a:t>
            </a:r>
            <a:endParaRPr/>
          </a:p>
          <a:p>
            <a:pPr marL="91440" lvl="0" indent="-101600" algn="l" rtl="0">
              <a:lnSpc>
                <a:spcPct val="90000"/>
              </a:lnSpc>
              <a:spcBef>
                <a:spcPts val="1400"/>
              </a:spcBef>
              <a:spcAft>
                <a:spcPts val="0"/>
              </a:spcAft>
              <a:buSzPts val="1600"/>
              <a:buChar char=" "/>
            </a:pPr>
            <a:r>
              <a:rPr lang="en-US" sz="1600"/>
              <a:t>Preservice teachers’ field experience working with English Language Learners (ELLs) provides an opportunity to engage in various practices to become effective future teachers of ELLs. Previous studies have found that ESL field experiences have an impact on the preservice teachers’ cognitive factors to teach ELLs. Based on the language teacher identity framework, this study explored how ESL field experience influenced preservice teachers’ cognition, including attitudes, perceptions, and knowledge while teaching and working with ELLs in the US. The data sources consisted of collected surveys on preservice teachers and preservice teachers’ reflection papers (n=160) after finishing ESL field experiences. Thematic analysis was implemented to analyze data sources. Study findings showed that ESL field experiences can influence preservice teachers’ positive attitudes/ perceptions towards English language learners (ELLs), increase awareness in terms of content and pedagogical knowledge, and enhance positive beliefs about ELLs’ linguistic and cultural backgrounds. This study provides several suggestions how to effectively incorporate field experience into teacher education programs.</a:t>
            </a:r>
            <a:endParaRPr/>
          </a:p>
          <a:p>
            <a:pPr marL="91440" lvl="0" indent="-101600" algn="l" rtl="0">
              <a:lnSpc>
                <a:spcPct val="90000"/>
              </a:lnSpc>
              <a:spcBef>
                <a:spcPts val="1400"/>
              </a:spcBef>
              <a:spcAft>
                <a:spcPts val="0"/>
              </a:spcAft>
              <a:buSzPts val="1600"/>
              <a:buChar char=" "/>
            </a:pPr>
            <a:r>
              <a:rPr lang="en-US" sz="1600" b="1" u="sng"/>
              <a:t>위 초록중에서 빠진 내용은? 추가하고 싶다면?</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Abstract 2</a:t>
            </a:r>
            <a:endParaRPr/>
          </a:p>
        </p:txBody>
      </p:sp>
      <p:sp>
        <p:nvSpPr>
          <p:cNvPr id="219" name="Google Shape;219;p11"/>
          <p:cNvSpPr txBox="1">
            <a:spLocks noGrp="1"/>
          </p:cNvSpPr>
          <p:nvPr>
            <p:ph type="body" idx="1"/>
          </p:nvPr>
        </p:nvSpPr>
        <p:spPr>
          <a:xfrm>
            <a:off x="1253287" y="1828080"/>
            <a:ext cx="10040147" cy="4501468"/>
          </a:xfrm>
          <a:prstGeom prst="rect">
            <a:avLst/>
          </a:prstGeom>
          <a:noFill/>
          <a:ln>
            <a:noFill/>
          </a:ln>
        </p:spPr>
        <p:txBody>
          <a:bodyPr spcFirstLastPara="1" wrap="square" lIns="0" tIns="45700" rIns="0" bIns="45700" anchor="t" anchorCtr="0">
            <a:normAutofit/>
          </a:bodyPr>
          <a:lstStyle/>
          <a:p>
            <a:pPr marL="91440" lvl="0" indent="-101600" algn="l" rtl="0">
              <a:lnSpc>
                <a:spcPct val="90000"/>
              </a:lnSpc>
              <a:spcBef>
                <a:spcPts val="0"/>
              </a:spcBef>
              <a:spcAft>
                <a:spcPts val="0"/>
              </a:spcAft>
              <a:buSzPts val="1600"/>
              <a:buChar char=" "/>
            </a:pPr>
            <a:r>
              <a:rPr lang="en-US" sz="1600"/>
              <a:t>SCOPUS</a:t>
            </a:r>
            <a:endParaRPr/>
          </a:p>
          <a:p>
            <a:pPr marL="91440" lvl="0" indent="-101600" algn="l" rtl="0">
              <a:lnSpc>
                <a:spcPct val="90000"/>
              </a:lnSpc>
              <a:spcBef>
                <a:spcPts val="1400"/>
              </a:spcBef>
              <a:spcAft>
                <a:spcPts val="0"/>
              </a:spcAft>
              <a:buSzPts val="1600"/>
              <a:buChar char=" "/>
            </a:pPr>
            <a:r>
              <a:rPr lang="en-US" sz="1600"/>
              <a:t>A practice-based approach to teacher education programs is fundamental to preparing preservice teachers (PSTs) for in-service teacher roles. Although many studies have explored the impact of field experience on PSTs' perceptions and attitudes toward diverse students, few have examined PSTs' self-efficacy in hybrid environments that require both F2F (face-to-face) and synchronous online field practicum. This study explored Korean PSTs' self-efficacy changes regarding instructional strategies, classroom management, and student engagement through hybrid field experiences. The data was collected from a teacher education program in Korea in the 2021 spring semester from April to July. This study used the Ohio State teacher efficacy scale (Tschannen-Moran &amp; Hoy, 2001) to measure teacher self-efficacy. As a result, 133 pre-survey and post-survey comparisons were used. After the survey, seven volunteered preservice teachers were interviewed individually. By using a mixed-method design, study results showed that field experience in hybrid environments significantly increases PSTs' instructional strategies (d = 0.58), classroom management (d = 0.47), and student engagement (d = 0.48). This study suggests PSTs' self-efficacy changes through a hybrid field experience in a teacher education program. </a:t>
            </a:r>
            <a:endParaRPr/>
          </a:p>
          <a:p>
            <a:pPr marL="91440" lvl="0" indent="-101600" algn="l" rtl="0">
              <a:lnSpc>
                <a:spcPct val="90000"/>
              </a:lnSpc>
              <a:spcBef>
                <a:spcPts val="1400"/>
              </a:spcBef>
              <a:spcAft>
                <a:spcPts val="0"/>
              </a:spcAft>
              <a:buSzPts val="1600"/>
              <a:buChar char=" "/>
            </a:pPr>
            <a:r>
              <a:rPr lang="en-US" sz="1600" b="1" u="sng"/>
              <a:t>위 초록중에서 빠진 내용은? 추가하고 싶다면?</a:t>
            </a:r>
            <a:endParaRPr/>
          </a:p>
          <a:p>
            <a:pPr marL="91440" lvl="0" indent="0" algn="l" rtl="0">
              <a:lnSpc>
                <a:spcPct val="90000"/>
              </a:lnSpc>
              <a:spcBef>
                <a:spcPts val="1400"/>
              </a:spcBef>
              <a:spcAft>
                <a:spcPts val="0"/>
              </a:spcAft>
              <a:buSzPts val="1600"/>
              <a:buNone/>
            </a:pP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Abstract 3 - SSCI</a:t>
            </a:r>
            <a:endParaRPr/>
          </a:p>
        </p:txBody>
      </p:sp>
      <p:sp>
        <p:nvSpPr>
          <p:cNvPr id="225" name="Google Shape;225;p12"/>
          <p:cNvSpPr txBox="1">
            <a:spLocks noGrp="1"/>
          </p:cNvSpPr>
          <p:nvPr>
            <p:ph type="body" idx="1"/>
          </p:nvPr>
        </p:nvSpPr>
        <p:spPr>
          <a:xfrm>
            <a:off x="1304724" y="1905330"/>
            <a:ext cx="9850956" cy="4299587"/>
          </a:xfrm>
          <a:prstGeom prst="rect">
            <a:avLst/>
          </a:prstGeom>
          <a:noFill/>
          <a:ln>
            <a:noFill/>
          </a:ln>
        </p:spPr>
        <p:txBody>
          <a:bodyPr spcFirstLastPara="1" wrap="square" lIns="0" tIns="45700" rIns="0" bIns="45700" anchor="t" anchorCtr="0">
            <a:noAutofit/>
          </a:bodyPr>
          <a:lstStyle/>
          <a:p>
            <a:pPr marL="91440" lvl="0" indent="-101600" algn="l" rtl="0">
              <a:lnSpc>
                <a:spcPct val="90000"/>
              </a:lnSpc>
              <a:spcBef>
                <a:spcPts val="0"/>
              </a:spcBef>
              <a:spcAft>
                <a:spcPts val="0"/>
              </a:spcAft>
              <a:buSzPts val="1600"/>
              <a:buChar char=" "/>
            </a:pPr>
            <a:r>
              <a:rPr lang="en-US" sz="1600"/>
              <a:t>Educators use various strategies to increase listening comprehension for nonnative English speakers in the classroom and multimedia environments. Research on audio reduction has shown mixed results, whereas a study that enhanced (doubled) virtual human gesturing found increased listening comprehension with procedural information. This research examined the use of virtual human gesture frequency (enhanced, average, no) and video speed (normal, reduced 25%) on participant satisfaction and learning outcomes with procedural information. Analysis based on 234 multinational university students indicated that normal video speed signifcantly increased satisfaction compared to reduced speed; satisfaction was rated signifcantly higher with agents that gestured compared with the no-gesture condition; and enhancing the gesture frequency signifcantly increased learning outcomes compared to the average and no-gesture conditions. These fndings support previous studies that indicated enhanced gestures signifcantly increase the learning of procedural information. Also, agent gesturing increased the satisfaction with the agent, which supports systematic review fndings that gesturing is a principal moderator for agent persona. However, this research provides evidence that a 25% reduction in video speed may be too slow to maintain satisfaction with advanced foreign language users and that less reduced rates such as 15% or 10% should to be considered. Finally, this research puts forth a gesture design framework for designers to create gesturing virtual humans in multimedia environments.</a:t>
            </a:r>
            <a:endParaRPr/>
          </a:p>
          <a:p>
            <a:pPr marL="91440" lvl="0" indent="-101600" algn="l" rtl="0">
              <a:lnSpc>
                <a:spcPct val="90000"/>
              </a:lnSpc>
              <a:spcBef>
                <a:spcPts val="1400"/>
              </a:spcBef>
              <a:spcAft>
                <a:spcPts val="0"/>
              </a:spcAft>
              <a:buSzPts val="1600"/>
              <a:buChar char=" "/>
            </a:pPr>
            <a:r>
              <a:rPr lang="en-US" sz="1600" b="1" u="sng"/>
              <a:t>위 초록중에서 빠진 내용은? 추가하고 싶다면?</a:t>
            </a:r>
            <a:endParaRPr/>
          </a:p>
          <a:p>
            <a:pPr marL="91440" lvl="0" indent="0" algn="l" rtl="0">
              <a:lnSpc>
                <a:spcPct val="90000"/>
              </a:lnSpc>
              <a:spcBef>
                <a:spcPts val="1400"/>
              </a:spcBef>
              <a:spcAft>
                <a:spcPts val="0"/>
              </a:spcAft>
              <a:buSzPts val="1600"/>
              <a:buNone/>
            </a:pP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INTRODUCTION</a:t>
            </a:r>
            <a:endParaRPr/>
          </a:p>
        </p:txBody>
      </p:sp>
      <p:sp>
        <p:nvSpPr>
          <p:cNvPr id="231" name="Google Shape;231;p13"/>
          <p:cNvSpPr txBox="1">
            <a:spLocks noGrp="1"/>
          </p:cNvSpPr>
          <p:nvPr>
            <p:ph type="body" idx="1"/>
          </p:nvPr>
        </p:nvSpPr>
        <p:spPr>
          <a:xfrm>
            <a:off x="1241412" y="1899332"/>
            <a:ext cx="9914268"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b="1"/>
              <a:t>The introduction logically conveys the research purpose, </a:t>
            </a:r>
            <a:r>
              <a:rPr lang="en-US" b="1" u="sng"/>
              <a:t>describes the problem's background</a:t>
            </a:r>
            <a:r>
              <a:rPr lang="en-US" b="1"/>
              <a:t>, illustrates the problem through multiple perspectives, </a:t>
            </a:r>
            <a:r>
              <a:rPr lang="en-US" b="1" u="sng"/>
              <a:t>outlines a summary of prior research and its attempts</a:t>
            </a:r>
            <a:r>
              <a:rPr lang="en-US" b="1"/>
              <a:t>, provides counterarguments, and states the research direction (purpose, </a:t>
            </a:r>
            <a:r>
              <a:rPr lang="en-US" b="1" u="sng"/>
              <a:t>research questions, and hypotheses</a:t>
            </a:r>
            <a:r>
              <a:rPr lang="en-US" b="1"/>
              <a:t>). </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5"/>
        <p:cNvGrpSpPr/>
        <p:nvPr/>
      </p:nvGrpSpPr>
      <p:grpSpPr>
        <a:xfrm>
          <a:off x="0" y="0"/>
          <a:ext cx="0" cy="0"/>
          <a:chOff x="0" y="0"/>
          <a:chExt cx="0" cy="0"/>
        </a:xfrm>
      </p:grpSpPr>
      <p:sp>
        <p:nvSpPr>
          <p:cNvPr id="236" name="Google Shape;236;p14"/>
          <p:cNvSpPr txBox="1">
            <a:spLocks noGrp="1"/>
          </p:cNvSpPr>
          <p:nvPr>
            <p:ph type="title"/>
          </p:nvPr>
        </p:nvSpPr>
        <p:spPr>
          <a:xfrm>
            <a:off x="1244437" y="419594"/>
            <a:ext cx="8596668" cy="132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500"/>
              <a:buFont typeface="Calibri"/>
              <a:buNone/>
            </a:pPr>
            <a:r>
              <a:rPr lang="en-US" sz="3500"/>
              <a:t>서론 구조화 예시 </a:t>
            </a:r>
            <a:br>
              <a:rPr lang="en-US" sz="3500"/>
            </a:br>
            <a:r>
              <a:rPr lang="en-US" sz="3500"/>
              <a:t>생성형 AI를 대학 교양영어 수업에 접목</a:t>
            </a:r>
            <a:endParaRPr/>
          </a:p>
        </p:txBody>
      </p:sp>
      <p:sp>
        <p:nvSpPr>
          <p:cNvPr id="237" name="Google Shape;237;p14"/>
          <p:cNvSpPr txBox="1">
            <a:spLocks noGrp="1"/>
          </p:cNvSpPr>
          <p:nvPr>
            <p:ph type="body" idx="1"/>
          </p:nvPr>
        </p:nvSpPr>
        <p:spPr>
          <a:xfrm>
            <a:off x="1369128" y="1934958"/>
            <a:ext cx="9354290" cy="4240211"/>
          </a:xfrm>
          <a:prstGeom prst="rect">
            <a:avLst/>
          </a:prstGeom>
          <a:noFill/>
          <a:ln>
            <a:noFill/>
          </a:ln>
        </p:spPr>
        <p:txBody>
          <a:bodyPr spcFirstLastPara="1" wrap="square" lIns="0" tIns="45700" rIns="0" bIns="45700" anchor="t" anchorCtr="0">
            <a:normAutofit fontScale="92500" lnSpcReduction="20000"/>
          </a:bodyPr>
          <a:lstStyle/>
          <a:p>
            <a:pPr marL="91440" lvl="0" indent="-117475" algn="l" rtl="0">
              <a:lnSpc>
                <a:spcPct val="90000"/>
              </a:lnSpc>
              <a:spcBef>
                <a:spcPts val="0"/>
              </a:spcBef>
              <a:spcAft>
                <a:spcPts val="0"/>
              </a:spcAft>
              <a:buSzPct val="100000"/>
              <a:buChar char=" "/>
            </a:pPr>
            <a:r>
              <a:rPr lang="en-US"/>
              <a:t>생성형 AI 간단소개 </a:t>
            </a:r>
            <a:endParaRPr/>
          </a:p>
          <a:p>
            <a:pPr marL="91440" lvl="0" indent="-117475" algn="l" rtl="0">
              <a:lnSpc>
                <a:spcPct val="90000"/>
              </a:lnSpc>
              <a:spcBef>
                <a:spcPts val="1400"/>
              </a:spcBef>
              <a:spcAft>
                <a:spcPts val="0"/>
              </a:spcAft>
              <a:buSzPct val="100000"/>
              <a:buChar char=" "/>
            </a:pPr>
            <a:r>
              <a:rPr lang="en-US"/>
              <a:t>생성형 AI를 교육에 접목한 경우 </a:t>
            </a:r>
            <a:endParaRPr/>
          </a:p>
          <a:p>
            <a:pPr marL="91440" lvl="0" indent="-117475" algn="l" rtl="0">
              <a:lnSpc>
                <a:spcPct val="90000"/>
              </a:lnSpc>
              <a:spcBef>
                <a:spcPts val="1400"/>
              </a:spcBef>
              <a:spcAft>
                <a:spcPts val="0"/>
              </a:spcAft>
              <a:buSzPct val="100000"/>
              <a:buChar char=" "/>
            </a:pPr>
            <a:r>
              <a:rPr lang="en-US"/>
              <a:t>(narrow down the focus)</a:t>
            </a:r>
            <a:endParaRPr/>
          </a:p>
          <a:p>
            <a:pPr marL="91440" lvl="0" indent="-117475" algn="l" rtl="0">
              <a:lnSpc>
                <a:spcPct val="90000"/>
              </a:lnSpc>
              <a:spcBef>
                <a:spcPts val="1400"/>
              </a:spcBef>
              <a:spcAft>
                <a:spcPts val="0"/>
              </a:spcAft>
              <a:buSzPct val="100000"/>
              <a:buChar char=" "/>
            </a:pPr>
            <a:r>
              <a:rPr lang="en-US"/>
              <a:t>더 구체적으로 영어교육에 접목한 경우 </a:t>
            </a:r>
            <a:endParaRPr/>
          </a:p>
          <a:p>
            <a:pPr marL="91440" lvl="0" indent="-117475" algn="l" rtl="0">
              <a:lnSpc>
                <a:spcPct val="90000"/>
              </a:lnSpc>
              <a:spcBef>
                <a:spcPts val="1400"/>
              </a:spcBef>
              <a:spcAft>
                <a:spcPts val="0"/>
              </a:spcAft>
              <a:buSzPct val="100000"/>
              <a:buChar char=" "/>
            </a:pPr>
            <a:r>
              <a:rPr lang="en-US"/>
              <a:t>대학의 교양영어 수업에 접목한 경우 </a:t>
            </a:r>
            <a:endParaRPr/>
          </a:p>
          <a:p>
            <a:pPr marL="91440" lvl="0" indent="-117475" algn="l" rtl="0">
              <a:lnSpc>
                <a:spcPct val="90000"/>
              </a:lnSpc>
              <a:spcBef>
                <a:spcPts val="1400"/>
              </a:spcBef>
              <a:spcAft>
                <a:spcPts val="0"/>
              </a:spcAft>
              <a:buSzPct val="100000"/>
              <a:buChar char=" "/>
            </a:pPr>
            <a:r>
              <a:rPr lang="en-US"/>
              <a:t>선행연구의 부족함-gap 설명 </a:t>
            </a:r>
            <a:endParaRPr/>
          </a:p>
          <a:p>
            <a:pPr marL="91440" lvl="0" indent="-117475" algn="l" rtl="0">
              <a:lnSpc>
                <a:spcPct val="90000"/>
              </a:lnSpc>
              <a:spcBef>
                <a:spcPts val="1400"/>
              </a:spcBef>
              <a:spcAft>
                <a:spcPts val="0"/>
              </a:spcAft>
              <a:buSzPct val="100000"/>
              <a:buChar char=" "/>
            </a:pPr>
            <a:r>
              <a:rPr lang="en-US"/>
              <a:t>(e.g. 4 skills 중에 00부분에서는 선행연구가 부족)</a:t>
            </a:r>
            <a:endParaRPr/>
          </a:p>
          <a:p>
            <a:pPr marL="91440" lvl="0" indent="-117475" algn="l" rtl="0">
              <a:lnSpc>
                <a:spcPct val="90000"/>
              </a:lnSpc>
              <a:spcBef>
                <a:spcPts val="1400"/>
              </a:spcBef>
              <a:spcAft>
                <a:spcPts val="0"/>
              </a:spcAft>
              <a:buSzPct val="100000"/>
              <a:buChar char=" "/>
            </a:pPr>
            <a:r>
              <a:rPr lang="en-US" b="1" u="sng"/>
              <a:t>연구의 목적 설명 </a:t>
            </a:r>
            <a:endParaRPr b="1" u="sng"/>
          </a:p>
          <a:p>
            <a:pPr marL="91440" lvl="0" indent="-117475" algn="l" rtl="0">
              <a:lnSpc>
                <a:spcPct val="90000"/>
              </a:lnSpc>
              <a:spcBef>
                <a:spcPts val="1400"/>
              </a:spcBef>
              <a:spcAft>
                <a:spcPts val="0"/>
              </a:spcAft>
              <a:buSzPct val="100000"/>
              <a:buChar char=" "/>
            </a:pPr>
            <a:r>
              <a:rPr lang="en-US" b="1" u="sng"/>
              <a:t>연구의 질문 제시 (논문에 따라서 다름)</a:t>
            </a:r>
            <a:endParaRPr/>
          </a:p>
          <a:p>
            <a:pPr marL="91440" lvl="0" indent="0" algn="l" rtl="0">
              <a:lnSpc>
                <a:spcPct val="90000"/>
              </a:lnSpc>
              <a:spcBef>
                <a:spcPts val="1400"/>
              </a:spcBef>
              <a:spcAft>
                <a:spcPts val="0"/>
              </a:spcAft>
              <a:buSzPct val="100000"/>
              <a:buNone/>
            </a:pPr>
            <a:endParaRPr b="1" u="sng"/>
          </a:p>
          <a:p>
            <a:pPr marL="91440" lvl="0" indent="-117475" algn="l" rtl="0">
              <a:lnSpc>
                <a:spcPct val="90000"/>
              </a:lnSpc>
              <a:spcBef>
                <a:spcPts val="1400"/>
              </a:spcBef>
              <a:spcAft>
                <a:spcPts val="0"/>
              </a:spcAft>
              <a:buSzPct val="100000"/>
              <a:buChar char=" "/>
            </a:pPr>
            <a:r>
              <a:rPr lang="en-US" b="1" u="sng"/>
              <a:t>서론에 연구질문 제시 -&gt; 선행연구 정리 뒤에 연구질문 제시가능</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Introduction 1</a:t>
            </a:r>
            <a:endParaRPr/>
          </a:p>
        </p:txBody>
      </p:sp>
      <p:sp>
        <p:nvSpPr>
          <p:cNvPr id="243" name="Google Shape;243;p15"/>
          <p:cNvSpPr txBox="1">
            <a:spLocks noGrp="1"/>
          </p:cNvSpPr>
          <p:nvPr>
            <p:ph type="body" idx="1"/>
          </p:nvPr>
        </p:nvSpPr>
        <p:spPr>
          <a:xfrm>
            <a:off x="1097280" y="1869645"/>
            <a:ext cx="10396407" cy="471720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Considering this context, mainstream teachers in the U.S. are expected to accommodate ELLs and differentiate their instruction based on ELLs’ diverse learning needs (Gandara &amp; Rumberger, 2008; Karabenick &amp; Noda, 2004). These teachers have the responsibility of developing ELLs’ academic language proficiency as well as increasing content knowledge during instruction. </a:t>
            </a:r>
            <a:endParaRPr/>
          </a:p>
          <a:p>
            <a:pPr marL="91440" lvl="0" indent="-127000" algn="l" rtl="0">
              <a:lnSpc>
                <a:spcPct val="90000"/>
              </a:lnSpc>
              <a:spcBef>
                <a:spcPts val="1400"/>
              </a:spcBef>
              <a:spcAft>
                <a:spcPts val="0"/>
              </a:spcAft>
              <a:buSzPts val="2000"/>
              <a:buChar char=" "/>
            </a:pPr>
            <a:r>
              <a:rPr lang="en-US"/>
              <a:t>However, previous studies demonstrate that most teachers in the U.S. are not effectively prepared to teach and work with ELLs in mainstream classrooms (Gandara &amp; Rumberger, 2008; Karabenick &amp; Noda, 2004). One of the key reasons for the lack of teacher preparation is that preservice teachers receive little ESL training and professional development in teacher education programs (Athanases &amp; de Oliveira, 2011; Walker &amp; Stone; 2011). Similarly, many ESL scholars have highlighted that pre-service teachers should be equipped with necessary ESL knowledge and pedagogy in order to teach ELLs in mainstream classrooms (Durgunoglu &amp; Hughes, 2010). </a:t>
            </a:r>
            <a:endParaRPr/>
          </a:p>
          <a:p>
            <a:pPr marL="91440" lvl="0" indent="-127000" algn="l" rtl="0">
              <a:lnSpc>
                <a:spcPct val="90000"/>
              </a:lnSpc>
              <a:spcBef>
                <a:spcPts val="1400"/>
              </a:spcBef>
              <a:spcAft>
                <a:spcPts val="0"/>
              </a:spcAft>
              <a:buSzPts val="2000"/>
              <a:buChar char=" "/>
            </a:pPr>
            <a:r>
              <a:rPr lang="en-US" b="1" u="sng"/>
              <a:t>위 서론은 적절히 구성되었는가?</a:t>
            </a:r>
            <a:endParaRPr b="1" u="sng"/>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Introduction 2</a:t>
            </a:r>
            <a:endParaRPr/>
          </a:p>
        </p:txBody>
      </p:sp>
      <p:sp>
        <p:nvSpPr>
          <p:cNvPr id="249" name="Google Shape;249;p16"/>
          <p:cNvSpPr txBox="1">
            <a:spLocks noGrp="1"/>
          </p:cNvSpPr>
          <p:nvPr>
            <p:ph type="body" idx="1"/>
          </p:nvPr>
        </p:nvSpPr>
        <p:spPr>
          <a:xfrm>
            <a:off x="1253288" y="1887457"/>
            <a:ext cx="10105460"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Although many studies have explored the impact of field experience on PSTs' perceptions and attitudes, few have examined PSTs' self-efficacy changes in both F2F (face-to-face) and online field practicum. This study examined Korean PSTs' self-efficacy changes regarding instructional strategies, classroom management, and student engagement through hybrid field experiences in a teacher education program. </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b="1" u="sng"/>
              <a:t>위 서론은 적절히 구성되었는가?</a:t>
            </a:r>
            <a:endParaRPr b="1" u="sng"/>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Introduction 3</a:t>
            </a:r>
            <a:endParaRPr/>
          </a:p>
        </p:txBody>
      </p:sp>
      <p:sp>
        <p:nvSpPr>
          <p:cNvPr id="255" name="Google Shape;255;p17"/>
          <p:cNvSpPr txBox="1">
            <a:spLocks noGrp="1"/>
          </p:cNvSpPr>
          <p:nvPr>
            <p:ph type="body" idx="1"/>
          </p:nvPr>
        </p:nvSpPr>
        <p:spPr>
          <a:xfrm>
            <a:off x="1202003" y="1905992"/>
            <a:ext cx="10109244" cy="4527258"/>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However, videos that include virtual humans are designed using various strategies to help foreign language speakers’ listening comprehension. Some of the design elements include the use of animations with the presence or absence of virtual humans (Yung &amp; Paas, 2015), the presence or absence of particular life-like features (Carlotto &amp; Jaques, 2016), the use of gestures (Choi &amp; Clark, 2006; Davis &amp; Antonenko, 2017), and gesture frequency (Davis &amp; Vincent, 2019). However, listening comprehension results, as determined by learning outcomes, have been inconsistent, with only the presence of virtual humans in animations (Yung &amp; Paas, 2015), and gesture frequency (Davis &amp; Vincent, 2019) providing evidence that certain components are benefcial for listening comprehension. </a:t>
            </a:r>
            <a:endParaRPr/>
          </a:p>
          <a:p>
            <a:pPr marL="91440" lvl="0" indent="-127000" algn="l" rtl="0">
              <a:lnSpc>
                <a:spcPct val="90000"/>
              </a:lnSpc>
              <a:spcBef>
                <a:spcPts val="1400"/>
              </a:spcBef>
              <a:spcAft>
                <a:spcPts val="0"/>
              </a:spcAft>
              <a:buSzPts val="2000"/>
              <a:buChar char=" "/>
            </a:pPr>
            <a:r>
              <a:rPr lang="en-US" b="1" u="sng"/>
              <a:t>위 서론은 적절히 구성되었는가?</a:t>
            </a:r>
            <a:endParaRPr b="1" u="sng"/>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Introduction 3 연결</a:t>
            </a:r>
            <a:endParaRPr/>
          </a:p>
        </p:txBody>
      </p:sp>
      <p:sp>
        <p:nvSpPr>
          <p:cNvPr id="261" name="Google Shape;261;p18"/>
          <p:cNvSpPr txBox="1">
            <a:spLocks noGrp="1"/>
          </p:cNvSpPr>
          <p:nvPr>
            <p:ph type="body" idx="1"/>
          </p:nvPr>
        </p:nvSpPr>
        <p:spPr>
          <a:xfrm>
            <a:off x="1170159" y="1822864"/>
            <a:ext cx="10105462" cy="4527258"/>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Therefore, it might be necessary for researchers to explore whether agent design elements such as gestures and frequency are fundamental components which improve listening comprehension, or whether a straightforward strategy such as reducing video speed is more important. The purpose of this research is to examine whether gesture frequency and reduced speech rate through slower video speed afect the satisfaction and learning outcomes of foreign language users when learning procedural knowledge in multimedia environments which feature a virtual human.</a:t>
            </a:r>
            <a:endParaRPr/>
          </a:p>
          <a:p>
            <a:pPr marL="91440" lvl="0" indent="-127000" algn="l" rtl="0">
              <a:lnSpc>
                <a:spcPct val="90000"/>
              </a:lnSpc>
              <a:spcBef>
                <a:spcPts val="1400"/>
              </a:spcBef>
              <a:spcAft>
                <a:spcPts val="0"/>
              </a:spcAft>
              <a:buSzPts val="2000"/>
              <a:buChar char=" "/>
            </a:pPr>
            <a:r>
              <a:rPr lang="en-US" b="1" u="sng"/>
              <a:t>위 서론은 적절히 구성되었는가?</a:t>
            </a:r>
            <a:endParaRPr b="1" u="sng"/>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5"/>
        <p:cNvGrpSpPr/>
        <p:nvPr/>
      </p:nvGrpSpPr>
      <p:grpSpPr>
        <a:xfrm>
          <a:off x="0" y="0"/>
          <a:ext cx="0" cy="0"/>
          <a:chOff x="0" y="0"/>
          <a:chExt cx="0" cy="0"/>
        </a:xfrm>
      </p:grpSpPr>
      <p:sp>
        <p:nvSpPr>
          <p:cNvPr id="266" name="Google Shape;266;p19"/>
          <p:cNvSpPr txBox="1">
            <a:spLocks noGrp="1"/>
          </p:cNvSpPr>
          <p:nvPr>
            <p:ph type="title"/>
          </p:nvPr>
        </p:nvSpPr>
        <p:spPr>
          <a:xfrm>
            <a:off x="1286933" y="609600"/>
            <a:ext cx="10197494" cy="10994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LITERATURE REVIEW </a:t>
            </a:r>
            <a:endParaRPr/>
          </a:p>
        </p:txBody>
      </p:sp>
      <p:grpSp>
        <p:nvGrpSpPr>
          <p:cNvPr id="267" name="Google Shape;267;p19"/>
          <p:cNvGrpSpPr/>
          <p:nvPr/>
        </p:nvGrpSpPr>
        <p:grpSpPr>
          <a:xfrm>
            <a:off x="1286933" y="1950241"/>
            <a:ext cx="9618133" cy="4090084"/>
            <a:chOff x="0" y="1698"/>
            <a:chExt cx="9618133" cy="4090084"/>
          </a:xfrm>
        </p:grpSpPr>
        <p:sp>
          <p:nvSpPr>
            <p:cNvPr id="268" name="Google Shape;268;p19"/>
            <p:cNvSpPr/>
            <p:nvPr/>
          </p:nvSpPr>
          <p:spPr>
            <a:xfrm>
              <a:off x="0" y="1698"/>
              <a:ext cx="9618133" cy="861070"/>
            </a:xfrm>
            <a:prstGeom prst="roundRect">
              <a:avLst>
                <a:gd name="adj" fmla="val 10000"/>
              </a:avLst>
            </a:prstGeom>
            <a:solidFill>
              <a:srgbClr val="62A5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260473" y="195439"/>
              <a:ext cx="473588" cy="473588"/>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994536" y="1698"/>
              <a:ext cx="8623596" cy="86107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txBox="1"/>
            <p:nvPr/>
          </p:nvSpPr>
          <p:spPr>
            <a:xfrm>
              <a:off x="994536" y="1698"/>
              <a:ext cx="8623596" cy="861070"/>
            </a:xfrm>
            <a:prstGeom prst="rect">
              <a:avLst/>
            </a:prstGeom>
            <a:noFill/>
            <a:ln>
              <a:noFill/>
            </a:ln>
          </p:spPr>
          <p:txBody>
            <a:bodyPr spcFirstLastPara="1" wrap="square" lIns="91125" tIns="91125" rIns="91125" bIns="91125" anchor="ctr" anchorCtr="0">
              <a:noAutofit/>
            </a:bodyPr>
            <a:lstStyle/>
            <a:p>
              <a:pPr marL="0" marR="0" lvl="0" indent="0" algn="l" rtl="0">
                <a:lnSpc>
                  <a:spcPct val="90000"/>
                </a:lnSpc>
                <a:spcBef>
                  <a:spcPts val="0"/>
                </a:spcBef>
                <a:spcAft>
                  <a:spcPts val="0"/>
                </a:spcAft>
                <a:buNone/>
              </a:pPr>
              <a:r>
                <a:rPr lang="en-US" sz="2200" b="0" i="0" u="none" strike="noStrike" cap="none">
                  <a:solidFill>
                    <a:schemeClr val="dk1"/>
                  </a:solidFill>
                  <a:latin typeface="Calibri"/>
                  <a:ea typeface="Calibri"/>
                  <a:cs typeface="Calibri"/>
                  <a:sym typeface="Calibri"/>
                </a:rPr>
                <a:t>How did previous research address the problem, and did it approach the problem similarly or differently? </a:t>
              </a:r>
              <a:endParaRPr/>
            </a:p>
          </p:txBody>
        </p:sp>
        <p:sp>
          <p:nvSpPr>
            <p:cNvPr id="272" name="Google Shape;272;p19"/>
            <p:cNvSpPr/>
            <p:nvPr/>
          </p:nvSpPr>
          <p:spPr>
            <a:xfrm>
              <a:off x="0" y="1078036"/>
              <a:ext cx="9618133" cy="861070"/>
            </a:xfrm>
            <a:prstGeom prst="roundRect">
              <a:avLst>
                <a:gd name="adj" fmla="val 10000"/>
              </a:avLst>
            </a:prstGeom>
            <a:solidFill>
              <a:srgbClr val="34A7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260473" y="1271777"/>
              <a:ext cx="473588" cy="473588"/>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a:off x="994536" y="1078036"/>
              <a:ext cx="8623596" cy="86107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9"/>
            <p:cNvSpPr txBox="1"/>
            <p:nvPr/>
          </p:nvSpPr>
          <p:spPr>
            <a:xfrm>
              <a:off x="994536" y="1078036"/>
              <a:ext cx="8623596" cy="861070"/>
            </a:xfrm>
            <a:prstGeom prst="rect">
              <a:avLst/>
            </a:prstGeom>
            <a:noFill/>
            <a:ln>
              <a:noFill/>
            </a:ln>
          </p:spPr>
          <p:txBody>
            <a:bodyPr spcFirstLastPara="1" wrap="square" lIns="91125" tIns="91125" rIns="91125" bIns="91125" anchor="ctr" anchorCtr="0">
              <a:noAutofit/>
            </a:bodyPr>
            <a:lstStyle/>
            <a:p>
              <a:pPr marL="0" marR="0" lvl="0" indent="0" algn="l" rtl="0">
                <a:lnSpc>
                  <a:spcPct val="90000"/>
                </a:lnSpc>
                <a:spcBef>
                  <a:spcPts val="0"/>
                </a:spcBef>
                <a:spcAft>
                  <a:spcPts val="0"/>
                </a:spcAft>
                <a:buNone/>
              </a:pPr>
              <a:r>
                <a:rPr lang="en-US" sz="2200" b="0" i="0" u="none" strike="noStrike" cap="none">
                  <a:solidFill>
                    <a:schemeClr val="dk1"/>
                  </a:solidFill>
                  <a:latin typeface="Calibri"/>
                  <a:ea typeface="Calibri"/>
                  <a:cs typeface="Calibri"/>
                  <a:sym typeface="Calibri"/>
                </a:rPr>
                <a:t>How did previous studies frame their research, and what did or did not work? </a:t>
              </a:r>
              <a:endParaRPr/>
            </a:p>
          </p:txBody>
        </p:sp>
        <p:sp>
          <p:nvSpPr>
            <p:cNvPr id="276" name="Google Shape;276;p19"/>
            <p:cNvSpPr/>
            <p:nvPr/>
          </p:nvSpPr>
          <p:spPr>
            <a:xfrm>
              <a:off x="0" y="2154374"/>
              <a:ext cx="9618133" cy="861070"/>
            </a:xfrm>
            <a:prstGeom prst="roundRect">
              <a:avLst>
                <a:gd name="adj" fmla="val 10000"/>
              </a:avLst>
            </a:prstGeom>
            <a:solidFill>
              <a:srgbClr val="43C1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9"/>
            <p:cNvSpPr/>
            <p:nvPr/>
          </p:nvSpPr>
          <p:spPr>
            <a:xfrm>
              <a:off x="260473" y="2348115"/>
              <a:ext cx="473588" cy="473588"/>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9"/>
            <p:cNvSpPr/>
            <p:nvPr/>
          </p:nvSpPr>
          <p:spPr>
            <a:xfrm>
              <a:off x="994536" y="2154374"/>
              <a:ext cx="8623596" cy="86107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9"/>
            <p:cNvSpPr txBox="1"/>
            <p:nvPr/>
          </p:nvSpPr>
          <p:spPr>
            <a:xfrm>
              <a:off x="994536" y="2154374"/>
              <a:ext cx="8623596" cy="861070"/>
            </a:xfrm>
            <a:prstGeom prst="rect">
              <a:avLst/>
            </a:prstGeom>
            <a:noFill/>
            <a:ln>
              <a:noFill/>
            </a:ln>
          </p:spPr>
          <p:txBody>
            <a:bodyPr spcFirstLastPara="1" wrap="square" lIns="91125" tIns="91125" rIns="91125" bIns="91125" anchor="ctr" anchorCtr="0">
              <a:noAutofit/>
            </a:bodyPr>
            <a:lstStyle/>
            <a:p>
              <a:pPr marL="0" marR="0" lvl="0" indent="0" algn="l" rtl="0">
                <a:lnSpc>
                  <a:spcPct val="90000"/>
                </a:lnSpc>
                <a:spcBef>
                  <a:spcPts val="0"/>
                </a:spcBef>
                <a:spcAft>
                  <a:spcPts val="0"/>
                </a:spcAft>
                <a:buNone/>
              </a:pPr>
              <a:r>
                <a:rPr lang="en-US" sz="2200" b="0" i="0" u="none" strike="noStrike" cap="none">
                  <a:solidFill>
                    <a:schemeClr val="dk1"/>
                  </a:solidFill>
                  <a:latin typeface="Calibri"/>
                  <a:ea typeface="Calibri"/>
                  <a:cs typeface="Calibri"/>
                  <a:sym typeface="Calibri"/>
                </a:rPr>
                <a:t>How is your research different, or why is your research important?</a:t>
              </a:r>
              <a:endParaRPr/>
            </a:p>
          </p:txBody>
        </p:sp>
        <p:sp>
          <p:nvSpPr>
            <p:cNvPr id="280" name="Google Shape;280;p19"/>
            <p:cNvSpPr/>
            <p:nvPr/>
          </p:nvSpPr>
          <p:spPr>
            <a:xfrm>
              <a:off x="0" y="3230712"/>
              <a:ext cx="9618133" cy="861070"/>
            </a:xfrm>
            <a:prstGeom prst="roundRect">
              <a:avLst>
                <a:gd name="adj" fmla="val 10000"/>
              </a:avLst>
            </a:prstGeom>
            <a:solidFill>
              <a:srgbClr val="4CB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p:nvPr/>
          </p:nvSpPr>
          <p:spPr>
            <a:xfrm>
              <a:off x="260473" y="3424453"/>
              <a:ext cx="473588" cy="473588"/>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994536" y="3230712"/>
              <a:ext cx="8623596" cy="86107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9"/>
            <p:cNvSpPr txBox="1"/>
            <p:nvPr/>
          </p:nvSpPr>
          <p:spPr>
            <a:xfrm>
              <a:off x="994536" y="3230712"/>
              <a:ext cx="8623596" cy="861070"/>
            </a:xfrm>
            <a:prstGeom prst="rect">
              <a:avLst/>
            </a:prstGeom>
            <a:noFill/>
            <a:ln>
              <a:noFill/>
            </a:ln>
          </p:spPr>
          <p:txBody>
            <a:bodyPr spcFirstLastPara="1" wrap="square" lIns="91125" tIns="91125" rIns="91125" bIns="91125" anchor="ctr" anchorCtr="0">
              <a:noAutofit/>
            </a:bodyPr>
            <a:lstStyle/>
            <a:p>
              <a:pPr marL="0" marR="0" lvl="0" indent="0" algn="l" rtl="0">
                <a:lnSpc>
                  <a:spcPct val="90000"/>
                </a:lnSpc>
                <a:spcBef>
                  <a:spcPts val="0"/>
                </a:spcBef>
                <a:spcAft>
                  <a:spcPts val="0"/>
                </a:spcAft>
                <a:buNone/>
              </a:pPr>
              <a:r>
                <a:rPr lang="en-US" sz="2200" b="0" i="0" u="none" strike="noStrike" cap="none">
                  <a:solidFill>
                    <a:schemeClr val="dk1"/>
                  </a:solidFill>
                  <a:latin typeface="Calibri"/>
                  <a:ea typeface="Calibri"/>
                  <a:cs typeface="Calibri"/>
                  <a:sym typeface="Calibri"/>
                </a:rPr>
                <a:t>Finding the research gap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Calibri"/>
              <a:buNone/>
            </a:pPr>
            <a:r>
              <a:rPr lang="en-US" sz="4000"/>
              <a:t>선행연구를 작성 구조화 예시 </a:t>
            </a:r>
            <a:endParaRPr/>
          </a:p>
        </p:txBody>
      </p:sp>
      <p:sp>
        <p:nvSpPr>
          <p:cNvPr id="289" name="Google Shape;289;p20"/>
          <p:cNvSpPr txBox="1">
            <a:spLocks noGrp="1"/>
          </p:cNvSpPr>
          <p:nvPr>
            <p:ph type="body" idx="1"/>
          </p:nvPr>
        </p:nvSpPr>
        <p:spPr>
          <a:xfrm>
            <a:off x="1151694" y="1835542"/>
            <a:ext cx="10753320" cy="4113996"/>
          </a:xfrm>
          <a:prstGeom prst="rect">
            <a:avLst/>
          </a:prstGeom>
          <a:noFill/>
          <a:ln>
            <a:noFill/>
          </a:ln>
        </p:spPr>
        <p:txBody>
          <a:bodyPr spcFirstLastPara="1" wrap="square" lIns="0" tIns="45700" rIns="0" bIns="45700" anchor="t" anchorCtr="0">
            <a:noAutofit/>
          </a:bodyPr>
          <a:lstStyle/>
          <a:p>
            <a:pPr marL="91440" lvl="0" indent="-95250" algn="l" rtl="0">
              <a:lnSpc>
                <a:spcPct val="90000"/>
              </a:lnSpc>
              <a:spcBef>
                <a:spcPts val="0"/>
              </a:spcBef>
              <a:spcAft>
                <a:spcPts val="0"/>
              </a:spcAft>
              <a:buSzPts val="1500"/>
              <a:buChar char=" "/>
            </a:pPr>
            <a:r>
              <a:rPr lang="en-US" sz="1500"/>
              <a:t>기존의 선행연구에서 생성형 AI를 영어교육에 접목한 연구 소개 </a:t>
            </a:r>
            <a:endParaRPr sz="1500"/>
          </a:p>
          <a:p>
            <a:pPr marL="91440" lvl="0" indent="-95250" algn="l" rtl="0">
              <a:lnSpc>
                <a:spcPct val="90000"/>
              </a:lnSpc>
              <a:spcBef>
                <a:spcPts val="1400"/>
              </a:spcBef>
              <a:spcAft>
                <a:spcPts val="0"/>
              </a:spcAft>
              <a:buSzPts val="1500"/>
              <a:buChar char=" "/>
            </a:pPr>
            <a:r>
              <a:rPr lang="en-US" sz="1500"/>
              <a:t>더 구체적으로 대학의 교양영어 수준에서 접목한 연구 소개 </a:t>
            </a:r>
            <a:endParaRPr sz="1500"/>
          </a:p>
          <a:p>
            <a:pPr marL="91440" lvl="0" indent="-95250" algn="l" rtl="0">
              <a:lnSpc>
                <a:spcPct val="90000"/>
              </a:lnSpc>
              <a:spcBef>
                <a:spcPts val="1400"/>
              </a:spcBef>
              <a:spcAft>
                <a:spcPts val="0"/>
              </a:spcAft>
              <a:buSzPts val="1500"/>
              <a:buChar char=" "/>
            </a:pPr>
            <a:r>
              <a:rPr lang="en-US" sz="1500"/>
              <a:t>연구를 카테고리를 설정하여 정리 필요</a:t>
            </a:r>
            <a:endParaRPr sz="1500"/>
          </a:p>
          <a:p>
            <a:pPr marL="91440" lvl="0" indent="-95250" algn="l" rtl="0">
              <a:lnSpc>
                <a:spcPct val="90000"/>
              </a:lnSpc>
              <a:spcBef>
                <a:spcPts val="1400"/>
              </a:spcBef>
              <a:spcAft>
                <a:spcPts val="0"/>
              </a:spcAft>
              <a:buSzPts val="1500"/>
              <a:buChar char=" "/>
            </a:pPr>
            <a:r>
              <a:rPr lang="en-US" sz="1500"/>
              <a:t>영어 4 skills 구분 하겠다 </a:t>
            </a:r>
            <a:endParaRPr sz="1500"/>
          </a:p>
          <a:p>
            <a:pPr marL="91440" lvl="0" indent="-95250" algn="l" rtl="0">
              <a:lnSpc>
                <a:spcPct val="90000"/>
              </a:lnSpc>
              <a:spcBef>
                <a:spcPts val="1400"/>
              </a:spcBef>
              <a:spcAft>
                <a:spcPts val="0"/>
              </a:spcAft>
              <a:buSzPts val="1500"/>
              <a:buChar char=" "/>
            </a:pPr>
            <a:r>
              <a:rPr lang="en-US" sz="1500"/>
              <a:t>1) reading, 2) speaking, 3) listening, 4) writing</a:t>
            </a:r>
            <a:endParaRPr/>
          </a:p>
          <a:p>
            <a:pPr marL="91440" lvl="0" indent="-95250" algn="l" rtl="0">
              <a:lnSpc>
                <a:spcPct val="90000"/>
              </a:lnSpc>
              <a:spcBef>
                <a:spcPts val="1400"/>
              </a:spcBef>
              <a:spcAft>
                <a:spcPts val="0"/>
              </a:spcAft>
              <a:buSzPts val="1500"/>
              <a:buChar char=" "/>
            </a:pPr>
            <a:r>
              <a:rPr lang="en-US" sz="1500"/>
              <a:t>생성형 AI의 종류에 대해서 설명하겠다</a:t>
            </a:r>
            <a:endParaRPr sz="1500"/>
          </a:p>
          <a:p>
            <a:pPr marL="91440" lvl="0" indent="-95250" algn="l" rtl="0">
              <a:lnSpc>
                <a:spcPct val="90000"/>
              </a:lnSpc>
              <a:spcBef>
                <a:spcPts val="1400"/>
              </a:spcBef>
              <a:spcAft>
                <a:spcPts val="0"/>
              </a:spcAft>
              <a:buSzPts val="1500"/>
              <a:buChar char=" "/>
            </a:pPr>
            <a:r>
              <a:rPr lang="en-US" sz="1500"/>
              <a:t>1) ChatGPT, 2) Bard, 3) 00, 4) 00 </a:t>
            </a:r>
            <a:endParaRPr/>
          </a:p>
          <a:p>
            <a:pPr marL="91440" lvl="0" indent="-95250" algn="l" rtl="0">
              <a:lnSpc>
                <a:spcPct val="90000"/>
              </a:lnSpc>
              <a:spcBef>
                <a:spcPts val="1400"/>
              </a:spcBef>
              <a:spcAft>
                <a:spcPts val="0"/>
              </a:spcAft>
              <a:buSzPts val="1500"/>
              <a:buChar char=" "/>
            </a:pPr>
            <a:r>
              <a:rPr lang="en-US" sz="1500"/>
              <a:t>장점과 단점에 대해서 설명하겠다 </a:t>
            </a:r>
            <a:endParaRPr sz="1500"/>
          </a:p>
          <a:p>
            <a:pPr marL="91440" lvl="0" indent="-95250" algn="l" rtl="0">
              <a:lnSpc>
                <a:spcPct val="90000"/>
              </a:lnSpc>
              <a:spcBef>
                <a:spcPts val="1400"/>
              </a:spcBef>
              <a:spcAft>
                <a:spcPts val="0"/>
              </a:spcAft>
              <a:buSzPts val="1500"/>
              <a:buChar char=" "/>
            </a:pPr>
            <a:r>
              <a:rPr lang="en-US" sz="1500"/>
              <a:t>1) AI를 대학의 영어 수업에 적용 할 때 영어 학습자에게 미치는 장점 (긍정적), </a:t>
            </a:r>
            <a:endParaRPr/>
          </a:p>
          <a:p>
            <a:pPr marL="91440" lvl="0" indent="-95250" algn="l" rtl="0">
              <a:lnSpc>
                <a:spcPct val="90000"/>
              </a:lnSpc>
              <a:spcBef>
                <a:spcPts val="1400"/>
              </a:spcBef>
              <a:spcAft>
                <a:spcPts val="0"/>
              </a:spcAft>
              <a:buSzPts val="1500"/>
              <a:buChar char=" "/>
            </a:pPr>
            <a:r>
              <a:rPr lang="en-US" sz="1500"/>
              <a:t>2) 한계점(부정적 영향)</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Calibri"/>
              <a:buNone/>
            </a:pPr>
            <a:r>
              <a:rPr lang="en-US" sz="4000"/>
              <a:t>선행연구를 구조화 </a:t>
            </a:r>
            <a:endParaRPr/>
          </a:p>
        </p:txBody>
      </p:sp>
      <p:sp>
        <p:nvSpPr>
          <p:cNvPr id="295" name="Google Shape;295;p21"/>
          <p:cNvSpPr txBox="1">
            <a:spLocks noGrp="1"/>
          </p:cNvSpPr>
          <p:nvPr>
            <p:ph type="body" idx="1"/>
          </p:nvPr>
        </p:nvSpPr>
        <p:spPr>
          <a:xfrm>
            <a:off x="1251599" y="1916125"/>
            <a:ext cx="9816204" cy="3880773"/>
          </a:xfrm>
          <a:prstGeom prst="rect">
            <a:avLst/>
          </a:prstGeom>
          <a:noFill/>
          <a:ln>
            <a:noFill/>
          </a:ln>
        </p:spPr>
        <p:txBody>
          <a:bodyPr spcFirstLastPara="1" wrap="square" lIns="0" tIns="45700" rIns="0" bIns="45700" anchor="t" anchorCtr="0">
            <a:normAutofit/>
          </a:bodyPr>
          <a:lstStyle/>
          <a:p>
            <a:pPr marL="91440" lvl="0" indent="-114300" algn="l" rtl="0">
              <a:lnSpc>
                <a:spcPct val="90000"/>
              </a:lnSpc>
              <a:spcBef>
                <a:spcPts val="0"/>
              </a:spcBef>
              <a:spcAft>
                <a:spcPts val="0"/>
              </a:spcAft>
              <a:buSzPts val="1800"/>
              <a:buChar char=" "/>
            </a:pPr>
            <a:r>
              <a:rPr lang="en-US" sz="1800"/>
              <a:t>생성형 AI를 통해, </a:t>
            </a:r>
            <a:endParaRPr/>
          </a:p>
          <a:p>
            <a:pPr marL="91440" lvl="0" indent="-114300" algn="l" rtl="0">
              <a:lnSpc>
                <a:spcPct val="90000"/>
              </a:lnSpc>
              <a:spcBef>
                <a:spcPts val="1400"/>
              </a:spcBef>
              <a:spcAft>
                <a:spcPts val="0"/>
              </a:spcAft>
              <a:buSzPts val="1800"/>
              <a:buChar char=" "/>
            </a:pPr>
            <a:r>
              <a:rPr lang="en-US" sz="1800"/>
              <a:t>1) </a:t>
            </a:r>
            <a:r>
              <a:rPr lang="en-US"/>
              <a:t>영어 실력 측정에서 변화가 있는가? </a:t>
            </a:r>
            <a:endParaRPr/>
          </a:p>
          <a:p>
            <a:pPr marL="91440" lvl="0" indent="-114300" algn="l" rtl="0">
              <a:lnSpc>
                <a:spcPct val="90000"/>
              </a:lnSpc>
              <a:spcBef>
                <a:spcPts val="1400"/>
              </a:spcBef>
              <a:spcAft>
                <a:spcPts val="0"/>
              </a:spcAft>
              <a:buSzPts val="1800"/>
              <a:buChar char=" "/>
            </a:pPr>
            <a:r>
              <a:rPr lang="en-US" sz="1800"/>
              <a:t>VS. 2) 정의적 측면에서 변화가 있는가? </a:t>
            </a:r>
            <a:endParaRPr/>
          </a:p>
          <a:p>
            <a:pPr marL="91440" lvl="0" indent="0" algn="l" rtl="0">
              <a:lnSpc>
                <a:spcPct val="90000"/>
              </a:lnSpc>
              <a:spcBef>
                <a:spcPts val="1400"/>
              </a:spcBef>
              <a:spcAft>
                <a:spcPts val="0"/>
              </a:spcAft>
              <a:buSzPts val="2000"/>
              <a:buNone/>
            </a:pPr>
            <a:endParaRPr/>
          </a:p>
          <a:p>
            <a:pPr marL="91440" lvl="0" indent="-114300" algn="l" rtl="0">
              <a:lnSpc>
                <a:spcPct val="90000"/>
              </a:lnSpc>
              <a:spcBef>
                <a:spcPts val="1400"/>
              </a:spcBef>
              <a:spcAft>
                <a:spcPts val="0"/>
              </a:spcAft>
              <a:buSzPts val="1800"/>
              <a:buChar char=" "/>
            </a:pPr>
            <a:r>
              <a:rPr lang="en-US" sz="1800"/>
              <a:t>1)양적인 방법으로 00을 측정한 경우 (pre-test VS. post-test)</a:t>
            </a:r>
            <a:endParaRPr/>
          </a:p>
          <a:p>
            <a:pPr marL="91440" lvl="0" indent="-114300" algn="l" rtl="0">
              <a:lnSpc>
                <a:spcPct val="90000"/>
              </a:lnSpc>
              <a:spcBef>
                <a:spcPts val="1400"/>
              </a:spcBef>
              <a:spcAft>
                <a:spcPts val="0"/>
              </a:spcAft>
              <a:buSzPts val="1800"/>
              <a:buChar char=" "/>
            </a:pPr>
            <a:r>
              <a:rPr lang="en-US" sz="1800"/>
              <a:t>2)질적인 방법으로 00을 조사한 경우 (인터뷰, 학생들 reflection note)</a:t>
            </a:r>
            <a:endParaRPr/>
          </a:p>
          <a:p>
            <a:pPr marL="91440" lvl="0" indent="0" algn="l" rtl="0">
              <a:lnSpc>
                <a:spcPct val="90000"/>
              </a:lnSpc>
              <a:spcBef>
                <a:spcPts val="1400"/>
              </a:spcBef>
              <a:spcAft>
                <a:spcPts val="0"/>
              </a:spcAft>
              <a:buSzPts val="1800"/>
              <a:buNone/>
            </a:pPr>
            <a:endParaRPr sz="1800"/>
          </a:p>
          <a:p>
            <a:pPr marL="91440" lvl="0" indent="-114300" algn="l" rtl="0">
              <a:lnSpc>
                <a:spcPct val="90000"/>
              </a:lnSpc>
              <a:spcBef>
                <a:spcPts val="1400"/>
              </a:spcBef>
              <a:spcAft>
                <a:spcPts val="0"/>
              </a:spcAft>
              <a:buSzPts val="1800"/>
              <a:buChar char=" "/>
            </a:pPr>
            <a:r>
              <a:rPr lang="en-US" sz="1800"/>
              <a:t>=&gt;카테고리를 통해 정리한 내용을 바탕으로 선행연구의 Gap을 명확히 설명</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Lit Review 1</a:t>
            </a:r>
            <a:endParaRPr/>
          </a:p>
        </p:txBody>
      </p:sp>
      <p:sp>
        <p:nvSpPr>
          <p:cNvPr id="301" name="Google Shape;301;p22"/>
          <p:cNvSpPr txBox="1">
            <a:spLocks noGrp="1"/>
          </p:cNvSpPr>
          <p:nvPr>
            <p:ph type="body" idx="1"/>
          </p:nvPr>
        </p:nvSpPr>
        <p:spPr>
          <a:xfrm>
            <a:off x="1140471" y="1952770"/>
            <a:ext cx="10170775"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Although previous research has demonstrated that ESL field experience had a positive impact on PSTs’ cognitive factors to teach ELLs, there has been a lack of research that specifically focused on understanding mainstream teachers’ language teacher identity. Thus, this study aims to fill the gap in the literature to better understand the role of being a language teacher on mainstream pre-service teachers, and how pre-service teachers shape and develop their language teacher identity throughout their ESL field experience.</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b="1" u="sng"/>
              <a:t>선행연구의 Gap이 제대로 잘 표현되었는가?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2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Lit Review 2</a:t>
            </a:r>
            <a:endParaRPr/>
          </a:p>
        </p:txBody>
      </p:sp>
      <p:sp>
        <p:nvSpPr>
          <p:cNvPr id="307" name="Google Shape;307;p23"/>
          <p:cNvSpPr txBox="1">
            <a:spLocks noGrp="1"/>
          </p:cNvSpPr>
          <p:nvPr>
            <p:ph type="body" idx="1"/>
          </p:nvPr>
        </p:nvSpPr>
        <p:spPr>
          <a:xfrm>
            <a:off x="1170159" y="1887458"/>
            <a:ext cx="10259841" cy="4271261"/>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Bandura (1997) defined self-efficacy as people's beliefs in their capabilities to control their functioning and events that affect their lives. In other words, one's sense of self-efficacy can provide the foundation for motivation, well-being, and personal accomplishment (Bandura, 1997). For instance, an individual's perception of self-efficacy can affect the person's thoughts, feelings, motivation, and actions (Bandura, 1986, 1997). Therefore, Bandura's theory suggests that people with high efficacy will have higher coping behaviors toward their surroundings (Bandura, 1986, 1997). </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b="1" u="sng"/>
              <a:t>위 내용은 어떤 경우에 쓰는걸까? </a:t>
            </a:r>
            <a:endParaRPr/>
          </a:p>
          <a:p>
            <a:pPr marL="91440" lvl="0" indent="-127000" algn="l" rtl="0">
              <a:lnSpc>
                <a:spcPct val="90000"/>
              </a:lnSpc>
              <a:spcBef>
                <a:spcPts val="1400"/>
              </a:spcBef>
              <a:spcAft>
                <a:spcPts val="0"/>
              </a:spcAft>
              <a:buSzPts val="2000"/>
              <a:buChar char=" "/>
            </a:pPr>
            <a:r>
              <a:rPr lang="en-US" b="1" u="sng"/>
              <a:t>무엇을 설명하려고 하는가?</a:t>
            </a:r>
            <a:endParaRPr b="1" u="sng"/>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Lit Review 3</a:t>
            </a:r>
            <a:endParaRPr/>
          </a:p>
        </p:txBody>
      </p:sp>
      <p:sp>
        <p:nvSpPr>
          <p:cNvPr id="313" name="Google Shape;313;p24"/>
          <p:cNvSpPr txBox="1">
            <a:spLocks noGrp="1"/>
          </p:cNvSpPr>
          <p:nvPr>
            <p:ph type="body" idx="1"/>
          </p:nvPr>
        </p:nvSpPr>
        <p:spPr>
          <a:xfrm>
            <a:off x="744609" y="1793652"/>
            <a:ext cx="10976336" cy="4994785"/>
          </a:xfrm>
          <a:prstGeom prst="rect">
            <a:avLst/>
          </a:prstGeom>
          <a:noFill/>
          <a:ln>
            <a:noFill/>
          </a:ln>
        </p:spPr>
        <p:txBody>
          <a:bodyPr spcFirstLastPara="1" wrap="square" lIns="0" tIns="45700" rIns="0" bIns="45700" anchor="t" anchorCtr="0">
            <a:normAutofit/>
          </a:bodyPr>
          <a:lstStyle/>
          <a:p>
            <a:pPr marL="91440" lvl="0" indent="-114300" algn="l" rtl="0">
              <a:lnSpc>
                <a:spcPct val="90000"/>
              </a:lnSpc>
              <a:spcBef>
                <a:spcPts val="0"/>
              </a:spcBef>
              <a:spcAft>
                <a:spcPts val="0"/>
              </a:spcAft>
              <a:buSzPts val="1800"/>
              <a:buChar char=" "/>
            </a:pPr>
            <a:r>
              <a:rPr lang="en-US" sz="1800"/>
              <a:t>On the other hand, research focused on procedural knowledge, which is information that consists of a series of steps, provides evidence that gestures impact learning outcomes. Yung and Paas (2015) found that seventh grade Taiwanese students learned signifcantly more about the cardiovascular system with a virtual human that performed deictic gestures than an absent agent condition. Likewise, Davis and Vincent (2019) examined the use of gesture type and frequency with foreign language university students learning the procedural information of how lightning works. The research included four conditions: an average gesture condition, an enhanced gesture condition that doubled the average gesture frequency, a conversational gesture condition in which the agent only performed movements that carried no semantic meaning, and a no-gesture condition. The results indicated that the enhanced gesture condition scored signifcantly higher than the no-gesture condition, and approached signifcance against the conversational gesture condition. Since there were no other signifcant conditions, this research showed that increasing the gesture frequency is benefcial to foreign language users’ ability to freely recall procedural information about how lightning forms. </a:t>
            </a:r>
            <a:endParaRPr/>
          </a:p>
          <a:p>
            <a:pPr marL="91440" lvl="0" indent="-114300" algn="l" rtl="0">
              <a:lnSpc>
                <a:spcPct val="90000"/>
              </a:lnSpc>
              <a:spcBef>
                <a:spcPts val="1400"/>
              </a:spcBef>
              <a:spcAft>
                <a:spcPts val="0"/>
              </a:spcAft>
              <a:buSzPts val="1800"/>
              <a:buChar char=" "/>
            </a:pPr>
            <a:r>
              <a:rPr lang="en-US" sz="1800" b="1" u="sng"/>
              <a:t>위 내용은 어떤 경우에 쓰는걸까? </a:t>
            </a:r>
            <a:endParaRPr/>
          </a:p>
          <a:p>
            <a:pPr marL="91440" lvl="0" indent="-114300" algn="l" rtl="0">
              <a:lnSpc>
                <a:spcPct val="90000"/>
              </a:lnSpc>
              <a:spcBef>
                <a:spcPts val="1400"/>
              </a:spcBef>
              <a:spcAft>
                <a:spcPts val="0"/>
              </a:spcAft>
              <a:buSzPts val="1800"/>
              <a:buChar char=" "/>
            </a:pPr>
            <a:r>
              <a:rPr lang="en-US" sz="1800" b="1" u="sng"/>
              <a:t>무엇을 설명하려고 하는가?</a:t>
            </a:r>
            <a:endParaRPr sz="1800" b="1" u="sng"/>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Lit Review 3</a:t>
            </a:r>
            <a:endParaRPr/>
          </a:p>
        </p:txBody>
      </p:sp>
      <p:sp>
        <p:nvSpPr>
          <p:cNvPr id="319" name="Google Shape;319;p25"/>
          <p:cNvSpPr txBox="1">
            <a:spLocks noGrp="1"/>
          </p:cNvSpPr>
          <p:nvPr>
            <p:ph type="body" idx="1"/>
          </p:nvPr>
        </p:nvSpPr>
        <p:spPr>
          <a:xfrm>
            <a:off x="1157096" y="1869643"/>
            <a:ext cx="9998584" cy="4239776"/>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Although there have been only a few studies that have measured learning outcomes which can be divided into the knowledge domains of declarative and procedural, the results from those studies signify that procedural information benefits most from designing agents to gesture.</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b="1" u="sng"/>
              <a:t>위 내용은 어떤 경우에 쓰는걸까? </a:t>
            </a:r>
            <a:endParaRPr/>
          </a:p>
          <a:p>
            <a:pPr marL="91440" lvl="0" indent="-127000" algn="l" rtl="0">
              <a:lnSpc>
                <a:spcPct val="90000"/>
              </a:lnSpc>
              <a:spcBef>
                <a:spcPts val="1400"/>
              </a:spcBef>
              <a:spcAft>
                <a:spcPts val="0"/>
              </a:spcAft>
              <a:buSzPts val="2000"/>
              <a:buChar char=" "/>
            </a:pPr>
            <a:r>
              <a:rPr lang="en-US" b="1" u="sng"/>
              <a:t>무엇을 설명하려고 하는가?</a:t>
            </a:r>
            <a:endParaRPr b="1" u="sng"/>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Framing Research Questions:</a:t>
            </a:r>
            <a:endParaRPr/>
          </a:p>
        </p:txBody>
      </p:sp>
      <p:sp>
        <p:nvSpPr>
          <p:cNvPr id="325" name="Google Shape;325;p26"/>
          <p:cNvSpPr txBox="1">
            <a:spLocks noGrp="1"/>
          </p:cNvSpPr>
          <p:nvPr>
            <p:ph type="body" idx="1"/>
          </p:nvPr>
        </p:nvSpPr>
        <p:spPr>
          <a:xfrm>
            <a:off x="1217660" y="1893394"/>
            <a:ext cx="10004522"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Informed by the literature, researchers construct their research questions, ensuring they are both relevant and novel. </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a:t>An example research question could be: "What are the experiences and challenges educators encounter during remote teaching?“</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b="1" u="sng"/>
              <a:t>연구질문과 연구목적은 본인이 하고자 하는 연구분야의 대가의 연구 </a:t>
            </a:r>
            <a:endParaRPr/>
          </a:p>
          <a:p>
            <a:pPr marL="91440" lvl="0" indent="-127000" algn="l" rtl="0">
              <a:lnSpc>
                <a:spcPct val="90000"/>
              </a:lnSpc>
              <a:spcBef>
                <a:spcPts val="1400"/>
              </a:spcBef>
              <a:spcAft>
                <a:spcPts val="0"/>
              </a:spcAft>
              <a:buSzPts val="2000"/>
              <a:buChar char=" "/>
            </a:pPr>
            <a:r>
              <a:rPr lang="en-US" b="1" u="sng"/>
              <a:t>또는 Key paper의 글 구조를 유심히 살펴볼 것.</a:t>
            </a:r>
            <a:endParaRPr/>
          </a:p>
          <a:p>
            <a:pPr marL="91440" lvl="0" indent="-127000" algn="l" rtl="0">
              <a:lnSpc>
                <a:spcPct val="90000"/>
              </a:lnSpc>
              <a:spcBef>
                <a:spcPts val="1400"/>
              </a:spcBef>
              <a:spcAft>
                <a:spcPts val="0"/>
              </a:spcAft>
              <a:buSzPts val="2000"/>
              <a:buChar char=" "/>
            </a:pPr>
            <a:r>
              <a:rPr lang="en-US" b="1" u="sng"/>
              <a:t>연구목적-연구질문-연구방법론 3가지의 Alignment 에 반드시 신경 쓸 것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RQ1</a:t>
            </a:r>
            <a:endParaRPr/>
          </a:p>
        </p:txBody>
      </p:sp>
      <p:sp>
        <p:nvSpPr>
          <p:cNvPr id="331" name="Google Shape;331;p27"/>
          <p:cNvSpPr txBox="1">
            <a:spLocks noGrp="1"/>
          </p:cNvSpPr>
          <p:nvPr>
            <p:ph type="body" idx="1"/>
          </p:nvPr>
        </p:nvSpPr>
        <p:spPr>
          <a:xfrm>
            <a:off x="1217660" y="1857768"/>
            <a:ext cx="9938019" cy="4511709"/>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The purpose of this study is to explore how ESL field experiences influence pre-service teachers to become effective teachers of ELLs. Using language teacher identity as a theoretical framework, this study explores the following research question: How do ESL field experiences influence preservice teachers’ cognitive factors to teach and work with ELLs?</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b="1" u="sng"/>
              <a:t>연구목적과 연구질문이 잘 매칭이 되는가?</a:t>
            </a:r>
            <a:endParaRPr b="1" u="sng"/>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RQ2</a:t>
            </a:r>
            <a:endParaRPr/>
          </a:p>
        </p:txBody>
      </p:sp>
      <p:sp>
        <p:nvSpPr>
          <p:cNvPr id="337" name="Google Shape;337;p28"/>
          <p:cNvSpPr txBox="1">
            <a:spLocks noGrp="1"/>
          </p:cNvSpPr>
          <p:nvPr>
            <p:ph type="body" idx="1"/>
          </p:nvPr>
        </p:nvSpPr>
        <p:spPr>
          <a:xfrm>
            <a:off x="1211724" y="1917144"/>
            <a:ext cx="10010458"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Q1: How has Korean preservice teachers' self-efficacy changed before and after participating in a hybrid field experience regarding instructional strategies? </a:t>
            </a:r>
            <a:endParaRPr/>
          </a:p>
          <a:p>
            <a:pPr marL="91440" lvl="0" indent="-127000" algn="l" rtl="0">
              <a:lnSpc>
                <a:spcPct val="90000"/>
              </a:lnSpc>
              <a:spcBef>
                <a:spcPts val="1400"/>
              </a:spcBef>
              <a:spcAft>
                <a:spcPts val="0"/>
              </a:spcAft>
              <a:buSzPts val="2000"/>
              <a:buChar char=" "/>
            </a:pPr>
            <a:r>
              <a:rPr lang="en-US"/>
              <a:t>Q2: How has Korean preservice teachers' self-efficacy changed before and after participating in a hybrid field experience regarding classroom management? </a:t>
            </a:r>
            <a:endParaRPr/>
          </a:p>
          <a:p>
            <a:pPr marL="91440" lvl="0" indent="-127000" algn="l" rtl="0">
              <a:lnSpc>
                <a:spcPct val="90000"/>
              </a:lnSpc>
              <a:spcBef>
                <a:spcPts val="1400"/>
              </a:spcBef>
              <a:spcAft>
                <a:spcPts val="0"/>
              </a:spcAft>
              <a:buSzPts val="2000"/>
              <a:buChar char=" "/>
            </a:pPr>
            <a:r>
              <a:rPr lang="en-US"/>
              <a:t>Q3: How has Korean preservice teachers' self-efficacy changed before and after participating in hybrid field experiences regarding student engagement?</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b="1" u="sng"/>
              <a:t>위 내용에서 빠진 부분은 무엇일까?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500"/>
              <a:buFont typeface="Calibri"/>
              <a:buNone/>
            </a:pPr>
            <a:r>
              <a:rPr lang="en-US" sz="3500"/>
              <a:t>Sample RQ3 – 아래 내용은 잘 작성이 되었는가?</a:t>
            </a:r>
            <a:endParaRPr sz="3500"/>
          </a:p>
        </p:txBody>
      </p:sp>
      <p:sp>
        <p:nvSpPr>
          <p:cNvPr id="343" name="Google Shape;343;p29"/>
          <p:cNvSpPr txBox="1">
            <a:spLocks noGrp="1"/>
          </p:cNvSpPr>
          <p:nvPr>
            <p:ph type="body" idx="1"/>
          </p:nvPr>
        </p:nvSpPr>
        <p:spPr>
          <a:xfrm>
            <a:off x="1097280" y="1810266"/>
            <a:ext cx="10148652" cy="4822102"/>
          </a:xfrm>
          <a:prstGeom prst="rect">
            <a:avLst/>
          </a:prstGeom>
          <a:noFill/>
          <a:ln>
            <a:noFill/>
          </a:ln>
        </p:spPr>
        <p:txBody>
          <a:bodyPr spcFirstLastPara="1" wrap="square" lIns="0" tIns="45700" rIns="0" bIns="45700" anchor="t" anchorCtr="0">
            <a:normAutofit/>
          </a:bodyPr>
          <a:lstStyle/>
          <a:p>
            <a:pPr marL="91440" lvl="0" indent="-114300" algn="l" rtl="0">
              <a:lnSpc>
                <a:spcPct val="90000"/>
              </a:lnSpc>
              <a:spcBef>
                <a:spcPts val="0"/>
              </a:spcBef>
              <a:spcAft>
                <a:spcPts val="0"/>
              </a:spcAft>
              <a:buSzPts val="1800"/>
              <a:buChar char=" "/>
            </a:pPr>
            <a:r>
              <a:rPr lang="en-US" sz="1800"/>
              <a:t>The purpose of this research is to examine whether virtual human gesture frequency and reduced video speed afect satisfaction, free recall, and transfer when creating multimedia environments to teach procedural information to foreign language users. While the use of gestures has been found to assist with comprehension, the literature on speech rate has only focused on audio recordings and not video and audio together. Although there is evidence that gestures help foreign language users to a signifcant degree in recalling more information, it is unknown whether or to what extent a reduction in video speed could provide equal or greater benefts than designing gestures for a pedagogical virtual human. Thus, this research attempts to answer the following questions. </a:t>
            </a:r>
            <a:endParaRPr/>
          </a:p>
          <a:p>
            <a:pPr marL="91440" lvl="0" indent="-114300" algn="l" rtl="0">
              <a:lnSpc>
                <a:spcPct val="90000"/>
              </a:lnSpc>
              <a:spcBef>
                <a:spcPts val="1400"/>
              </a:spcBef>
              <a:spcAft>
                <a:spcPts val="0"/>
              </a:spcAft>
              <a:buSzPts val="1800"/>
              <a:buChar char=" "/>
            </a:pPr>
            <a:r>
              <a:rPr lang="en-US" sz="1800"/>
              <a:t>RQ1: To what extent do gesture frequency (enhanced vs. average vs. no) and video speed (normal vs. reduced) afect learner satisfaction? </a:t>
            </a:r>
            <a:endParaRPr/>
          </a:p>
          <a:p>
            <a:pPr marL="91440" lvl="0" indent="-114300" algn="l" rtl="0">
              <a:lnSpc>
                <a:spcPct val="90000"/>
              </a:lnSpc>
              <a:spcBef>
                <a:spcPts val="1400"/>
              </a:spcBef>
              <a:spcAft>
                <a:spcPts val="0"/>
              </a:spcAft>
              <a:buSzPts val="1800"/>
              <a:buChar char=" "/>
            </a:pPr>
            <a:r>
              <a:rPr lang="en-US" sz="1800"/>
              <a:t>RQ2: To what extent do gesture frequency (enhanced vs. average vs. no) and video speed (normal vs. reduced) afect free recall with procedural information? </a:t>
            </a:r>
            <a:endParaRPr/>
          </a:p>
          <a:p>
            <a:pPr marL="91440" lvl="0" indent="-114300" algn="l" rtl="0">
              <a:lnSpc>
                <a:spcPct val="90000"/>
              </a:lnSpc>
              <a:spcBef>
                <a:spcPts val="1400"/>
              </a:spcBef>
              <a:spcAft>
                <a:spcPts val="0"/>
              </a:spcAft>
              <a:buSzPts val="1800"/>
              <a:buChar char=" "/>
            </a:pPr>
            <a:r>
              <a:rPr lang="en-US" sz="1800"/>
              <a:t>RQ3: To what extent do gesture frequency (enhanced vs. average vs. no) and video speed (normal vs. reduced) afect transfer with procedural information?</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Calibri"/>
              <a:buNone/>
            </a:pPr>
            <a:r>
              <a:rPr lang="en-US" sz="4000"/>
              <a:t>METHODOLOGY/RESEARCH DESIGN</a:t>
            </a:r>
            <a:endParaRPr sz="4000"/>
          </a:p>
        </p:txBody>
      </p:sp>
      <p:sp>
        <p:nvSpPr>
          <p:cNvPr id="349" name="Google Shape;349;p30"/>
          <p:cNvSpPr txBox="1">
            <a:spLocks noGrp="1"/>
          </p:cNvSpPr>
          <p:nvPr>
            <p:ph type="body" idx="1"/>
          </p:nvPr>
        </p:nvSpPr>
        <p:spPr>
          <a:xfrm>
            <a:off x="1199849" y="1845894"/>
            <a:ext cx="10141086"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The methodology and research design section includes a detailed explanation of the research design, context, study participants (subjects) or sampling methods, data collection process, and data analysis procedure. </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b="1" u="sng"/>
              <a:t>In quantitative research, the reliability and validity processes are explained, while in qualitative research, the trustworthiness is established. </a:t>
            </a:r>
            <a:endParaRPr b="1" u="sng"/>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Calibri"/>
              <a:buNone/>
            </a:pPr>
            <a:r>
              <a:rPr lang="en-US" sz="4000"/>
              <a:t>RESEARCH DESIGN &amp; METHODOLOGY</a:t>
            </a:r>
            <a:endParaRPr sz="4000"/>
          </a:p>
        </p:txBody>
      </p:sp>
      <p:sp>
        <p:nvSpPr>
          <p:cNvPr id="355" name="Google Shape;355;p31"/>
          <p:cNvSpPr txBox="1">
            <a:spLocks noGrp="1"/>
          </p:cNvSpPr>
          <p:nvPr>
            <p:ph type="body" idx="1"/>
          </p:nvPr>
        </p:nvSpPr>
        <p:spPr>
          <a:xfrm>
            <a:off x="1170160" y="1810267"/>
            <a:ext cx="9909518" cy="4816164"/>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Depending on the research question(s) and research philosophy, a researcher may choose a qualitative, quantitative, or mixed-methods research design. </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a:t>Selecting research methods: Researchers must select methods that align with their design and questions. Continuing the example above, semi-structured interviews might be selected to garner rich, detailed data regarding educators' experiences. </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a:t>Sampling strategies: Identifying and selecting participants/sample is pivotal, ensuring the sample is representative and pertinent. Purposive sampling, for instance, might be employed to ensure participating educators have experienced remote teaching, thereby enriching the data's relevance and applicability.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Calibri"/>
              <a:buNone/>
            </a:pPr>
            <a:r>
              <a:rPr lang="en-US" sz="4000"/>
              <a:t>연구방법론 제시 방식</a:t>
            </a:r>
            <a:endParaRPr/>
          </a:p>
        </p:txBody>
      </p:sp>
      <p:sp>
        <p:nvSpPr>
          <p:cNvPr id="361" name="Google Shape;361;p32"/>
          <p:cNvSpPr txBox="1">
            <a:spLocks noGrp="1"/>
          </p:cNvSpPr>
          <p:nvPr>
            <p:ph type="body" idx="1"/>
          </p:nvPr>
        </p:nvSpPr>
        <p:spPr>
          <a:xfrm>
            <a:off x="1168532" y="1952612"/>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Research Context (Experimental Stage)</a:t>
            </a:r>
            <a:endParaRPr/>
          </a:p>
          <a:p>
            <a:pPr marL="91440" lvl="0" indent="-127000" algn="l" rtl="0">
              <a:lnSpc>
                <a:spcPct val="90000"/>
              </a:lnSpc>
              <a:spcBef>
                <a:spcPts val="1400"/>
              </a:spcBef>
              <a:spcAft>
                <a:spcPts val="0"/>
              </a:spcAft>
              <a:buSzPts val="2000"/>
              <a:buChar char=" "/>
            </a:pPr>
            <a:r>
              <a:rPr lang="en-US"/>
              <a:t>Study Participants </a:t>
            </a:r>
            <a:endParaRPr/>
          </a:p>
          <a:p>
            <a:pPr marL="91440" lvl="0" indent="-127000" algn="l" rtl="0">
              <a:lnSpc>
                <a:spcPct val="90000"/>
              </a:lnSpc>
              <a:spcBef>
                <a:spcPts val="1400"/>
              </a:spcBef>
              <a:spcAft>
                <a:spcPts val="0"/>
              </a:spcAft>
              <a:buSzPts val="2000"/>
              <a:buChar char=" "/>
            </a:pPr>
            <a:r>
              <a:rPr lang="en-US"/>
              <a:t>Data Collection (Survey Instrument)</a:t>
            </a:r>
            <a:endParaRPr/>
          </a:p>
          <a:p>
            <a:pPr marL="91440" lvl="0" indent="-127000" algn="l" rtl="0">
              <a:lnSpc>
                <a:spcPct val="90000"/>
              </a:lnSpc>
              <a:spcBef>
                <a:spcPts val="1400"/>
              </a:spcBef>
              <a:spcAft>
                <a:spcPts val="0"/>
              </a:spcAft>
              <a:buSzPts val="2000"/>
              <a:buChar char=" "/>
            </a:pPr>
            <a:r>
              <a:rPr lang="en-US"/>
              <a:t>Data Analysis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Calibri"/>
              <a:buNone/>
            </a:pPr>
            <a:r>
              <a:rPr lang="en-US" sz="4000"/>
              <a:t>연구 방법론 작성 구조화 예시 </a:t>
            </a:r>
            <a:endParaRPr/>
          </a:p>
        </p:txBody>
      </p:sp>
      <p:sp>
        <p:nvSpPr>
          <p:cNvPr id="367" name="Google Shape;367;p33"/>
          <p:cNvSpPr txBox="1">
            <a:spLocks noGrp="1"/>
          </p:cNvSpPr>
          <p:nvPr>
            <p:ph type="body" idx="1"/>
          </p:nvPr>
        </p:nvSpPr>
        <p:spPr>
          <a:xfrm>
            <a:off x="1269325" y="1862685"/>
            <a:ext cx="10101298" cy="4333347"/>
          </a:xfrm>
          <a:prstGeom prst="rect">
            <a:avLst/>
          </a:prstGeom>
          <a:noFill/>
          <a:ln>
            <a:noFill/>
          </a:ln>
        </p:spPr>
        <p:txBody>
          <a:bodyPr spcFirstLastPara="1" wrap="square" lIns="0" tIns="45700" rIns="0" bIns="45700" anchor="t" anchorCtr="0">
            <a:normAutofit fontScale="92500" lnSpcReduction="20000"/>
          </a:bodyPr>
          <a:lstStyle/>
          <a:p>
            <a:pPr marL="91440" lvl="0" indent="-117475" algn="l" rtl="0">
              <a:lnSpc>
                <a:spcPct val="90000"/>
              </a:lnSpc>
              <a:spcBef>
                <a:spcPts val="0"/>
              </a:spcBef>
              <a:spcAft>
                <a:spcPts val="0"/>
              </a:spcAft>
              <a:buSzPct val="100000"/>
              <a:buChar char=" "/>
            </a:pPr>
            <a:r>
              <a:rPr lang="en-US"/>
              <a:t>연구를 적용하는 연구 문맥 제시 – Research Context, Research Setting</a:t>
            </a:r>
            <a:endParaRPr/>
          </a:p>
          <a:p>
            <a:pPr marL="91440" lvl="0" indent="-117475" algn="l" rtl="0">
              <a:lnSpc>
                <a:spcPct val="90000"/>
              </a:lnSpc>
              <a:spcBef>
                <a:spcPts val="1400"/>
              </a:spcBef>
              <a:spcAft>
                <a:spcPts val="0"/>
              </a:spcAft>
              <a:buSzPct val="100000"/>
              <a:buChar char=" "/>
            </a:pPr>
            <a:r>
              <a:rPr lang="en-US"/>
              <a:t>연구의 참여자 (Demographic information of study participants, Study participants’ sampling 방법 등)</a:t>
            </a:r>
            <a:endParaRPr/>
          </a:p>
          <a:p>
            <a:pPr marL="91440" lvl="0" indent="-117475" algn="l" rtl="0">
              <a:lnSpc>
                <a:spcPct val="90000"/>
              </a:lnSpc>
              <a:spcBef>
                <a:spcPts val="1400"/>
              </a:spcBef>
              <a:spcAft>
                <a:spcPts val="0"/>
              </a:spcAft>
              <a:buSzPct val="100000"/>
              <a:buChar char=" "/>
            </a:pPr>
            <a:r>
              <a:rPr lang="en-US"/>
              <a:t>실험연구의 단계 정리 (Stages of Experiment)</a:t>
            </a:r>
            <a:endParaRPr/>
          </a:p>
          <a:p>
            <a:pPr marL="91440" lvl="0" indent="0" algn="l" rtl="0">
              <a:lnSpc>
                <a:spcPct val="90000"/>
              </a:lnSpc>
              <a:spcBef>
                <a:spcPts val="1400"/>
              </a:spcBef>
              <a:spcAft>
                <a:spcPts val="0"/>
              </a:spcAft>
              <a:buSzPct val="100000"/>
              <a:buNone/>
            </a:pPr>
            <a:endParaRPr/>
          </a:p>
          <a:p>
            <a:pPr marL="91440" lvl="0" indent="-117475" algn="l" rtl="0">
              <a:lnSpc>
                <a:spcPct val="90000"/>
              </a:lnSpc>
              <a:spcBef>
                <a:spcPts val="1400"/>
              </a:spcBef>
              <a:spcAft>
                <a:spcPts val="0"/>
              </a:spcAft>
              <a:buSzPct val="100000"/>
              <a:buChar char=" "/>
            </a:pPr>
            <a:r>
              <a:rPr lang="en-US"/>
              <a:t>데이터 수집 (Data collection)</a:t>
            </a:r>
            <a:endParaRPr/>
          </a:p>
          <a:p>
            <a:pPr marL="91440" lvl="0" indent="-117475" algn="l" rtl="0">
              <a:lnSpc>
                <a:spcPct val="90000"/>
              </a:lnSpc>
              <a:spcBef>
                <a:spcPts val="1400"/>
              </a:spcBef>
              <a:spcAft>
                <a:spcPts val="0"/>
              </a:spcAft>
              <a:buSzPct val="100000"/>
              <a:buChar char=" "/>
            </a:pPr>
            <a:r>
              <a:rPr lang="en-US"/>
              <a:t>설문지: 도구 설명 (반드시 reliability, validity 보고)</a:t>
            </a:r>
            <a:endParaRPr/>
          </a:p>
          <a:p>
            <a:pPr marL="91440" lvl="0" indent="-117475" algn="l" rtl="0">
              <a:lnSpc>
                <a:spcPct val="90000"/>
              </a:lnSpc>
              <a:spcBef>
                <a:spcPts val="1400"/>
              </a:spcBef>
              <a:spcAft>
                <a:spcPts val="0"/>
              </a:spcAft>
              <a:buSzPct val="100000"/>
              <a:buChar char=" "/>
            </a:pPr>
            <a:r>
              <a:rPr lang="en-US"/>
              <a:t>인터뷰: 방법 설명 (1:1인터뷰, 포커스 그룹 인터뷰 등) </a:t>
            </a:r>
            <a:endParaRPr/>
          </a:p>
          <a:p>
            <a:pPr marL="91440" lvl="0" indent="0" algn="l" rtl="0">
              <a:lnSpc>
                <a:spcPct val="90000"/>
              </a:lnSpc>
              <a:spcBef>
                <a:spcPts val="1400"/>
              </a:spcBef>
              <a:spcAft>
                <a:spcPts val="0"/>
              </a:spcAft>
              <a:buSzPct val="100000"/>
              <a:buNone/>
            </a:pPr>
            <a:endParaRPr/>
          </a:p>
          <a:p>
            <a:pPr marL="91440" lvl="0" indent="-117475" algn="l" rtl="0">
              <a:lnSpc>
                <a:spcPct val="90000"/>
              </a:lnSpc>
              <a:spcBef>
                <a:spcPts val="1400"/>
              </a:spcBef>
              <a:spcAft>
                <a:spcPts val="0"/>
              </a:spcAft>
              <a:buSzPct val="100000"/>
              <a:buChar char=" "/>
            </a:pPr>
            <a:r>
              <a:rPr lang="en-US"/>
              <a:t>데이터 분석 (Data analysis)</a:t>
            </a:r>
            <a:endParaRPr/>
          </a:p>
          <a:p>
            <a:pPr marL="91440" lvl="0" indent="-117475" algn="l" rtl="0">
              <a:lnSpc>
                <a:spcPct val="90000"/>
              </a:lnSpc>
              <a:spcBef>
                <a:spcPts val="1400"/>
              </a:spcBef>
              <a:spcAft>
                <a:spcPts val="0"/>
              </a:spcAft>
              <a:buSzPct val="100000"/>
              <a:buChar char=" "/>
            </a:pPr>
            <a:r>
              <a:rPr lang="en-US"/>
              <a:t>양적: SPSS – 무슨 방법을 사용해서 어떻게 분석했는가</a:t>
            </a:r>
            <a:endParaRPr/>
          </a:p>
          <a:p>
            <a:pPr marL="91440" lvl="0" indent="-117475" algn="l" rtl="0">
              <a:lnSpc>
                <a:spcPct val="90000"/>
              </a:lnSpc>
              <a:spcBef>
                <a:spcPts val="1400"/>
              </a:spcBef>
              <a:spcAft>
                <a:spcPts val="0"/>
              </a:spcAft>
              <a:buSzPct val="100000"/>
              <a:buChar char=" "/>
            </a:pPr>
            <a:r>
              <a:rPr lang="en-US"/>
              <a:t>질적: 어떤 분석 방법 사용했는가: 주제별 분석 </a:t>
            </a:r>
            <a:endParaRPr/>
          </a:p>
          <a:p>
            <a:pPr marL="91440" lvl="0" indent="0" algn="l" rtl="0">
              <a:lnSpc>
                <a:spcPct val="90000"/>
              </a:lnSpc>
              <a:spcBef>
                <a:spcPts val="1400"/>
              </a:spcBef>
              <a:spcAft>
                <a:spcPts val="0"/>
              </a:spcAft>
              <a:buSzPct val="1000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Research Method 1</a:t>
            </a:r>
            <a:endParaRPr/>
          </a:p>
        </p:txBody>
      </p:sp>
      <p:sp>
        <p:nvSpPr>
          <p:cNvPr id="373" name="Google Shape;373;p34"/>
          <p:cNvSpPr txBox="1">
            <a:spLocks noGrp="1"/>
          </p:cNvSpPr>
          <p:nvPr>
            <p:ph type="body" idx="1"/>
          </p:nvPr>
        </p:nvSpPr>
        <p:spPr>
          <a:xfrm>
            <a:off x="1187972" y="1810267"/>
            <a:ext cx="10170776" cy="5101172"/>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The current study was conducted in a large, public university located in a southeastern state of the United States (US). Because the State has one of the largest ELL populations in the US, it is mandatory that all teachers have to complete professional development in terms of second language teaching and learning. The professional development consists of five curricular areas: applied linguistics, cross-cultural communication, ESL methods, ESL curriculum and materials development, and ESL assessment. </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b="1" u="sng"/>
              <a:t>위는 무엇을 설명한 부분인가?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Research Method 2</a:t>
            </a:r>
            <a:endParaRPr/>
          </a:p>
        </p:txBody>
      </p:sp>
      <p:sp>
        <p:nvSpPr>
          <p:cNvPr id="379" name="Google Shape;379;p35"/>
          <p:cNvSpPr txBox="1">
            <a:spLocks noGrp="1"/>
          </p:cNvSpPr>
          <p:nvPr>
            <p:ph type="body" idx="1"/>
          </p:nvPr>
        </p:nvSpPr>
        <p:spPr>
          <a:xfrm>
            <a:off x="962340" y="1804330"/>
            <a:ext cx="10478347" cy="5101172"/>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In alignment with the teacher professional development for teaching ELLs, the teacher preparation program in the current study implemented two ESL practicums for PSTs to receive an ESL endorsement. The first practicum required PSTs to observe mainstream classrooms, such as math and reading subjects a full day per week in a rural district. By the end of the course, PSTs were required to submit ELL field reports that presented their field experiences. The second practicum asked PSTs to work with ELLs through individual tutoring and small group activities for a minimum of 10 hours during the 16-week semester. PSTs were required to consider targeted questions each week and post a field experience reflection paper on an online discussion forum; and then submit a final reflection essay focusing on their field experience of teaching ELLs at the end of the semester.</a:t>
            </a:r>
            <a:endParaRPr/>
          </a:p>
          <a:p>
            <a:pPr marL="91440" lvl="0" indent="-127000" algn="l" rtl="0">
              <a:lnSpc>
                <a:spcPct val="90000"/>
              </a:lnSpc>
              <a:spcBef>
                <a:spcPts val="1400"/>
              </a:spcBef>
              <a:spcAft>
                <a:spcPts val="0"/>
              </a:spcAft>
              <a:buSzPts val="2000"/>
              <a:buChar char=" "/>
            </a:pPr>
            <a:r>
              <a:rPr lang="en-US" b="1" u="sng"/>
              <a:t>위는 무엇을 설명한 부분인가? </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Research Method 3</a:t>
            </a:r>
            <a:endParaRPr/>
          </a:p>
        </p:txBody>
      </p:sp>
      <p:sp>
        <p:nvSpPr>
          <p:cNvPr id="385" name="Google Shape;385;p36"/>
          <p:cNvSpPr txBox="1">
            <a:spLocks noGrp="1"/>
          </p:cNvSpPr>
          <p:nvPr>
            <p:ph type="body" idx="1"/>
          </p:nvPr>
        </p:nvSpPr>
        <p:spPr>
          <a:xfrm>
            <a:off x="1003905" y="1851830"/>
            <a:ext cx="10574536" cy="4590533"/>
          </a:xfrm>
          <a:prstGeom prst="rect">
            <a:avLst/>
          </a:prstGeom>
          <a:noFill/>
          <a:ln>
            <a:noFill/>
          </a:ln>
        </p:spPr>
        <p:txBody>
          <a:bodyPr spcFirstLastPara="1" wrap="square" lIns="0" tIns="45700" rIns="0" bIns="45700" anchor="t" anchorCtr="0">
            <a:normAutofit/>
          </a:bodyPr>
          <a:lstStyle/>
          <a:p>
            <a:pPr marL="91440" lvl="0" indent="-114300" algn="l" rtl="0">
              <a:lnSpc>
                <a:spcPct val="90000"/>
              </a:lnSpc>
              <a:spcBef>
                <a:spcPts val="0"/>
              </a:spcBef>
              <a:spcAft>
                <a:spcPts val="0"/>
              </a:spcAft>
              <a:buSzPts val="1800"/>
              <a:buChar char=" "/>
            </a:pPr>
            <a:r>
              <a:rPr lang="en-US" sz="1800"/>
              <a:t>This experiment used a 3×2 factorial design with gesture frequency (enhanced vs. average vs. no) and video speed (1.00=normal vs. .75=reduced). Participants were randomly assigned to one of the six conditions in which they read and were explained informed consent, provided demographic information, watched a video on how lightning forms, completed a satisfaction survey, and answered free recall and transfer questions. A total of 234 students from a foreign language university in Seoul, South Korea, participated in this research. The average age of the participants was 22.67 (SD=3.11), with 145 (62%) identifying their native language as Korean, and 74 (32%) identifying their native language as Russian, Spanish, German, Vietnamese, or Chinese. Fifteen (6%) of the students identifed their native language as English. The data was analyzed to assess whether native English speakers signifcantly altered the fndings. Analysis showed that native speakers were evenly spread across conditions with two or three in each group, and the inclusion of their data did not signifcantly alter any of the outcomes. For these reasons, native English speakers were kept in the study. All students either majored or double majored in a department in which the English language was the area of study, and all participants were registered in classes where English was the language of instruction. All participants would be classifed as advanced English language users.</a:t>
            </a:r>
            <a:endParaRPr/>
          </a:p>
          <a:p>
            <a:pPr marL="91440" lvl="0" indent="-114300" algn="l" rtl="0">
              <a:lnSpc>
                <a:spcPct val="90000"/>
              </a:lnSpc>
              <a:spcBef>
                <a:spcPts val="1400"/>
              </a:spcBef>
              <a:spcAft>
                <a:spcPts val="0"/>
              </a:spcAft>
              <a:buSzPts val="1800"/>
              <a:buChar char=" "/>
            </a:pPr>
            <a:r>
              <a:rPr lang="en-US" sz="1800" b="1" u="sng"/>
              <a:t>위는 무엇을 설명한 부분인가? </a:t>
            </a:r>
            <a:endParaRPr/>
          </a:p>
          <a:p>
            <a:pPr marL="91440" lvl="0" indent="0" algn="l" rtl="0">
              <a:lnSpc>
                <a:spcPct val="90000"/>
              </a:lnSpc>
              <a:spcBef>
                <a:spcPts val="1400"/>
              </a:spcBef>
              <a:spcAft>
                <a:spcPts val="0"/>
              </a:spcAft>
              <a:buSzPts val="1800"/>
              <a:buNone/>
            </a:pP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FINDINGS/RESULTS</a:t>
            </a:r>
            <a:endParaRPr/>
          </a:p>
        </p:txBody>
      </p:sp>
      <p:sp>
        <p:nvSpPr>
          <p:cNvPr id="391" name="Google Shape;391;p37"/>
          <p:cNvSpPr txBox="1">
            <a:spLocks noGrp="1"/>
          </p:cNvSpPr>
          <p:nvPr>
            <p:ph type="body" idx="1"/>
          </p:nvPr>
        </p:nvSpPr>
        <p:spPr>
          <a:xfrm>
            <a:off x="1176098" y="1940896"/>
            <a:ext cx="10141086"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The findings or results are presented in an organized manner, tailored to the specific research design and methodology you proposed in the previous section. </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a:t>In the findings/results section, </a:t>
            </a:r>
            <a:r>
              <a:rPr lang="en-US" b="1" u="sng"/>
              <a:t>readability for the readers </a:t>
            </a:r>
            <a:r>
              <a:rPr lang="en-US"/>
              <a:t>should be prioritized to ensure the findings are apparent to the readers rather than being overly focused on the author’s perspective.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3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DATA ANALYSIS &amp; INTERPRETATION</a:t>
            </a:r>
            <a:endParaRPr/>
          </a:p>
        </p:txBody>
      </p:sp>
      <p:sp>
        <p:nvSpPr>
          <p:cNvPr id="397" name="Google Shape;397;p38"/>
          <p:cNvSpPr txBox="1">
            <a:spLocks noGrp="1"/>
          </p:cNvSpPr>
          <p:nvPr>
            <p:ph type="body" idx="1"/>
          </p:nvPr>
        </p:nvSpPr>
        <p:spPr>
          <a:xfrm>
            <a:off x="1187972" y="1911208"/>
            <a:ext cx="9967708"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Analyzing data: </a:t>
            </a:r>
            <a:endParaRPr/>
          </a:p>
          <a:p>
            <a:pPr marL="91440" lvl="0" indent="-127000" algn="l" rtl="0">
              <a:lnSpc>
                <a:spcPct val="90000"/>
              </a:lnSpc>
              <a:spcBef>
                <a:spcPts val="1400"/>
              </a:spcBef>
              <a:spcAft>
                <a:spcPts val="0"/>
              </a:spcAft>
              <a:buSzPts val="2000"/>
              <a:buChar char=" "/>
            </a:pPr>
            <a:r>
              <a:rPr lang="en-US"/>
              <a:t>Employing suitable analytical strategies enables the data to be meaningfully interpreted. </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a:t>Interpreting findings: Interpreting the findings involves situating them within the larger research context, considering their implications, relevance, and potential applications.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000"/>
              <a:buFont typeface="Calibri"/>
              <a:buNone/>
            </a:pPr>
            <a:r>
              <a:rPr lang="en-US" sz="3000"/>
              <a:t>데이터 분석 결과는 연구의 목적에 맞게 구성하면 제일 좋음</a:t>
            </a:r>
            <a:endParaRPr/>
          </a:p>
        </p:txBody>
      </p:sp>
      <p:sp>
        <p:nvSpPr>
          <p:cNvPr id="403" name="Google Shape;403;p39"/>
          <p:cNvSpPr txBox="1">
            <a:spLocks noGrp="1"/>
          </p:cNvSpPr>
          <p:nvPr>
            <p:ph type="body" idx="1"/>
          </p:nvPr>
        </p:nvSpPr>
        <p:spPr>
          <a:xfrm>
            <a:off x="1271372" y="1964156"/>
            <a:ext cx="8596668"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본 연구는 생성형 AI가 대학 교양영어를 수강하는 영어학습자들의 정의적 요인에 미치는 영향을 조사하고자 한다. </a:t>
            </a:r>
            <a:endParaRPr/>
          </a:p>
          <a:p>
            <a:pPr marL="91440" lvl="0" indent="-127000" algn="l" rtl="0">
              <a:lnSpc>
                <a:spcPct val="90000"/>
              </a:lnSpc>
              <a:spcBef>
                <a:spcPts val="1400"/>
              </a:spcBef>
              <a:spcAft>
                <a:spcPts val="0"/>
              </a:spcAft>
              <a:buSzPts val="2000"/>
              <a:buChar char=" "/>
            </a:pPr>
            <a:r>
              <a:rPr lang="en-US"/>
              <a:t>정의적 요인(동기부여, 관심, 자신감등)</a:t>
            </a:r>
            <a:endParaRPr/>
          </a:p>
          <a:p>
            <a:pPr marL="91440" lvl="0" indent="-127000" algn="l" rtl="0">
              <a:lnSpc>
                <a:spcPct val="90000"/>
              </a:lnSpc>
              <a:spcBef>
                <a:spcPts val="1400"/>
              </a:spcBef>
              <a:spcAft>
                <a:spcPts val="0"/>
              </a:spcAft>
              <a:buSzPts val="2000"/>
              <a:buChar char=" "/>
            </a:pPr>
            <a:r>
              <a:rPr lang="en-US"/>
              <a:t>1) 동기부여 – generative AI on ELLs’ motivation of leaning English </a:t>
            </a:r>
            <a:endParaRPr/>
          </a:p>
          <a:p>
            <a:pPr marL="91440" lvl="0" indent="-127000" algn="l" rtl="0">
              <a:lnSpc>
                <a:spcPct val="90000"/>
              </a:lnSpc>
              <a:spcBef>
                <a:spcPts val="1400"/>
              </a:spcBef>
              <a:spcAft>
                <a:spcPts val="0"/>
              </a:spcAft>
              <a:buSzPts val="2000"/>
              <a:buChar char=" "/>
            </a:pPr>
            <a:r>
              <a:rPr lang="en-US"/>
              <a:t>2) 관심 - generative AI on ELLs’ interest in leaning English </a:t>
            </a:r>
            <a:endParaRPr/>
          </a:p>
          <a:p>
            <a:pPr marL="91440" lvl="0" indent="-127000" algn="l" rtl="0">
              <a:lnSpc>
                <a:spcPct val="90000"/>
              </a:lnSpc>
              <a:spcBef>
                <a:spcPts val="1400"/>
              </a:spcBef>
              <a:spcAft>
                <a:spcPts val="0"/>
              </a:spcAft>
              <a:buSzPts val="2000"/>
              <a:buChar char=" "/>
            </a:pPr>
            <a:r>
              <a:rPr lang="en-US"/>
              <a:t>3) 자신감 - generative AI on ELLs’ confidence of leaning English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Results/Findings 1</a:t>
            </a:r>
            <a:endParaRPr/>
          </a:p>
        </p:txBody>
      </p:sp>
      <p:sp>
        <p:nvSpPr>
          <p:cNvPr id="409" name="Google Shape;409;p40"/>
          <p:cNvSpPr txBox="1">
            <a:spLocks noGrp="1"/>
          </p:cNvSpPr>
          <p:nvPr>
            <p:ph type="body" idx="1"/>
          </p:nvPr>
        </p:nvSpPr>
        <p:spPr>
          <a:xfrm>
            <a:off x="1193910" y="1899332"/>
            <a:ext cx="10052022"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The current study focused on understanding pre-service teachers’ cognitive factors (Borg, 2009; Tsui, 2007) throughout the ESL field placement. Three themes emerged from the data analysis. These consisted of: 1) PSTs’ Attitudes/Perceptions (i.e. ESL field experience has an influence on PSTs’ attitudes and perceptions towards ELLs), 2) PSTs’ Knowledge (i.e. ESL field experience has an influence on PSTs’ pedagogical knowledge of ELL’s language, culture, and ESL pedagogy), and 3) PSTs’ Beliefs (ESL field experience has an influence on PSTs’ self-efficacy and preparedness while working with ELLs). </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b="1" u="sng"/>
              <a:t>위 내용은 어떤 연구방법론에 근거해서 설명을 했는가? </a:t>
            </a:r>
            <a:endParaRPr/>
          </a:p>
          <a:p>
            <a:pPr marL="91440" lvl="0" indent="-127000" algn="l" rtl="0">
              <a:lnSpc>
                <a:spcPct val="90000"/>
              </a:lnSpc>
              <a:spcBef>
                <a:spcPts val="1400"/>
              </a:spcBef>
              <a:spcAft>
                <a:spcPts val="0"/>
              </a:spcAft>
              <a:buSzPts val="2000"/>
              <a:buChar char=" "/>
            </a:pPr>
            <a:r>
              <a:rPr lang="en-US" b="1" u="sng"/>
              <a:t>위 내용은 가독성이 있는가?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4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Results/Findings 2</a:t>
            </a:r>
            <a:endParaRPr/>
          </a:p>
        </p:txBody>
      </p:sp>
      <p:sp>
        <p:nvSpPr>
          <p:cNvPr id="415" name="Google Shape;415;p41"/>
          <p:cNvSpPr txBox="1">
            <a:spLocks noGrp="1"/>
          </p:cNvSpPr>
          <p:nvPr>
            <p:ph type="body" idx="1"/>
          </p:nvPr>
        </p:nvSpPr>
        <p:spPr>
          <a:xfrm>
            <a:off x="1176096" y="1834018"/>
            <a:ext cx="10111399" cy="4938404"/>
          </a:xfrm>
          <a:prstGeom prst="rect">
            <a:avLst/>
          </a:prstGeom>
          <a:noFill/>
          <a:ln>
            <a:noFill/>
          </a:ln>
        </p:spPr>
        <p:txBody>
          <a:bodyPr spcFirstLastPara="1" wrap="square" lIns="0" tIns="45700" rIns="0" bIns="45700" anchor="t" anchorCtr="0">
            <a:normAutofit/>
          </a:bodyPr>
          <a:lstStyle/>
          <a:p>
            <a:pPr marL="91440" lvl="0" indent="-114300" algn="l" rtl="0">
              <a:lnSpc>
                <a:spcPct val="90000"/>
              </a:lnSpc>
              <a:spcBef>
                <a:spcPts val="0"/>
              </a:spcBef>
              <a:spcAft>
                <a:spcPts val="0"/>
              </a:spcAft>
              <a:buSzPts val="1800"/>
              <a:buChar char=" "/>
            </a:pPr>
            <a:r>
              <a:rPr lang="en-US" sz="1800"/>
              <a:t>Before assessing self-efficacy for instructional strategies, classroom management, and student engagement from the beginning to the end of the semester, a Shapiro-Wilk test was conducted to determine the normality of the data. The results indicated that instructional strategies (W(132) = 0.981, p = 0.058), classroom management (W(132) = 0.981, p = 0.062), and student engagement (W(132) = 0.981, p = 0.058) did not violate normality; thus, inferential statistics could be used to compare pre-test and post-test data. </a:t>
            </a:r>
            <a:endParaRPr/>
          </a:p>
          <a:p>
            <a:pPr marL="91440" lvl="0" indent="-114300" algn="l" rtl="0">
              <a:lnSpc>
                <a:spcPct val="90000"/>
              </a:lnSpc>
              <a:spcBef>
                <a:spcPts val="1400"/>
              </a:spcBef>
              <a:spcAft>
                <a:spcPts val="0"/>
              </a:spcAft>
              <a:buSzPts val="1800"/>
              <a:buChar char=" "/>
            </a:pPr>
            <a:r>
              <a:rPr lang="en-US" sz="1800"/>
              <a:t>Pair-sample t-tests were conducted on pre-survey and post-survey data to assess if changes could be detected with self-efficacy in instructional strategies, classroom management, and student engagement. The results indicated that the hybrid practicum design of F2F and synchronous online significantly increased preservice teachers' instructional strategies (t(132) = -6.658, p &lt; 0.001, d = 0.58), classroom management (t(132) = -5.366, p &lt; 0.001, d = 0.47), and student engagement (t(132) = -5.532, p &lt; 0.001, d = 0.48). Means and standard deviations for all self-efficacy measures can be viewed in Table 3.</a:t>
            </a:r>
            <a:endParaRPr/>
          </a:p>
          <a:p>
            <a:pPr marL="91440" lvl="0" indent="-114300" algn="l" rtl="0">
              <a:lnSpc>
                <a:spcPct val="90000"/>
              </a:lnSpc>
              <a:spcBef>
                <a:spcPts val="1400"/>
              </a:spcBef>
              <a:spcAft>
                <a:spcPts val="0"/>
              </a:spcAft>
              <a:buSzPts val="1800"/>
              <a:buChar char=" "/>
            </a:pPr>
            <a:r>
              <a:rPr lang="en-US" sz="1800" b="1" u="sng"/>
              <a:t>위 내용은 어떤 연구방법론에 근거해서 설명을 했는가? </a:t>
            </a:r>
            <a:endParaRPr/>
          </a:p>
          <a:p>
            <a:pPr marL="91440" lvl="0" indent="-114300" algn="l" rtl="0">
              <a:lnSpc>
                <a:spcPct val="90000"/>
              </a:lnSpc>
              <a:spcBef>
                <a:spcPts val="1400"/>
              </a:spcBef>
              <a:spcAft>
                <a:spcPts val="0"/>
              </a:spcAft>
              <a:buSzPts val="1800"/>
              <a:buChar char=" "/>
            </a:pPr>
            <a:r>
              <a:rPr lang="en-US" sz="1800" b="1" u="sng"/>
              <a:t>위 내용은 가독성이 있는가?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4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Calibri"/>
              <a:buNone/>
            </a:pPr>
            <a:r>
              <a:rPr lang="en-US" sz="4000"/>
              <a:t>DISCUSSION/CONCLUSION</a:t>
            </a:r>
            <a:endParaRPr sz="4000"/>
          </a:p>
        </p:txBody>
      </p:sp>
      <p:sp>
        <p:nvSpPr>
          <p:cNvPr id="421" name="Google Shape;421;p42"/>
          <p:cNvSpPr txBox="1">
            <a:spLocks noGrp="1"/>
          </p:cNvSpPr>
          <p:nvPr>
            <p:ph type="body" idx="1"/>
          </p:nvPr>
        </p:nvSpPr>
        <p:spPr>
          <a:xfrm>
            <a:off x="1205785" y="1851831"/>
            <a:ext cx="10057959" cy="4406465"/>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The discussion section is a crucial part in your thesis or research writing that distinguishes your research from the existing literature. </a:t>
            </a:r>
            <a:endParaRPr/>
          </a:p>
          <a:p>
            <a:pPr marL="91440" lvl="0" indent="-127000" algn="l" rtl="0">
              <a:lnSpc>
                <a:spcPct val="90000"/>
              </a:lnSpc>
              <a:spcBef>
                <a:spcPts val="1400"/>
              </a:spcBef>
              <a:spcAft>
                <a:spcPts val="0"/>
              </a:spcAft>
              <a:buSzPts val="2000"/>
              <a:buChar char=" "/>
            </a:pPr>
            <a:r>
              <a:rPr lang="en-US"/>
              <a:t>Specifically, the discussion section is where you explain how your research findings or results align or differ from and confirm or extend previous research. </a:t>
            </a:r>
            <a:endParaRPr/>
          </a:p>
          <a:p>
            <a:pPr marL="91440" lvl="0" indent="-127000" algn="l" rtl="0">
              <a:lnSpc>
                <a:spcPct val="90000"/>
              </a:lnSpc>
              <a:spcBef>
                <a:spcPts val="1400"/>
              </a:spcBef>
              <a:spcAft>
                <a:spcPts val="0"/>
              </a:spcAft>
              <a:buSzPts val="2000"/>
              <a:buChar char=" "/>
            </a:pPr>
            <a:r>
              <a:rPr lang="en-US" b="1" u="sng"/>
              <a:t>Highlight the importance of your research: </a:t>
            </a:r>
            <a:endParaRPr/>
          </a:p>
          <a:p>
            <a:pPr marL="91440" lvl="0" indent="-127000" algn="l" rtl="0">
              <a:lnSpc>
                <a:spcPct val="90000"/>
              </a:lnSpc>
              <a:spcBef>
                <a:spcPts val="1400"/>
              </a:spcBef>
              <a:spcAft>
                <a:spcPts val="0"/>
              </a:spcAft>
              <a:buSzPts val="2000"/>
              <a:buChar char=" "/>
            </a:pPr>
            <a:r>
              <a:rPr lang="en-US" b="1" u="sng"/>
              <a:t>The discussion section is also a place for you to reiterate the relevance and importance of your research and findings. </a:t>
            </a:r>
            <a:endParaRPr/>
          </a:p>
          <a:p>
            <a:pPr marL="91440" lvl="0" indent="-127000" algn="l" rtl="0">
              <a:lnSpc>
                <a:spcPct val="90000"/>
              </a:lnSpc>
              <a:spcBef>
                <a:spcPts val="1400"/>
              </a:spcBef>
              <a:spcAft>
                <a:spcPts val="0"/>
              </a:spcAft>
              <a:buSzPts val="2000"/>
              <a:buChar char=" "/>
            </a:pPr>
            <a:r>
              <a:rPr lang="en-US" b="1" u="sng"/>
              <a:t>Circle back to the purpose/hypotheses/research questions as you highlight the critical contributions of your research findings/results. </a:t>
            </a:r>
            <a:endParaRPr/>
          </a:p>
          <a:p>
            <a:pPr marL="91440" lvl="0" indent="-127000" algn="l" rtl="0">
              <a:lnSpc>
                <a:spcPct val="90000"/>
              </a:lnSpc>
              <a:spcBef>
                <a:spcPts val="1400"/>
              </a:spcBef>
              <a:spcAft>
                <a:spcPts val="0"/>
              </a:spcAft>
              <a:buSzPts val="2000"/>
              <a:buChar char=" "/>
            </a:pPr>
            <a:r>
              <a:rPr lang="en-US" b="1" u="sng"/>
              <a:t>As you conclude, ensure that you are offering future directions and implications for research and/or practice. </a:t>
            </a:r>
            <a:endParaRPr b="1" u="sng"/>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Calibri"/>
              <a:buNone/>
            </a:pPr>
            <a:r>
              <a:rPr lang="en-US" sz="4000"/>
              <a:t>Discussion/Conclusion 함께 제시할 경우 </a:t>
            </a:r>
            <a:endParaRPr/>
          </a:p>
        </p:txBody>
      </p:sp>
      <p:sp>
        <p:nvSpPr>
          <p:cNvPr id="427" name="Google Shape;427;p43"/>
          <p:cNvSpPr txBox="1">
            <a:spLocks noGrp="1"/>
          </p:cNvSpPr>
          <p:nvPr>
            <p:ph type="body" idx="1"/>
          </p:nvPr>
        </p:nvSpPr>
        <p:spPr>
          <a:xfrm>
            <a:off x="1290710" y="1873729"/>
            <a:ext cx="9959906" cy="4575771"/>
          </a:xfrm>
          <a:prstGeom prst="rect">
            <a:avLst/>
          </a:prstGeom>
          <a:noFill/>
          <a:ln>
            <a:noFill/>
          </a:ln>
        </p:spPr>
        <p:txBody>
          <a:bodyPr spcFirstLastPara="1" wrap="square" lIns="0" tIns="45700" rIns="0" bIns="45700" anchor="t" anchorCtr="0">
            <a:noAutofit/>
          </a:bodyPr>
          <a:lstStyle/>
          <a:p>
            <a:pPr marL="91440" lvl="0" indent="-95250" algn="l" rtl="0">
              <a:lnSpc>
                <a:spcPct val="90000"/>
              </a:lnSpc>
              <a:spcBef>
                <a:spcPts val="0"/>
              </a:spcBef>
              <a:spcAft>
                <a:spcPts val="0"/>
              </a:spcAft>
              <a:buSzPts val="1500"/>
              <a:buChar char=" "/>
            </a:pPr>
            <a:r>
              <a:rPr lang="en-US" sz="1500"/>
              <a:t>연구의 목적을 다시 리마인드 </a:t>
            </a:r>
            <a:endParaRPr sz="1500"/>
          </a:p>
          <a:p>
            <a:pPr marL="91440" lvl="0" indent="-95250" algn="l" rtl="0">
              <a:lnSpc>
                <a:spcPct val="90000"/>
              </a:lnSpc>
              <a:spcBef>
                <a:spcPts val="1400"/>
              </a:spcBef>
              <a:spcAft>
                <a:spcPts val="0"/>
              </a:spcAft>
              <a:buSzPts val="1500"/>
              <a:buChar char=" "/>
            </a:pPr>
            <a:r>
              <a:rPr lang="en-US" sz="1500"/>
              <a:t>연구질문1:</a:t>
            </a:r>
            <a:endParaRPr/>
          </a:p>
          <a:p>
            <a:pPr marL="91440" lvl="0" indent="-95250" algn="l" rtl="0">
              <a:lnSpc>
                <a:spcPct val="90000"/>
              </a:lnSpc>
              <a:spcBef>
                <a:spcPts val="1400"/>
              </a:spcBef>
              <a:spcAft>
                <a:spcPts val="0"/>
              </a:spcAft>
              <a:buSzPts val="1500"/>
              <a:buChar char=" "/>
            </a:pPr>
            <a:r>
              <a:rPr lang="en-US" sz="1500"/>
              <a:t>A. 본 연구에서 도출된 결과물 요약 제시 </a:t>
            </a:r>
            <a:endParaRPr sz="1500"/>
          </a:p>
          <a:p>
            <a:pPr marL="91440" lvl="0" indent="-95250" algn="l" rtl="0">
              <a:lnSpc>
                <a:spcPct val="90000"/>
              </a:lnSpc>
              <a:spcBef>
                <a:spcPts val="1400"/>
              </a:spcBef>
              <a:spcAft>
                <a:spcPts val="0"/>
              </a:spcAft>
              <a:buSzPts val="1500"/>
              <a:buChar char=" "/>
            </a:pPr>
            <a:r>
              <a:rPr lang="en-US" sz="1500"/>
              <a:t>B. 선행연구와의 결과 일치/불일치-&gt; 왜 그런지 설명</a:t>
            </a:r>
            <a:endParaRPr sz="1500"/>
          </a:p>
          <a:p>
            <a:pPr marL="91440" lvl="0" indent="-95250" algn="l" rtl="0">
              <a:lnSpc>
                <a:spcPct val="90000"/>
              </a:lnSpc>
              <a:spcBef>
                <a:spcPts val="1400"/>
              </a:spcBef>
              <a:spcAft>
                <a:spcPts val="0"/>
              </a:spcAft>
              <a:buSzPts val="1500"/>
              <a:buChar char=" "/>
            </a:pPr>
            <a:r>
              <a:rPr lang="en-US" sz="1500"/>
              <a:t>C. 본 연구만의 독창적 결과 부분 제시 </a:t>
            </a:r>
            <a:endParaRPr sz="1500"/>
          </a:p>
          <a:p>
            <a:pPr marL="91440" lvl="0" indent="-95250" algn="l" rtl="0">
              <a:lnSpc>
                <a:spcPct val="90000"/>
              </a:lnSpc>
              <a:spcBef>
                <a:spcPts val="1400"/>
              </a:spcBef>
              <a:spcAft>
                <a:spcPts val="0"/>
              </a:spcAft>
              <a:buSzPts val="1500"/>
              <a:buChar char=" "/>
            </a:pPr>
            <a:r>
              <a:rPr lang="en-US" sz="1500"/>
              <a:t>D. 앞으로의 미래 연구 방향성 제시 </a:t>
            </a:r>
            <a:endParaRPr sz="1500"/>
          </a:p>
          <a:p>
            <a:pPr marL="91440" lvl="0" indent="0" algn="l" rtl="0">
              <a:lnSpc>
                <a:spcPct val="90000"/>
              </a:lnSpc>
              <a:spcBef>
                <a:spcPts val="1400"/>
              </a:spcBef>
              <a:spcAft>
                <a:spcPts val="0"/>
              </a:spcAft>
              <a:buSzPts val="1500"/>
              <a:buNone/>
            </a:pPr>
            <a:endParaRPr sz="1500"/>
          </a:p>
          <a:p>
            <a:pPr marL="91440" lvl="0" indent="-95250" algn="l" rtl="0">
              <a:lnSpc>
                <a:spcPct val="90000"/>
              </a:lnSpc>
              <a:spcBef>
                <a:spcPts val="1400"/>
              </a:spcBef>
              <a:spcAft>
                <a:spcPts val="0"/>
              </a:spcAft>
              <a:buSzPts val="1500"/>
              <a:buChar char=" "/>
            </a:pPr>
            <a:r>
              <a:rPr lang="en-US" sz="1500"/>
              <a:t>연구질문2:</a:t>
            </a:r>
            <a:endParaRPr/>
          </a:p>
          <a:p>
            <a:pPr marL="91440" lvl="0" indent="-95250" algn="l" rtl="0">
              <a:lnSpc>
                <a:spcPct val="90000"/>
              </a:lnSpc>
              <a:spcBef>
                <a:spcPts val="1400"/>
              </a:spcBef>
              <a:spcAft>
                <a:spcPts val="0"/>
              </a:spcAft>
              <a:buSzPts val="1500"/>
              <a:buChar char=" "/>
            </a:pPr>
            <a:r>
              <a:rPr lang="en-US" sz="1500"/>
              <a:t>위와 같은 방법으로 </a:t>
            </a:r>
            <a:endParaRPr sz="1500"/>
          </a:p>
          <a:p>
            <a:pPr marL="91440" lvl="0" indent="-95250" algn="l" rtl="0">
              <a:lnSpc>
                <a:spcPct val="90000"/>
              </a:lnSpc>
              <a:spcBef>
                <a:spcPts val="1400"/>
              </a:spcBef>
              <a:spcAft>
                <a:spcPts val="0"/>
              </a:spcAft>
              <a:buSzPts val="1500"/>
              <a:buChar char=" "/>
            </a:pPr>
            <a:r>
              <a:rPr lang="en-US" sz="1500"/>
              <a:t>연구질문3:</a:t>
            </a:r>
            <a:endParaRPr/>
          </a:p>
          <a:p>
            <a:pPr marL="91440" lvl="0" indent="-95250" algn="l" rtl="0">
              <a:lnSpc>
                <a:spcPct val="90000"/>
              </a:lnSpc>
              <a:spcBef>
                <a:spcPts val="1400"/>
              </a:spcBef>
              <a:spcAft>
                <a:spcPts val="0"/>
              </a:spcAft>
              <a:buSzPts val="1500"/>
              <a:buChar char=" "/>
            </a:pPr>
            <a:r>
              <a:rPr lang="en-US" sz="1500"/>
              <a:t>위와 같은 방법으로 </a:t>
            </a:r>
            <a:endParaRPr sz="1500"/>
          </a:p>
          <a:p>
            <a:pPr marL="91440" lvl="0" indent="0" algn="l" rtl="0">
              <a:lnSpc>
                <a:spcPct val="90000"/>
              </a:lnSpc>
              <a:spcBef>
                <a:spcPts val="1400"/>
              </a:spcBef>
              <a:spcAft>
                <a:spcPts val="0"/>
              </a:spcAft>
              <a:buSzPts val="1500"/>
              <a:buNone/>
            </a:pPr>
            <a:endParaRPr sz="1500"/>
          </a:p>
          <a:p>
            <a:pPr marL="91440" lvl="0" indent="0" algn="l" rtl="0">
              <a:lnSpc>
                <a:spcPct val="90000"/>
              </a:lnSpc>
              <a:spcBef>
                <a:spcPts val="1400"/>
              </a:spcBef>
              <a:spcAft>
                <a:spcPts val="0"/>
              </a:spcAft>
              <a:buSzPts val="1500"/>
              <a:buNone/>
            </a:pPr>
            <a:endParaRPr sz="15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4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Calibri"/>
              <a:buNone/>
            </a:pPr>
            <a:r>
              <a:rPr lang="en-US" sz="4000"/>
              <a:t>Conclusion 결론을 따로 빼낼 경우  </a:t>
            </a:r>
            <a:endParaRPr sz="4000"/>
          </a:p>
        </p:txBody>
      </p:sp>
      <p:sp>
        <p:nvSpPr>
          <p:cNvPr id="433" name="Google Shape;433;p44"/>
          <p:cNvSpPr txBox="1">
            <a:spLocks noGrp="1"/>
          </p:cNvSpPr>
          <p:nvPr>
            <p:ph type="body" idx="1"/>
          </p:nvPr>
        </p:nvSpPr>
        <p:spPr>
          <a:xfrm>
            <a:off x="1205785" y="1821122"/>
            <a:ext cx="10194527" cy="4759787"/>
          </a:xfrm>
          <a:prstGeom prst="rect">
            <a:avLst/>
          </a:prstGeom>
          <a:noFill/>
          <a:ln>
            <a:noFill/>
          </a:ln>
        </p:spPr>
        <p:txBody>
          <a:bodyPr spcFirstLastPara="1" wrap="square" lIns="0" tIns="45700" rIns="0" bIns="45700" anchor="t" anchorCtr="0">
            <a:normAutofit fontScale="92500" lnSpcReduction="20000"/>
          </a:bodyPr>
          <a:lstStyle/>
          <a:p>
            <a:pPr marL="91440" lvl="0" indent="-117475" algn="l" rtl="0">
              <a:lnSpc>
                <a:spcPct val="90000"/>
              </a:lnSpc>
              <a:spcBef>
                <a:spcPts val="0"/>
              </a:spcBef>
              <a:spcAft>
                <a:spcPts val="0"/>
              </a:spcAft>
              <a:buSzPct val="100000"/>
              <a:buChar char=" "/>
            </a:pPr>
            <a:r>
              <a:rPr lang="en-US"/>
              <a:t>연구의 초록 부분을 paraphrasing </a:t>
            </a:r>
            <a:endParaRPr/>
          </a:p>
          <a:p>
            <a:pPr marL="91440" lvl="0" indent="-117475" algn="l" rtl="0">
              <a:lnSpc>
                <a:spcPct val="90000"/>
              </a:lnSpc>
              <a:spcBef>
                <a:spcPts val="1400"/>
              </a:spcBef>
              <a:spcAft>
                <a:spcPts val="0"/>
              </a:spcAft>
              <a:buSzPct val="100000"/>
              <a:buChar char=" "/>
            </a:pPr>
            <a:r>
              <a:rPr lang="en-US"/>
              <a:t>본 연구의 결과물을 통해서 미래에 00 부분을 더 추가적으로 연구할 수 있다 </a:t>
            </a:r>
            <a:endParaRPr/>
          </a:p>
          <a:p>
            <a:pPr marL="91440" lvl="0" indent="0" algn="l" rtl="0">
              <a:lnSpc>
                <a:spcPct val="90000"/>
              </a:lnSpc>
              <a:spcBef>
                <a:spcPts val="1400"/>
              </a:spcBef>
              <a:spcAft>
                <a:spcPts val="0"/>
              </a:spcAft>
              <a:buSzPct val="100000"/>
              <a:buNone/>
            </a:pPr>
            <a:endParaRPr/>
          </a:p>
          <a:p>
            <a:pPr marL="91440" lvl="0" indent="-117475" algn="l" rtl="0">
              <a:lnSpc>
                <a:spcPct val="90000"/>
              </a:lnSpc>
              <a:spcBef>
                <a:spcPts val="1400"/>
              </a:spcBef>
              <a:spcAft>
                <a:spcPts val="0"/>
              </a:spcAft>
              <a:buSzPct val="100000"/>
              <a:buChar char=" "/>
            </a:pPr>
            <a:r>
              <a:rPr lang="en-US"/>
              <a:t>제안할 수 있는 부분 </a:t>
            </a:r>
            <a:endParaRPr/>
          </a:p>
          <a:p>
            <a:pPr marL="91440" lvl="0" indent="-117475" algn="l" rtl="0">
              <a:lnSpc>
                <a:spcPct val="90000"/>
              </a:lnSpc>
              <a:spcBef>
                <a:spcPts val="1400"/>
              </a:spcBef>
              <a:spcAft>
                <a:spcPts val="0"/>
              </a:spcAft>
              <a:buSzPct val="100000"/>
              <a:buChar char=" "/>
            </a:pPr>
            <a:r>
              <a:rPr lang="en-US"/>
              <a:t>Suggestions </a:t>
            </a:r>
            <a:endParaRPr/>
          </a:p>
          <a:p>
            <a:pPr marL="91440" lvl="0" indent="-117475" algn="l" rtl="0">
              <a:lnSpc>
                <a:spcPct val="90000"/>
              </a:lnSpc>
              <a:spcBef>
                <a:spcPts val="1400"/>
              </a:spcBef>
              <a:spcAft>
                <a:spcPts val="0"/>
              </a:spcAft>
              <a:buSzPct val="100000"/>
              <a:buChar char=" "/>
            </a:pPr>
            <a:r>
              <a:rPr lang="en-US"/>
              <a:t>교사교육 프로그램의 방향성 및 제안점 도출 </a:t>
            </a:r>
            <a:endParaRPr/>
          </a:p>
          <a:p>
            <a:pPr marL="91440" lvl="0" indent="-117475" algn="l" rtl="0">
              <a:lnSpc>
                <a:spcPct val="90000"/>
              </a:lnSpc>
              <a:spcBef>
                <a:spcPts val="1400"/>
              </a:spcBef>
              <a:spcAft>
                <a:spcPts val="0"/>
              </a:spcAft>
              <a:buSzPct val="100000"/>
              <a:buChar char=" "/>
            </a:pPr>
            <a:r>
              <a:rPr lang="en-US"/>
              <a:t>첫째</a:t>
            </a:r>
            <a:endParaRPr/>
          </a:p>
          <a:p>
            <a:pPr marL="91440" lvl="0" indent="-117475" algn="l" rtl="0">
              <a:lnSpc>
                <a:spcPct val="90000"/>
              </a:lnSpc>
              <a:spcBef>
                <a:spcPts val="1400"/>
              </a:spcBef>
              <a:spcAft>
                <a:spcPts val="0"/>
              </a:spcAft>
              <a:buSzPct val="100000"/>
              <a:buChar char=" "/>
            </a:pPr>
            <a:r>
              <a:rPr lang="en-US"/>
              <a:t>둘째</a:t>
            </a:r>
            <a:endParaRPr/>
          </a:p>
          <a:p>
            <a:pPr marL="91440" lvl="0" indent="-117475" algn="l" rtl="0">
              <a:lnSpc>
                <a:spcPct val="90000"/>
              </a:lnSpc>
              <a:spcBef>
                <a:spcPts val="1400"/>
              </a:spcBef>
              <a:spcAft>
                <a:spcPts val="0"/>
              </a:spcAft>
              <a:buSzPct val="100000"/>
              <a:buChar char=" "/>
            </a:pPr>
            <a:r>
              <a:rPr lang="en-US"/>
              <a:t>셋째,</a:t>
            </a:r>
            <a:endParaRPr/>
          </a:p>
          <a:p>
            <a:pPr marL="91440" lvl="0" indent="0" algn="l" rtl="0">
              <a:lnSpc>
                <a:spcPct val="90000"/>
              </a:lnSpc>
              <a:spcBef>
                <a:spcPts val="1400"/>
              </a:spcBef>
              <a:spcAft>
                <a:spcPts val="0"/>
              </a:spcAft>
              <a:buSzPct val="100000"/>
              <a:buNone/>
            </a:pPr>
            <a:endParaRPr/>
          </a:p>
          <a:p>
            <a:pPr marL="91440" lvl="0" indent="-117475" algn="l" rtl="0">
              <a:lnSpc>
                <a:spcPct val="90000"/>
              </a:lnSpc>
              <a:spcBef>
                <a:spcPts val="1400"/>
              </a:spcBef>
              <a:spcAft>
                <a:spcPts val="0"/>
              </a:spcAft>
              <a:buSzPct val="100000"/>
              <a:buChar char=" "/>
            </a:pPr>
            <a:r>
              <a:rPr lang="en-US"/>
              <a:t>Limitations </a:t>
            </a:r>
            <a:endParaRPr/>
          </a:p>
          <a:p>
            <a:pPr marL="91440" lvl="0" indent="-117475" algn="l" rtl="0">
              <a:lnSpc>
                <a:spcPct val="90000"/>
              </a:lnSpc>
              <a:spcBef>
                <a:spcPts val="1400"/>
              </a:spcBef>
              <a:spcAft>
                <a:spcPts val="0"/>
              </a:spcAft>
              <a:buSzPct val="100000"/>
              <a:buChar char=" "/>
            </a:pPr>
            <a:r>
              <a:rPr lang="en-US"/>
              <a:t>연구의 제한점 제시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Discussions and Conclusions 1</a:t>
            </a:r>
            <a:endParaRPr/>
          </a:p>
        </p:txBody>
      </p:sp>
      <p:sp>
        <p:nvSpPr>
          <p:cNvPr id="439" name="Google Shape;439;p45"/>
          <p:cNvSpPr txBox="1">
            <a:spLocks noGrp="1"/>
          </p:cNvSpPr>
          <p:nvPr>
            <p:ph type="body" idx="1"/>
          </p:nvPr>
        </p:nvSpPr>
        <p:spPr>
          <a:xfrm>
            <a:off x="1187972" y="1851831"/>
            <a:ext cx="10063897" cy="4626594"/>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The data analysis showed that the preservice teachers learned valuable lessons and gained knowledge, including understanding of ELL’s second language acquisition and development. In addition, during the ESL field practica, the PSTs’ self-confidence in teaching ELLs increased and they felt more prepared to work with ELLs. Furthermore, the PSTs perceived ELLs as intelligent and motivated students; thus, the ESL field experience had a positive impact on the PSTs’ attitudes and perceptions towards ELLs. This study confirms the importance of ESL field experiences to support mainstream teacher preparation and cognition (Borg, 2009; Tsui, 2007). Practica that include direct interactions with ELLs and are carefully scaffolded for PSTs to reflect on their experiences can raise awareness of the role of language and culture in the classroom and build essential teaching skills (Borg, 2009; Tsui, 2007). </a:t>
            </a:r>
            <a:endParaRPr/>
          </a:p>
          <a:p>
            <a:pPr marL="91440" lvl="0" indent="-127000" algn="l" rtl="0">
              <a:lnSpc>
                <a:spcPct val="90000"/>
              </a:lnSpc>
              <a:spcBef>
                <a:spcPts val="1400"/>
              </a:spcBef>
              <a:spcAft>
                <a:spcPts val="0"/>
              </a:spcAft>
              <a:buSzPts val="2000"/>
              <a:buChar char=" "/>
            </a:pPr>
            <a:r>
              <a:rPr lang="en-US" b="1" u="sng"/>
              <a:t>적절히 작성되었는가? 보강하고 싶은 부분이 있는가?</a:t>
            </a:r>
            <a:endParaRPr b="1" u="sng"/>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Discussions and Conclusions 2</a:t>
            </a:r>
            <a:endParaRPr/>
          </a:p>
        </p:txBody>
      </p:sp>
      <p:sp>
        <p:nvSpPr>
          <p:cNvPr id="445" name="Google Shape;445;p46"/>
          <p:cNvSpPr txBox="1">
            <a:spLocks noGrp="1"/>
          </p:cNvSpPr>
          <p:nvPr>
            <p:ph type="body" idx="1"/>
          </p:nvPr>
        </p:nvSpPr>
        <p:spPr>
          <a:xfrm>
            <a:off x="1259224" y="1851830"/>
            <a:ext cx="9896456" cy="479439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The findings from this study showed that hybrid field experience could positively influence preservice teacher self-efficacy in instructional strategies, classroom management, and student engagement. However, in terms of the online field practicum perspective, PSTs showed limitations in improving their field experience. Thus, it is suggested that future research should collect data on the different experiences to understand if self-efficacy is impacted more by the environment of experience (F2F vs. synchronous Zoom setting). In addition, larger scale studies with a longitudinal research design can provide additional data and insights related to this field experience research. When future researchers include questions about PSTs' level of academic achievement and personal efforts during teacher education courses, studies could show additional findings and suggestions associated with PSTs' sense of preparedness and self-confidence in future teaching.</a:t>
            </a:r>
            <a:endParaRPr/>
          </a:p>
          <a:p>
            <a:pPr marL="91440" lvl="0" indent="-127000" algn="l" rtl="0">
              <a:lnSpc>
                <a:spcPct val="90000"/>
              </a:lnSpc>
              <a:spcBef>
                <a:spcPts val="1400"/>
              </a:spcBef>
              <a:spcAft>
                <a:spcPts val="0"/>
              </a:spcAft>
              <a:buSzPts val="2000"/>
              <a:buChar char=" "/>
            </a:pPr>
            <a:r>
              <a:rPr lang="en-US" b="1" u="sng"/>
              <a:t>적절히 작성되었는가? 보강하고 싶은 부분이 있는가?</a:t>
            </a:r>
            <a:endParaRPr b="1" u="sng"/>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Sample Discussions and Conclusions 3</a:t>
            </a:r>
            <a:endParaRPr/>
          </a:p>
        </p:txBody>
      </p:sp>
      <p:sp>
        <p:nvSpPr>
          <p:cNvPr id="451" name="Google Shape;451;p47"/>
          <p:cNvSpPr txBox="1">
            <a:spLocks noGrp="1"/>
          </p:cNvSpPr>
          <p:nvPr>
            <p:ph type="body" idx="1"/>
          </p:nvPr>
        </p:nvSpPr>
        <p:spPr>
          <a:xfrm>
            <a:off x="1259224" y="1792454"/>
            <a:ext cx="9896456" cy="479439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This study investigated whether gesture frequency was afected by reducing video speed when foreign language users learn procedural information in a multimedia presentation. The experiment consisted of three gesture frequencies (enhanced vs. average vs. no) and two video speeds (normal vs. reduced) in measuring the outcomes of satisfaction, free recall, and transfer. Prior research indicates that agents designed with enhanced gesturing capabilities signifcantly increase free recall when measured against no-gesture conditions (d=.59, Davis &amp; Vincent, 2019). While speech rate reduction has been tested with audio, and time compression has been conducted with video, no research has been found which measured satisfaction or learning outcomes of foreign language users while viewing video at reduced speeds. This research examined whether the benefts of gesture design can be replicated from a previous study (Davis &amp; Vincent, 2019) and to what extent, if any, reduced video speed might counterbalance the need for gestures in agent design.</a:t>
            </a:r>
            <a:endParaRPr/>
          </a:p>
          <a:p>
            <a:pPr marL="91440" lvl="0" indent="-127000" algn="l" rtl="0">
              <a:lnSpc>
                <a:spcPct val="90000"/>
              </a:lnSpc>
              <a:spcBef>
                <a:spcPts val="1400"/>
              </a:spcBef>
              <a:spcAft>
                <a:spcPts val="0"/>
              </a:spcAft>
              <a:buSzPts val="2000"/>
              <a:buChar char=" "/>
            </a:pPr>
            <a:r>
              <a:rPr lang="en-US" b="1" u="sng"/>
              <a:t>적절히 작성되었는가? 보강하고 싶은 부분이 있는가?</a:t>
            </a:r>
            <a:endParaRPr b="1" u="sng"/>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000"/>
              <a:buFont typeface="Calibri"/>
              <a:buNone/>
            </a:pPr>
            <a:r>
              <a:rPr lang="en-US" sz="3000"/>
              <a:t>APA 인용스타일</a:t>
            </a:r>
            <a:br>
              <a:rPr lang="en-US" sz="3000"/>
            </a:br>
            <a:r>
              <a:rPr lang="en-US" sz="3000" u="sng">
                <a:solidFill>
                  <a:schemeClr val="hlink"/>
                </a:solidFill>
                <a:hlinkClick r:id="rId3"/>
              </a:rPr>
              <a:t>https://essayreview.co.kr/apa-citation-generator</a:t>
            </a:r>
            <a:endParaRPr sz="3000"/>
          </a:p>
        </p:txBody>
      </p:sp>
      <p:pic>
        <p:nvPicPr>
          <p:cNvPr id="457" name="Google Shape;457;p48"/>
          <p:cNvPicPr preferRelativeResize="0">
            <a:picLocks noGrp="1"/>
          </p:cNvPicPr>
          <p:nvPr>
            <p:ph type="body" idx="1"/>
          </p:nvPr>
        </p:nvPicPr>
        <p:blipFill rotWithShape="1">
          <a:blip r:embed="rId4">
            <a:alphaModFix/>
          </a:blip>
          <a:srcRect/>
          <a:stretch/>
        </p:blipFill>
        <p:spPr>
          <a:xfrm>
            <a:off x="3717325" y="1846263"/>
            <a:ext cx="4817675" cy="40227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APA with DOI</a:t>
            </a:r>
            <a:endParaRPr/>
          </a:p>
        </p:txBody>
      </p:sp>
      <p:sp>
        <p:nvSpPr>
          <p:cNvPr id="463" name="Google Shape;463;p49"/>
          <p:cNvSpPr txBox="1">
            <a:spLocks noGrp="1"/>
          </p:cNvSpPr>
          <p:nvPr>
            <p:ph type="body" idx="1"/>
          </p:nvPr>
        </p:nvSpPr>
        <p:spPr>
          <a:xfrm>
            <a:off x="1247349" y="1911207"/>
            <a:ext cx="8596668"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Anderson, R., &amp; Puckett, J. (2005). The usefulness of an online platform capturing literacy field experiences: Four lessons learned. Literacy Reading Research and Instruction, 44, 22–46. https://doi.org/10.1080/19388070509558430 </a:t>
            </a:r>
            <a:endParaRPr/>
          </a:p>
          <a:p>
            <a:pPr marL="91440" lvl="0" indent="-127000" algn="l" rtl="0">
              <a:lnSpc>
                <a:spcPct val="90000"/>
              </a:lnSpc>
              <a:spcBef>
                <a:spcPts val="1400"/>
              </a:spcBef>
              <a:spcAft>
                <a:spcPts val="0"/>
              </a:spcAft>
              <a:buSzPts val="2000"/>
              <a:buChar char=" "/>
            </a:pPr>
            <a:r>
              <a:rPr lang="en-US"/>
              <a:t>Almazroa, H. (2020). Insights from Saudi Student Teachers: Successes and Challenges. International Journal of Instruction, 13(3), 445-460. https://doi.org/10.29333/iji.2020.13331a</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Academic Writing Templates</a:t>
            </a:r>
            <a:endParaRPr/>
          </a:p>
        </p:txBody>
      </p:sp>
      <p:sp>
        <p:nvSpPr>
          <p:cNvPr id="469" name="Google Shape;469;p50"/>
          <p:cNvSpPr txBox="1">
            <a:spLocks noGrp="1"/>
          </p:cNvSpPr>
          <p:nvPr>
            <p:ph type="body" idx="1"/>
          </p:nvPr>
        </p:nvSpPr>
        <p:spPr>
          <a:xfrm>
            <a:off x="1294850" y="1994335"/>
            <a:ext cx="8596668"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ESTABLISHING A RESEARCH TERRITORY</a:t>
            </a:r>
            <a:endParaRPr/>
          </a:p>
          <a:p>
            <a:pPr marL="91440" lvl="0" indent="-127000" algn="l" rtl="0">
              <a:lnSpc>
                <a:spcPct val="90000"/>
              </a:lnSpc>
              <a:spcBef>
                <a:spcPts val="1400"/>
              </a:spcBef>
              <a:spcAft>
                <a:spcPts val="0"/>
              </a:spcAft>
              <a:buSzPts val="2000"/>
              <a:buChar char=" "/>
            </a:pPr>
            <a:r>
              <a:rPr lang="en-US"/>
              <a:t>IDENTIFYING THE RESEARCH/KNOWLEDGE GAP</a:t>
            </a:r>
            <a:endParaRPr/>
          </a:p>
          <a:p>
            <a:pPr marL="91440" lvl="0" indent="-127000" algn="l" rtl="0">
              <a:lnSpc>
                <a:spcPct val="90000"/>
              </a:lnSpc>
              <a:spcBef>
                <a:spcPts val="1400"/>
              </a:spcBef>
              <a:spcAft>
                <a:spcPts val="0"/>
              </a:spcAft>
              <a:buSzPts val="2000"/>
              <a:buChar char=" "/>
            </a:pPr>
            <a:r>
              <a:rPr lang="en-US"/>
              <a:t>STATING YOUR RESEARCH PURPOSE</a:t>
            </a:r>
            <a:endParaRPr/>
          </a:p>
          <a:p>
            <a:pPr marL="91440" lvl="0" indent="-127000" algn="l" rtl="0">
              <a:lnSpc>
                <a:spcPct val="90000"/>
              </a:lnSpc>
              <a:spcBef>
                <a:spcPts val="1400"/>
              </a:spcBef>
              <a:spcAft>
                <a:spcPts val="0"/>
              </a:spcAft>
              <a:buSzPts val="2000"/>
              <a:buChar char=" "/>
            </a:pPr>
            <a:r>
              <a:rPr lang="en-US"/>
              <a:t>DEFINING CONCEPTS/TERMS/OBJECTS</a:t>
            </a:r>
            <a:endParaRPr/>
          </a:p>
          <a:p>
            <a:pPr marL="91440" lvl="0" indent="-127000" algn="l" rtl="0">
              <a:lnSpc>
                <a:spcPct val="90000"/>
              </a:lnSpc>
              <a:spcBef>
                <a:spcPts val="1400"/>
              </a:spcBef>
              <a:spcAft>
                <a:spcPts val="0"/>
              </a:spcAft>
              <a:buSzPts val="2000"/>
              <a:buChar char=" "/>
            </a:pPr>
            <a:r>
              <a:rPr lang="en-US"/>
              <a:t>PROVIDING EXAMPLES</a:t>
            </a:r>
            <a:endParaRPr/>
          </a:p>
          <a:p>
            <a:pPr marL="91440" lvl="0" indent="-127000" algn="l" rtl="0">
              <a:lnSpc>
                <a:spcPct val="90000"/>
              </a:lnSpc>
              <a:spcBef>
                <a:spcPts val="1400"/>
              </a:spcBef>
              <a:spcAft>
                <a:spcPts val="0"/>
              </a:spcAft>
              <a:buSzPts val="2000"/>
              <a:buChar char=" "/>
            </a:pPr>
            <a:r>
              <a:rPr lang="en-US"/>
              <a:t>REFERENCING SOURCES/REPORTING OTHERS’ WORK</a:t>
            </a: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5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000"/>
              <a:buFont typeface="Calibri"/>
              <a:buNone/>
            </a:pPr>
            <a:r>
              <a:rPr lang="en-US" sz="3000"/>
              <a:t>ESTABLISHING A RESEARCH TERRITORY</a:t>
            </a:r>
            <a:endParaRPr/>
          </a:p>
        </p:txBody>
      </p:sp>
      <p:sp>
        <p:nvSpPr>
          <p:cNvPr id="475" name="Google Shape;475;p51"/>
          <p:cNvSpPr txBox="1">
            <a:spLocks noGrp="1"/>
          </p:cNvSpPr>
          <p:nvPr>
            <p:ph type="body" idx="1"/>
          </p:nvPr>
        </p:nvSpPr>
        <p:spPr>
          <a:xfrm>
            <a:off x="1170707" y="1810328"/>
            <a:ext cx="10515600" cy="4351338"/>
          </a:xfrm>
          <a:prstGeom prst="rect">
            <a:avLst/>
          </a:prstGeom>
          <a:noFill/>
          <a:ln>
            <a:noFill/>
          </a:ln>
        </p:spPr>
        <p:txBody>
          <a:bodyPr spcFirstLastPara="1" wrap="square" lIns="0" tIns="45700" rIns="0" bIns="45700" anchor="t" anchorCtr="0">
            <a:normAutofit/>
          </a:bodyPr>
          <a:lstStyle/>
          <a:p>
            <a:pPr marL="0" lvl="0" indent="0" algn="l" rtl="0">
              <a:lnSpc>
                <a:spcPct val="90000"/>
              </a:lnSpc>
              <a:spcBef>
                <a:spcPts val="0"/>
              </a:spcBef>
              <a:spcAft>
                <a:spcPts val="0"/>
              </a:spcAft>
              <a:buSzPts val="2000"/>
              <a:buNone/>
            </a:pPr>
            <a:endParaRPr/>
          </a:p>
          <a:p>
            <a:pPr marL="91440" lvl="0" indent="-127000" algn="l" rtl="0">
              <a:lnSpc>
                <a:spcPct val="90000"/>
              </a:lnSpc>
              <a:spcBef>
                <a:spcPts val="1400"/>
              </a:spcBef>
              <a:spcAft>
                <a:spcPts val="0"/>
              </a:spcAft>
              <a:buSzPts val="2000"/>
              <a:buChar char=" "/>
            </a:pPr>
            <a:r>
              <a:rPr lang="en-US" b="1" u="sng"/>
              <a:t>Studies have shown that </a:t>
            </a:r>
            <a:r>
              <a:rPr lang="en-US"/>
              <a:t>English language learners(ELLs) in elementary and secondary schools are frustrated because the school system is failing to support them in achieving their goals of acquiring English and obtaining postsecondary education </a:t>
            </a:r>
            <a:r>
              <a:rPr lang="en-US" b="1"/>
              <a:t>(Menken, 2008; Olsen, 1997; Suarez-Orozco, Suarez-Orozco, &amp; Todorova, 2008; Valdés, 2001).</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a:t>Much recent literature on teacher education highlights the importance of identity in teacher development.</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5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000"/>
              <a:buFont typeface="Calibri"/>
              <a:buNone/>
            </a:pPr>
            <a:r>
              <a:rPr lang="en-US" sz="3000"/>
              <a:t>IDENTIFYING THE RESEARCH/KNOWLEDGE GAP</a:t>
            </a:r>
            <a:endParaRPr sz="3000"/>
          </a:p>
        </p:txBody>
      </p:sp>
      <p:sp>
        <p:nvSpPr>
          <p:cNvPr id="481" name="Google Shape;481;p52"/>
          <p:cNvSpPr txBox="1">
            <a:spLocks noGrp="1"/>
          </p:cNvSpPr>
          <p:nvPr>
            <p:ph type="body" idx="1"/>
          </p:nvPr>
        </p:nvSpPr>
        <p:spPr>
          <a:xfrm>
            <a:off x="1300788" y="1887456"/>
            <a:ext cx="9854892" cy="3880773"/>
          </a:xfrm>
          <a:prstGeom prst="rect">
            <a:avLst/>
          </a:prstGeom>
          <a:noFill/>
          <a:ln>
            <a:noFill/>
          </a:ln>
        </p:spPr>
        <p:txBody>
          <a:bodyPr spcFirstLastPara="1" wrap="square" lIns="0" tIns="45700" rIns="0" bIns="45700" anchor="t" anchorCtr="0">
            <a:normAutofit/>
          </a:bodyPr>
          <a:lstStyle/>
          <a:p>
            <a:pPr marL="91440" lvl="0" indent="-120650" algn="l" rtl="0">
              <a:lnSpc>
                <a:spcPct val="90000"/>
              </a:lnSpc>
              <a:spcBef>
                <a:spcPts val="0"/>
              </a:spcBef>
              <a:spcAft>
                <a:spcPts val="0"/>
              </a:spcAft>
              <a:buSzPts val="1900"/>
              <a:buChar char=" "/>
            </a:pPr>
            <a:r>
              <a:rPr lang="en-US" sz="1900"/>
              <a:t>Attention is paid to core practices across subjects and grade levels, including, for example, leading a discussion or eliciting student thinking (Ball &amp; Forzani, 2009). </a:t>
            </a:r>
            <a:r>
              <a:rPr lang="en-US" sz="1900" b="1" u="sng"/>
              <a:t>However, developing TE pedagogies for core practices in work with linguistically diverse learners has been less fully realized.</a:t>
            </a:r>
            <a:endParaRPr/>
          </a:p>
          <a:p>
            <a:pPr marL="91440" lvl="0" indent="0" algn="l" rtl="0">
              <a:lnSpc>
                <a:spcPct val="90000"/>
              </a:lnSpc>
              <a:spcBef>
                <a:spcPts val="1400"/>
              </a:spcBef>
              <a:spcAft>
                <a:spcPts val="0"/>
              </a:spcAft>
              <a:buSzPts val="1900"/>
              <a:buNone/>
            </a:pPr>
            <a:endParaRPr sz="1900"/>
          </a:p>
          <a:p>
            <a:pPr marL="91440" lvl="0" indent="-120650" algn="l" rtl="0">
              <a:lnSpc>
                <a:spcPct val="90000"/>
              </a:lnSpc>
              <a:spcBef>
                <a:spcPts val="1400"/>
              </a:spcBef>
              <a:spcAft>
                <a:spcPts val="0"/>
              </a:spcAft>
              <a:buSzPts val="1900"/>
              <a:buChar char=" "/>
            </a:pPr>
            <a:r>
              <a:rPr lang="en-US" sz="1900"/>
              <a:t>Although extensive research has been carried out on the teacher knowledge base in general (Guerrero, 2005) and ESL teacher cognition (Franco-Fuenmayor, Padrón, &amp; Waxman, 2015), </a:t>
            </a:r>
            <a:r>
              <a:rPr lang="en-US" sz="1900" b="1" u="sng"/>
              <a:t>there has been no detailed investigations of what mainstream teachers already know and what they need to learn to support ELLs in their classrooms.</a:t>
            </a: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5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000"/>
              <a:buFont typeface="Calibri"/>
              <a:buNone/>
            </a:pPr>
            <a:r>
              <a:rPr lang="en-US" sz="3000"/>
              <a:t>STATING YOUR RESEARCH PURPOSE</a:t>
            </a:r>
            <a:endParaRPr sz="3000"/>
          </a:p>
        </p:txBody>
      </p:sp>
      <p:sp>
        <p:nvSpPr>
          <p:cNvPr id="487" name="Google Shape;487;p53"/>
          <p:cNvSpPr txBox="1">
            <a:spLocks noGrp="1"/>
          </p:cNvSpPr>
          <p:nvPr>
            <p:ph type="body" idx="1"/>
          </p:nvPr>
        </p:nvSpPr>
        <p:spPr>
          <a:xfrm>
            <a:off x="1187159" y="1946833"/>
            <a:ext cx="9878642"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sz="2000"/>
              <a:t>This article presents a teacher preparation model—a language-based approach to content instruction (LACI)— developed over the past 10 years of research in content area classrooms with English language learners (ELLs) and based on recent scholarship on the language demands of schooling.</a:t>
            </a:r>
            <a:endParaRPr/>
          </a:p>
          <a:p>
            <a:pPr marL="91440" lvl="0" indent="0" algn="l" rtl="0">
              <a:lnSpc>
                <a:spcPct val="90000"/>
              </a:lnSpc>
              <a:spcBef>
                <a:spcPts val="1400"/>
              </a:spcBef>
              <a:spcAft>
                <a:spcPts val="0"/>
              </a:spcAft>
              <a:buSzPts val="2000"/>
              <a:buNone/>
            </a:pPr>
            <a:endParaRPr sz="2000"/>
          </a:p>
          <a:p>
            <a:pPr marL="91440" lvl="0" indent="-127000" algn="l" rtl="0">
              <a:lnSpc>
                <a:spcPct val="90000"/>
              </a:lnSpc>
              <a:spcBef>
                <a:spcPts val="1400"/>
              </a:spcBef>
              <a:spcAft>
                <a:spcPts val="0"/>
              </a:spcAft>
              <a:buSzPts val="2000"/>
              <a:buChar char=" "/>
            </a:pPr>
            <a:r>
              <a:rPr lang="en-US" sz="2000"/>
              <a:t>The purpose of this paper is to provide an overview of the issues related to teacher identity stemming from recent literature and to suggest the implications for effective teacher education embedded in the discussion of these issues.</a:t>
            </a:r>
            <a:endParaRPr sz="20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5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000"/>
              <a:buFont typeface="Calibri"/>
              <a:buNone/>
            </a:pPr>
            <a:r>
              <a:rPr lang="en-US" sz="3000"/>
              <a:t>STATING YOUR RESEARCH PURPOSE</a:t>
            </a:r>
            <a:endParaRPr sz="3000"/>
          </a:p>
        </p:txBody>
      </p:sp>
      <p:sp>
        <p:nvSpPr>
          <p:cNvPr id="493" name="Google Shape;493;p54"/>
          <p:cNvSpPr txBox="1">
            <a:spLocks noGrp="1"/>
          </p:cNvSpPr>
          <p:nvPr>
            <p:ph type="body" idx="1"/>
          </p:nvPr>
        </p:nvSpPr>
        <p:spPr>
          <a:xfrm>
            <a:off x="1140470" y="1869644"/>
            <a:ext cx="10015209"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sz="2000" b="1" u="sng"/>
              <a:t>In the present study, we focus on</a:t>
            </a:r>
            <a:r>
              <a:rPr lang="en-US" sz="2000"/>
              <a:t> a core practice of reviewing and carefully assessing student work, with attention to viewing that work as language and meaning in process.</a:t>
            </a:r>
            <a:endParaRPr/>
          </a:p>
          <a:p>
            <a:pPr marL="91440" lvl="0" indent="0" algn="l" rtl="0">
              <a:lnSpc>
                <a:spcPct val="90000"/>
              </a:lnSpc>
              <a:spcBef>
                <a:spcPts val="1400"/>
              </a:spcBef>
              <a:spcAft>
                <a:spcPts val="0"/>
              </a:spcAft>
              <a:buSzPts val="2000"/>
              <a:buNone/>
            </a:pPr>
            <a:endParaRPr sz="2000"/>
          </a:p>
          <a:p>
            <a:pPr marL="91440" lvl="0" indent="-127000" algn="l" rtl="0">
              <a:lnSpc>
                <a:spcPct val="90000"/>
              </a:lnSpc>
              <a:spcBef>
                <a:spcPts val="1400"/>
              </a:spcBef>
              <a:spcAft>
                <a:spcPts val="0"/>
              </a:spcAft>
              <a:buSzPts val="2000"/>
              <a:buChar char=" "/>
            </a:pPr>
            <a:r>
              <a:rPr lang="en-US" sz="2000" b="1" u="sng"/>
              <a:t>We aim to add to this body of literature </a:t>
            </a:r>
            <a:r>
              <a:rPr lang="en-US" sz="2000"/>
              <a:t>concerning the education and experiences of prospective Latino/a teachers and to see how their concerns, strengths, hopes, and struggles are negotiated in their program of teacher education, whom they see themselves teaching, and how they imagine working with children and youth.</a:t>
            </a:r>
            <a:endParaRPr sz="20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5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000"/>
              <a:buFont typeface="Calibri"/>
              <a:buNone/>
            </a:pPr>
            <a:r>
              <a:rPr lang="en-US" sz="3000"/>
              <a:t>DEFINING CONCEPTS/TERMS/OBJECTS</a:t>
            </a:r>
            <a:endParaRPr sz="3000"/>
          </a:p>
        </p:txBody>
      </p:sp>
      <p:sp>
        <p:nvSpPr>
          <p:cNvPr id="499" name="Google Shape;499;p55"/>
          <p:cNvSpPr txBox="1">
            <a:spLocks noGrp="1"/>
          </p:cNvSpPr>
          <p:nvPr>
            <p:ph type="body" idx="1"/>
          </p:nvPr>
        </p:nvSpPr>
        <p:spPr>
          <a:xfrm>
            <a:off x="1139283" y="1940896"/>
            <a:ext cx="10016397" cy="3880773"/>
          </a:xfrm>
          <a:prstGeom prst="rect">
            <a:avLst/>
          </a:prstGeom>
          <a:noFill/>
          <a:ln>
            <a:noFill/>
          </a:ln>
        </p:spPr>
        <p:txBody>
          <a:bodyPr spcFirstLastPara="1" wrap="square" lIns="0" tIns="45700" rIns="0" bIns="45700" anchor="t" anchorCtr="0">
            <a:noAutofit/>
          </a:bodyPr>
          <a:lstStyle/>
          <a:p>
            <a:pPr marL="91440" lvl="0" indent="-127000" algn="l" rtl="0">
              <a:lnSpc>
                <a:spcPct val="90000"/>
              </a:lnSpc>
              <a:spcBef>
                <a:spcPts val="0"/>
              </a:spcBef>
              <a:spcAft>
                <a:spcPts val="0"/>
              </a:spcAft>
              <a:buSzPts val="2000"/>
              <a:buChar char=" "/>
            </a:pPr>
            <a:r>
              <a:rPr lang="en-US" sz="2000"/>
              <a:t>Identity can be conceptualized as “stories to live by” (Clandinin, Downey, &amp; Huber, 2009, p. 141) or as “those narratives about individuals that are reifying, endorsable and significant” (Sfard &amp; Prusak, 2005, p.16). </a:t>
            </a:r>
            <a:endParaRPr/>
          </a:p>
          <a:p>
            <a:pPr marL="91440" lvl="0" indent="0" algn="l" rtl="0">
              <a:lnSpc>
                <a:spcPct val="90000"/>
              </a:lnSpc>
              <a:spcBef>
                <a:spcPts val="1400"/>
              </a:spcBef>
              <a:spcAft>
                <a:spcPts val="0"/>
              </a:spcAft>
              <a:buSzPts val="2000"/>
              <a:buNone/>
            </a:pPr>
            <a:endParaRPr sz="2000"/>
          </a:p>
          <a:p>
            <a:pPr marL="91440" lvl="0" indent="-127000" algn="l" rtl="0">
              <a:lnSpc>
                <a:spcPct val="90000"/>
              </a:lnSpc>
              <a:spcBef>
                <a:spcPts val="1400"/>
              </a:spcBef>
              <a:spcAft>
                <a:spcPts val="0"/>
              </a:spcAft>
              <a:buSzPts val="2000"/>
              <a:buChar char=" "/>
            </a:pPr>
            <a:r>
              <a:rPr lang="en-US" sz="2000"/>
              <a:t>English language learners (ELLs)—that is, students who speak a first language other than English—now account for nearly 10% of the U.S. public school student population (Kena et al., 2016).</a:t>
            </a:r>
            <a:endParaRPr/>
          </a:p>
          <a:p>
            <a:pPr marL="91440" lvl="0" indent="0" algn="l" rtl="0">
              <a:lnSpc>
                <a:spcPct val="90000"/>
              </a:lnSpc>
              <a:spcBef>
                <a:spcPts val="1400"/>
              </a:spcBef>
              <a:spcAft>
                <a:spcPts val="0"/>
              </a:spcAft>
              <a:buSzPts val="2000"/>
              <a:buNone/>
            </a:pPr>
            <a:endParaRPr sz="2000"/>
          </a:p>
          <a:p>
            <a:pPr marL="91440" lvl="0" indent="-127000" algn="l" rtl="0">
              <a:lnSpc>
                <a:spcPct val="90000"/>
              </a:lnSpc>
              <a:spcBef>
                <a:spcPts val="1400"/>
              </a:spcBef>
              <a:spcAft>
                <a:spcPts val="0"/>
              </a:spcAft>
              <a:buSzPts val="2000"/>
              <a:buChar char=" "/>
            </a:pPr>
            <a:r>
              <a:rPr lang="en-US" sz="2000"/>
              <a:t>Cochran-Smith and Lytle (1993) define teacher research as "systematic, intentional inquiry by teachers" (p. 5).</a:t>
            </a:r>
            <a:endParaRPr sz="20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000"/>
              <a:buFont typeface="Calibri"/>
              <a:buNone/>
            </a:pPr>
            <a:r>
              <a:rPr lang="en-US" sz="3000"/>
              <a:t>PROVIDING EXAMPLES</a:t>
            </a:r>
            <a:endParaRPr sz="3000"/>
          </a:p>
        </p:txBody>
      </p:sp>
      <p:sp>
        <p:nvSpPr>
          <p:cNvPr id="505" name="Google Shape;505;p56"/>
          <p:cNvSpPr txBox="1">
            <a:spLocks noGrp="1"/>
          </p:cNvSpPr>
          <p:nvPr>
            <p:ph type="body" idx="1"/>
          </p:nvPr>
        </p:nvSpPr>
        <p:spPr>
          <a:xfrm>
            <a:off x="1097280" y="1958709"/>
            <a:ext cx="10058400"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sz="2000"/>
              <a:t>Grammar accuracy is the primary criterion by which they assessed a person’s command of language. </a:t>
            </a:r>
            <a:r>
              <a:rPr lang="en-US" sz="2000" b="1" u="sng"/>
              <a:t>As an example, </a:t>
            </a:r>
            <a:r>
              <a:rPr lang="en-US" sz="2000"/>
              <a:t>Emily’s comment was that whatever “roughness” is present in an international pal’s writing is labeled as nonstandard grammar.</a:t>
            </a:r>
            <a:endParaRPr/>
          </a:p>
          <a:p>
            <a:pPr marL="91440" lvl="0" indent="0" algn="l" rtl="0">
              <a:lnSpc>
                <a:spcPct val="90000"/>
              </a:lnSpc>
              <a:spcBef>
                <a:spcPts val="1400"/>
              </a:spcBef>
              <a:spcAft>
                <a:spcPts val="0"/>
              </a:spcAft>
              <a:buSzPts val="2000"/>
              <a:buNone/>
            </a:pPr>
            <a:endParaRPr sz="2000"/>
          </a:p>
          <a:p>
            <a:pPr marL="91440" lvl="0" indent="-127000" algn="l" rtl="0">
              <a:lnSpc>
                <a:spcPct val="90000"/>
              </a:lnSpc>
              <a:spcBef>
                <a:spcPts val="1400"/>
              </a:spcBef>
              <a:spcAft>
                <a:spcPts val="0"/>
              </a:spcAft>
              <a:buSzPts val="2000"/>
              <a:buChar char=" "/>
            </a:pPr>
            <a:r>
              <a:rPr lang="en-US" sz="2000"/>
              <a:t>This disjunction between research and practice stems from practical factors (e.g., too few bilingual teachers), ideological factors (e.g., opposition to languages other than English in schools), and federal policy. </a:t>
            </a:r>
            <a:r>
              <a:rPr lang="en-US" sz="2000" b="1" u="sng"/>
              <a:t>For instance, </a:t>
            </a:r>
            <a:r>
              <a:rPr lang="en-US" sz="2000"/>
              <a:t>the No Child Left Behind Act of 2001 (NCLB, 2003 ) required schools to monitor the academic performance of ELLs through state standardized tests.</a:t>
            </a:r>
            <a:endParaRPr sz="20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2500"/>
              <a:buFont typeface="Calibri"/>
              <a:buNone/>
            </a:pPr>
            <a:r>
              <a:rPr lang="en-US" sz="2500"/>
              <a:t>REFERENCING SOURCES/REPORTING OTHERS’ WORK</a:t>
            </a:r>
            <a:endParaRPr sz="2500"/>
          </a:p>
        </p:txBody>
      </p:sp>
      <p:sp>
        <p:nvSpPr>
          <p:cNvPr id="511" name="Google Shape;511;p57"/>
          <p:cNvSpPr txBox="1">
            <a:spLocks noGrp="1"/>
          </p:cNvSpPr>
          <p:nvPr>
            <p:ph type="body" idx="1"/>
          </p:nvPr>
        </p:nvSpPr>
        <p:spPr>
          <a:xfrm>
            <a:off x="1097280" y="1887457"/>
            <a:ext cx="10052021"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sz="2000"/>
              <a:t>Studies have found that translanguaging is a social practice that goes beyond classroom interactions and that it includes all metadiscursive regimes that are performed by all multilingual speakers in their everyday way of making sense of the world around them (García, 2009; Wei, 2011). </a:t>
            </a:r>
            <a:r>
              <a:rPr lang="en-US" sz="2000" b="1" u="sng"/>
              <a:t>To explain this phenomenon,</a:t>
            </a:r>
            <a:r>
              <a:rPr lang="en-US" sz="2000"/>
              <a:t> García (2009) uses a metaphor of an all-terrain car that has wheels that extend, contract, flex, and stretch while making movements that are irregular on ‘an uneven ground’ (García, 2009, p.45).</a:t>
            </a:r>
            <a:endParaRPr sz="20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2500"/>
              <a:buFont typeface="Calibri"/>
              <a:buNone/>
            </a:pPr>
            <a:r>
              <a:rPr lang="en-US" sz="2500"/>
              <a:t>REFERENCING SOURCES/REPORTING OTHERS’ WORK</a:t>
            </a:r>
            <a:endParaRPr sz="2500"/>
          </a:p>
        </p:txBody>
      </p:sp>
      <p:sp>
        <p:nvSpPr>
          <p:cNvPr id="517" name="Google Shape;517;p58"/>
          <p:cNvSpPr txBox="1">
            <a:spLocks noGrp="1"/>
          </p:cNvSpPr>
          <p:nvPr>
            <p:ph type="body" idx="1"/>
          </p:nvPr>
        </p:nvSpPr>
        <p:spPr>
          <a:xfrm>
            <a:off x="1097280" y="1911207"/>
            <a:ext cx="10136777"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sz="2000"/>
              <a:t>In education, King (2004) draws on Wynter’s scholarship to propose a “deciphering” form of culture-centered knowledge that moves beyond relations of domination, masked by calls for unity, toward conditions of autonomy where “differences are not suppressed or ranked” (p. 357). She defines culture-centered knowledge as the “thought, perception, and belief structures” that contribute to generating “the coherence of a referent social framework” required “to secure the loyalty, motivated participation, and relevant consciousness of its subjects (adherents).</a:t>
            </a:r>
            <a:endParaRPr sz="2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5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500"/>
              <a:buFont typeface="Calibri"/>
              <a:buNone/>
            </a:pPr>
            <a:r>
              <a:rPr lang="en-US" sz="3500"/>
              <a:t>그래머리 활용법</a:t>
            </a:r>
            <a:endParaRPr sz="3500"/>
          </a:p>
        </p:txBody>
      </p:sp>
      <p:sp>
        <p:nvSpPr>
          <p:cNvPr id="523" name="Google Shape;523;p5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u="sng">
                <a:solidFill>
                  <a:schemeClr val="hlink"/>
                </a:solidFill>
                <a:hlinkClick r:id="rId3"/>
              </a:rPr>
              <a:t>https://app.grammarly.com/</a:t>
            </a:r>
            <a:endParaRPr/>
          </a:p>
          <a:p>
            <a:pPr marL="91440" lvl="0" indent="-127000" algn="l" rtl="0">
              <a:lnSpc>
                <a:spcPct val="90000"/>
              </a:lnSpc>
              <a:spcBef>
                <a:spcPts val="1400"/>
              </a:spcBef>
              <a:spcAft>
                <a:spcPts val="0"/>
              </a:spcAft>
              <a:buSzPts val="2000"/>
              <a:buChar char=" "/>
            </a:pPr>
            <a:r>
              <a:rPr lang="en-US"/>
              <a:t>무료버전 사용</a:t>
            </a:r>
            <a:endParaRPr/>
          </a:p>
          <a:p>
            <a:pPr marL="91440" lvl="0" indent="-127000" algn="l" rtl="0">
              <a:lnSpc>
                <a:spcPct val="90000"/>
              </a:lnSpc>
              <a:spcBef>
                <a:spcPts val="1400"/>
              </a:spcBef>
              <a:spcAft>
                <a:spcPts val="0"/>
              </a:spcAft>
              <a:buSzPts val="2000"/>
              <a:buChar char=" "/>
            </a:pPr>
            <a:r>
              <a:rPr lang="en-US"/>
              <a:t>자주 쓰면 유료버전 추천</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6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500"/>
              <a:buFont typeface="Calibri"/>
              <a:buNone/>
            </a:pPr>
            <a:r>
              <a:rPr lang="en-US" sz="3500"/>
              <a:t>구글 드라이브의 샘플논문 분석</a:t>
            </a:r>
            <a:endParaRPr/>
          </a:p>
        </p:txBody>
      </p:sp>
      <p:sp>
        <p:nvSpPr>
          <p:cNvPr id="529" name="Google Shape;529;p60"/>
          <p:cNvSpPr txBox="1">
            <a:spLocks noGrp="1"/>
          </p:cNvSpPr>
          <p:nvPr>
            <p:ph type="body" idx="1"/>
          </p:nvPr>
        </p:nvSpPr>
        <p:spPr>
          <a:xfrm>
            <a:off x="1211724" y="1899332"/>
            <a:ext cx="9838266" cy="388077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SSCI</a:t>
            </a:r>
            <a:endParaRPr/>
          </a:p>
          <a:p>
            <a:pPr marL="91440" lvl="0" indent="-127000" algn="l" rtl="0">
              <a:lnSpc>
                <a:spcPct val="90000"/>
              </a:lnSpc>
              <a:spcBef>
                <a:spcPts val="1400"/>
              </a:spcBef>
              <a:spcAft>
                <a:spcPts val="0"/>
              </a:spcAft>
              <a:buSzPts val="2000"/>
              <a:buChar char=" "/>
            </a:pPr>
            <a:r>
              <a:rPr lang="en-US"/>
              <a:t>SCOPUS</a:t>
            </a:r>
            <a:endParaRPr/>
          </a:p>
          <a:p>
            <a:pPr marL="91440" lvl="0" indent="-127000" algn="l" rtl="0">
              <a:lnSpc>
                <a:spcPct val="90000"/>
              </a:lnSpc>
              <a:spcBef>
                <a:spcPts val="1400"/>
              </a:spcBef>
              <a:spcAft>
                <a:spcPts val="0"/>
              </a:spcAft>
              <a:buSzPts val="2000"/>
              <a:buChar char=" "/>
            </a:pPr>
            <a:r>
              <a:rPr lang="en-US"/>
              <a:t>KCI</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a:t>Google Link</a:t>
            </a:r>
            <a:endParaRPr/>
          </a:p>
          <a:p>
            <a:pPr marL="91440" lvl="0" indent="-95250" algn="l" rtl="0">
              <a:lnSpc>
                <a:spcPct val="90000"/>
              </a:lnSpc>
              <a:spcBef>
                <a:spcPts val="1400"/>
              </a:spcBef>
              <a:spcAft>
                <a:spcPts val="0"/>
              </a:spcAft>
              <a:buSzPts val="1500"/>
              <a:buChar char=" "/>
            </a:pPr>
            <a:r>
              <a:rPr lang="en-US" sz="1500" u="sng">
                <a:solidFill>
                  <a:schemeClr val="hlink"/>
                </a:solidFill>
                <a:hlinkClick r:id="rId3"/>
              </a:rPr>
              <a:t>https://drive.google.com/drive/folders/19Q1NJNwuvTdNeng9Yhkm_8NEUpjQnjJN?usp=sharing</a:t>
            </a:r>
            <a:endParaRPr sz="1500"/>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pic>
        <p:nvPicPr>
          <p:cNvPr id="534" name="Google Shape;534;p61" descr="녹색 파스텔색 배경에 표시된 물음표"/>
          <p:cNvPicPr preferRelativeResize="0"/>
          <p:nvPr/>
        </p:nvPicPr>
        <p:blipFill rotWithShape="1">
          <a:blip r:embed="rId3">
            <a:alphaModFix/>
          </a:blip>
          <a:srcRect l="10992" r="-2" b="-2"/>
          <a:stretch/>
        </p:blipFill>
        <p:spPr>
          <a:xfrm>
            <a:off x="4038599" y="10"/>
            <a:ext cx="8160026" cy="6875809"/>
          </a:xfrm>
          <a:prstGeom prst="rect">
            <a:avLst/>
          </a:prstGeom>
          <a:noFill/>
          <a:ln>
            <a:noFill/>
          </a:ln>
        </p:spPr>
      </p:pic>
      <p:sp>
        <p:nvSpPr>
          <p:cNvPr id="535" name="Google Shape;535;p61"/>
          <p:cNvSpPr txBox="1">
            <a:spLocks noGrp="1"/>
          </p:cNvSpPr>
          <p:nvPr>
            <p:ph type="title"/>
          </p:nvPr>
        </p:nvSpPr>
        <p:spPr>
          <a:xfrm>
            <a:off x="534473" y="2950387"/>
            <a:ext cx="3052293" cy="3531403"/>
          </a:xfrm>
          <a:prstGeom prst="rect">
            <a:avLst/>
          </a:prstGeom>
          <a:noFill/>
          <a:ln>
            <a:noFill/>
          </a:ln>
        </p:spPr>
        <p:txBody>
          <a:bodyPr spcFirstLastPara="1" wrap="square" lIns="91425" tIns="45700" rIns="91425" bIns="45700" anchor="t" anchorCtr="0">
            <a:normAutofit/>
          </a:bodyPr>
          <a:lstStyle/>
          <a:p>
            <a:pPr marL="0" lvl="0" indent="0" algn="r" rtl="0">
              <a:lnSpc>
                <a:spcPct val="85000"/>
              </a:lnSpc>
              <a:spcBef>
                <a:spcPts val="0"/>
              </a:spcBef>
              <a:spcAft>
                <a:spcPts val="0"/>
              </a:spcAft>
              <a:buClr>
                <a:srgbClr val="FFFFFF"/>
              </a:buClr>
              <a:buSzPts val="4000"/>
              <a:buFont typeface="Calibri"/>
              <a:buNone/>
            </a:pPr>
            <a:r>
              <a:rPr lang="en-US" sz="4000">
                <a:solidFill>
                  <a:srgbClr val="FFFFFF"/>
                </a:solidFill>
              </a:rPr>
              <a:t>질의응답</a:t>
            </a:r>
            <a:endParaRPr/>
          </a:p>
        </p:txBody>
      </p:sp>
      <p:sp>
        <p:nvSpPr>
          <p:cNvPr id="536" name="Google Shape;536;p61"/>
          <p:cNvSpPr txBox="1">
            <a:spLocks noGrp="1"/>
          </p:cNvSpPr>
          <p:nvPr>
            <p:ph type="body" idx="1"/>
          </p:nvPr>
        </p:nvSpPr>
        <p:spPr>
          <a:xfrm>
            <a:off x="837298" y="1301943"/>
            <a:ext cx="2808844" cy="1382392"/>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SzPts val="2000"/>
              <a:buNone/>
            </a:pPr>
            <a:r>
              <a:rPr lang="en-US" sz="2000">
                <a:solidFill>
                  <a:srgbClr val="FFFFFF"/>
                </a:solidFill>
              </a:rPr>
              <a:t>Q &amp; A</a:t>
            </a:r>
            <a:endParaRPr/>
          </a:p>
        </p:txBody>
      </p:sp>
      <p:sp>
        <p:nvSpPr>
          <p:cNvPr id="537" name="Google Shape;537;p61"/>
          <p:cNvSpPr txBox="1"/>
          <p:nvPr/>
        </p:nvSpPr>
        <p:spPr>
          <a:xfrm>
            <a:off x="932653" y="1934958"/>
            <a:ext cx="8596668" cy="3880773"/>
          </a:xfrm>
          <a:prstGeom prst="rect">
            <a:avLst/>
          </a:prstGeom>
          <a:noFill/>
          <a:ln>
            <a:noFill/>
          </a:ln>
        </p:spPr>
        <p:txBody>
          <a:bodyPr spcFirstLastPara="1" wrap="square" lIns="91425" tIns="45700" rIns="91425" bIns="45700" anchor="t" anchorCtr="0">
            <a:normAutofit/>
          </a:bodyPr>
          <a:lstStyle/>
          <a:p>
            <a:pPr marL="342900" marR="0" lvl="0" indent="-342900" algn="l" rtl="0">
              <a:spcBef>
                <a:spcPts val="0"/>
              </a:spcBef>
              <a:spcAft>
                <a:spcPts val="0"/>
              </a:spcAft>
              <a:buClr>
                <a:schemeClr val="accent1"/>
              </a:buClr>
              <a:buSzPts val="3200"/>
              <a:buFont typeface="Noto Sans Symbols"/>
              <a:buChar char="►"/>
            </a:pPr>
            <a:r>
              <a:rPr lang="en-US" sz="4000" b="0" i="0" u="none" strike="noStrike" cap="none">
                <a:solidFill>
                  <a:srgbClr val="3F3F3F"/>
                </a:solidFill>
                <a:latin typeface="Calibri"/>
                <a:ea typeface="Calibri"/>
                <a:cs typeface="Calibri"/>
                <a:sym typeface="Calibri"/>
              </a:rPr>
              <a:t>Q &amp; A</a:t>
            </a:r>
            <a:endParaRPr/>
          </a:p>
          <a:p>
            <a:pPr marL="342900" marR="0" lvl="0" indent="-251459" algn="l" rtl="0">
              <a:spcBef>
                <a:spcPts val="1000"/>
              </a:spcBef>
              <a:spcAft>
                <a:spcPts val="0"/>
              </a:spcAft>
              <a:buClr>
                <a:schemeClr val="accent1"/>
              </a:buClr>
              <a:buSzPts val="1440"/>
              <a:buFont typeface="Noto Sans Symbols"/>
              <a:buNone/>
            </a:pPr>
            <a:endParaRPr sz="1800" b="0" i="0" u="none" strike="noStrike" cap="none">
              <a:solidFill>
                <a:srgbClr val="3F3F3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535"/>
                                        </p:tgtEl>
                                        <p:attrNameLst>
                                          <p:attrName>style.visibility</p:attrName>
                                        </p:attrNameLst>
                                      </p:cBhvr>
                                      <p:to>
                                        <p:strVal val="visible"/>
                                      </p:to>
                                    </p:set>
                                    <p:animEffect transition="in" filter="fade">
                                      <p:cBhvr>
                                        <p:cTn id="7" dur="700"/>
                                        <p:tgtEl>
                                          <p:spTgt spid="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추억">
  <a:themeElements>
    <a:clrScheme name="추억">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추억">
  <a:themeElements>
    <a:clrScheme name="추억">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5878</Words>
  <Application>Microsoft Office PowerPoint</Application>
  <PresentationFormat>와이드스크린</PresentationFormat>
  <Paragraphs>301</Paragraphs>
  <Slides>61</Slides>
  <Notes>61</Notes>
  <HiddenSlides>0</HiddenSlides>
  <MMClips>0</MMClips>
  <ScaleCrop>false</ScaleCrop>
  <HeadingPairs>
    <vt:vector size="6" baseType="variant">
      <vt:variant>
        <vt:lpstr>사용한 글꼴</vt:lpstr>
      </vt:variant>
      <vt:variant>
        <vt:i4>4</vt:i4>
      </vt:variant>
      <vt:variant>
        <vt:lpstr>테마</vt:lpstr>
      </vt:variant>
      <vt:variant>
        <vt:i4>2</vt:i4>
      </vt:variant>
      <vt:variant>
        <vt:lpstr>슬라이드 제목</vt:lpstr>
      </vt:variant>
      <vt:variant>
        <vt:i4>61</vt:i4>
      </vt:variant>
    </vt:vector>
  </HeadingPairs>
  <TitlesOfParts>
    <vt:vector size="67" baseType="lpstr">
      <vt:lpstr>Noto Sans Symbols</vt:lpstr>
      <vt:lpstr>Malgun Gothic</vt:lpstr>
      <vt:lpstr>Arial</vt:lpstr>
      <vt:lpstr>Calibri</vt:lpstr>
      <vt:lpstr>추억</vt:lpstr>
      <vt:lpstr>추억</vt:lpstr>
      <vt:lpstr>영어논문쓰기 특강: 리뷰어의 입장에서  논문살펴보기</vt:lpstr>
      <vt:lpstr>교수자 소개: 이용직</vt:lpstr>
      <vt:lpstr>Overview</vt:lpstr>
      <vt:lpstr>논문 작성전에 자가 점검 체크리스트</vt:lpstr>
      <vt:lpstr>SSCI: Web of Science  Journal of Multilingual and Multicultural Development</vt:lpstr>
      <vt:lpstr>Scopus: Source Online Journal of Communication and Media Technologies https://www.scopus.com/sources.uri?zone=TopNavBar&amp;origin=sourceinfo </vt:lpstr>
      <vt:lpstr>리뷰어의 입장에서 논문 평가 </vt:lpstr>
      <vt:lpstr>Word 파일참조</vt:lpstr>
      <vt:lpstr>ABSTRACT - 썸네일</vt:lpstr>
      <vt:lpstr>Sample Abstract 1</vt:lpstr>
      <vt:lpstr>Sample Abstract 2</vt:lpstr>
      <vt:lpstr>Sample Abstract 3 - SSCI</vt:lpstr>
      <vt:lpstr>INTRODUCTION</vt:lpstr>
      <vt:lpstr>서론 구조화 예시  생성형 AI를 대학 교양영어 수업에 접목</vt:lpstr>
      <vt:lpstr>Sample Introduction 1</vt:lpstr>
      <vt:lpstr>Sample Introduction 2</vt:lpstr>
      <vt:lpstr>Sample Introduction 3</vt:lpstr>
      <vt:lpstr>Sample Introduction 3 연결</vt:lpstr>
      <vt:lpstr>LITERATURE REVIEW </vt:lpstr>
      <vt:lpstr>선행연구를 작성 구조화 예시 </vt:lpstr>
      <vt:lpstr>선행연구를 구조화 </vt:lpstr>
      <vt:lpstr>Sample Lit Review 1</vt:lpstr>
      <vt:lpstr>Sample Lit Review 2</vt:lpstr>
      <vt:lpstr>Sample Lit Review 3</vt:lpstr>
      <vt:lpstr>Sample Lit Review 3</vt:lpstr>
      <vt:lpstr>Framing Research Questions:</vt:lpstr>
      <vt:lpstr>Sample RQ1</vt:lpstr>
      <vt:lpstr>Sample RQ2</vt:lpstr>
      <vt:lpstr>Sample RQ3 – 아래 내용은 잘 작성이 되었는가?</vt:lpstr>
      <vt:lpstr>METHODOLOGY/RESEARCH DESIGN</vt:lpstr>
      <vt:lpstr>RESEARCH DESIGN &amp; METHODOLOGY</vt:lpstr>
      <vt:lpstr>연구방법론 제시 방식</vt:lpstr>
      <vt:lpstr>연구 방법론 작성 구조화 예시 </vt:lpstr>
      <vt:lpstr>Sample Research Method 1</vt:lpstr>
      <vt:lpstr>Sample Research Method 2</vt:lpstr>
      <vt:lpstr>Sample Research Method 3</vt:lpstr>
      <vt:lpstr>FINDINGS/RESULTS</vt:lpstr>
      <vt:lpstr>DATA ANALYSIS &amp; INTERPRETATION</vt:lpstr>
      <vt:lpstr>데이터 분석 결과는 연구의 목적에 맞게 구성하면 제일 좋음</vt:lpstr>
      <vt:lpstr>Sample Results/Findings 1</vt:lpstr>
      <vt:lpstr>Sample Results/Findings 2</vt:lpstr>
      <vt:lpstr>DISCUSSION/CONCLUSION</vt:lpstr>
      <vt:lpstr>Discussion/Conclusion 함께 제시할 경우 </vt:lpstr>
      <vt:lpstr>Conclusion 결론을 따로 빼낼 경우  </vt:lpstr>
      <vt:lpstr>Sample Discussions and Conclusions 1</vt:lpstr>
      <vt:lpstr>Sample Discussions and Conclusions 2</vt:lpstr>
      <vt:lpstr>Sample Discussions and Conclusions 3</vt:lpstr>
      <vt:lpstr>APA 인용스타일 https://essayreview.co.kr/apa-citation-generator</vt:lpstr>
      <vt:lpstr>APA with DOI</vt:lpstr>
      <vt:lpstr>Academic Writing Templates</vt:lpstr>
      <vt:lpstr>ESTABLISHING A RESEARCH TERRITORY</vt:lpstr>
      <vt:lpstr>IDENTIFYING THE RESEARCH/KNOWLEDGE GAP</vt:lpstr>
      <vt:lpstr>STATING YOUR RESEARCH PURPOSE</vt:lpstr>
      <vt:lpstr>STATING YOUR RESEARCH PURPOSE</vt:lpstr>
      <vt:lpstr>DEFINING CONCEPTS/TERMS/OBJECTS</vt:lpstr>
      <vt:lpstr>PROVIDING EXAMPLES</vt:lpstr>
      <vt:lpstr>REFERENCING SOURCES/REPORTING OTHERS’ WORK</vt:lpstr>
      <vt:lpstr>REFERENCING SOURCES/REPORTING OTHERS’ WORK</vt:lpstr>
      <vt:lpstr>그래머리 활용법</vt:lpstr>
      <vt:lpstr>구글 드라이브의 샘플논문 분석</vt:lpstr>
      <vt:lpstr>질의응답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영어논문쓰기 특강: 리뷰어의 입장에서  논문살펴보기</dc:title>
  <dc:creator>u ser</dc:creator>
  <cp:lastModifiedBy>이용직</cp:lastModifiedBy>
  <cp:revision>1</cp:revision>
  <dcterms:created xsi:type="dcterms:W3CDTF">2024-01-14T02:06:32Z</dcterms:created>
  <dcterms:modified xsi:type="dcterms:W3CDTF">2025-06-26T07:39:05Z</dcterms:modified>
</cp:coreProperties>
</file>